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3" r:id="rId4"/>
  </p:sldMasterIdLst>
  <p:notesMasterIdLst>
    <p:notesMasterId r:id="rId20"/>
  </p:notesMasterIdLst>
  <p:sldIdLst>
    <p:sldId id="790" r:id="rId5"/>
    <p:sldId id="791" r:id="rId6"/>
    <p:sldId id="792" r:id="rId7"/>
    <p:sldId id="793" r:id="rId8"/>
    <p:sldId id="794" r:id="rId9"/>
    <p:sldId id="795" r:id="rId10"/>
    <p:sldId id="796" r:id="rId11"/>
    <p:sldId id="797" r:id="rId12"/>
    <p:sldId id="798" r:id="rId13"/>
    <p:sldId id="799" r:id="rId14"/>
    <p:sldId id="800" r:id="rId15"/>
    <p:sldId id="801" r:id="rId16"/>
    <p:sldId id="802" r:id="rId17"/>
    <p:sldId id="803" r:id="rId18"/>
    <p:sldId id="788" r:id="rId19"/>
  </p:sldIdLst>
  <p:sldSz cx="9902825" cy="6858000"/>
  <p:notesSz cx="6858000" cy="9144000"/>
  <p:embeddedFontLst>
    <p:embeddedFont>
      <p:font typeface="맑은 고딕" panose="020B0503020000020004" pitchFamily="34" charset="-127"/>
      <p:regular r:id="rId21"/>
      <p:bold r:id="rId22"/>
    </p:embeddedFont>
    <p:embeddedFont>
      <p:font typeface="Samsung Sharp Sans" pitchFamily="2" charset="77"/>
      <p:regular r:id="rId23"/>
      <p:bold r:id="rId24"/>
    </p:embeddedFont>
    <p:embeddedFont>
      <p:font typeface="Samsung Sharp Sans Bold"/>
      <p:bold r:id="rId25"/>
    </p:embeddedFont>
    <p:embeddedFont>
      <p:font typeface="Samsung Sharp Sans Medium"/>
      <p:bold r:id="rId26"/>
    </p:embeddedFont>
    <p:embeddedFont>
      <p:font typeface="SamsungOne 400" panose="020B0503030303020204" pitchFamily="34" charset="0"/>
      <p:regular r:id="rId27"/>
    </p:embeddedFont>
    <p:embeddedFont>
      <p:font typeface="SamsungOne 400C" panose="020B0506030303020204" pitchFamily="34" charset="0"/>
      <p:regular r:id="rId28"/>
    </p:embeddedFont>
    <p:embeddedFont>
      <p:font typeface="SamsungOne 700" panose="020B0803030303020204" pitchFamily="34" charset="0"/>
      <p:bold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19"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FFB546"/>
    <a:srgbClr val="FF4337"/>
    <a:srgbClr val="00B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2" autoAdjust="0"/>
    <p:restoredTop sz="72205" autoAdjust="0"/>
  </p:normalViewPr>
  <p:slideViewPr>
    <p:cSldViewPr snapToGrid="0">
      <p:cViewPr varScale="1">
        <p:scale>
          <a:sx n="118" d="100"/>
          <a:sy n="118" d="100"/>
        </p:scale>
        <p:origin x="1224" y="192"/>
      </p:cViewPr>
      <p:guideLst>
        <p:guide pos="3119"/>
        <p:guide orient="horz" pos="2160"/>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2026. 9. 6.</a:t>
            </a:fld>
            <a:endParaRPr lang="ko-KR" altLang="en-US" dirty="0"/>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dirty="0"/>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We're Pi24, Team 24, and this is our Samsung Innovation Campus AI capstone project: a two-stage deep learning system for brain tumor classification and segmentation in 2D MRI images. Quick introductions of the team, then let's get into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we'll walk through the project: first the foundations — the problem, our motivation, the solution we propose, and the dataset. Then the method and models we built. And finally the results we're targeting, the deployment, limitations, and what this all means.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Brain tumors need to be assessed quickly and accurately, and MRI is the standard tool doctors use to do that. For any scan, two things matter: what type of tumor is it, and where exactly is it located. Today, identifying the type and manually outlining the tumor region is done by hand, which takes time and depends on an expert being available. That's the gap we're trying to help close with deep learning.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motivation was to keep this simple and understandable: one pipeline that both classifies the tumor type and localizes it. We picked the BRISC2025 dataset specifically because it gives us both labels and segmentation masks from a single, consistent source. Our objective: take one T1-weighted axial MRI image, predict one of four classes, and when a tumor is present, produce a mask. And to be clear up front — this is an educational, non-diagnostic prototype, not something meant to replace a doctor.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core idea: a two-stage cascaded pipeline. Stage one classifies the image into glioma, meningioma, pituitary tumor, or no tumor. Stage two only runs if a tumor was detected, and it segments exactly where the tumor is. We deliberately skip segmentation entirely for the no-tumor class — partly because it's unnecessary, and partly because our segmentation model is only trained on tumor-bearing images, so running it on a healthy scan wouldn't mean anything.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using BRISC2025 from Kaggle, and for this phase of the project we're scoped to T1-weighted axial images only — coronal and sagittal views are a possible future extension. On the classification side we have 6,000 images split 5,000 train and 1,000 test across the four classes shown here. On the segmentation side, 4,793 tumor-bearing images each come with their own pixel-level mask.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starts from one manifest file, so class labels, imaging plane, and mask links all come from a single source of truth. We pad every image to a square before resizing, so we don't distort anatomy. Classification images go to 224 by 224, segmentation images to 256 by 256, and pixel values are normalized to match what our pretrained backbones expect. Augmentation — flips, small rotations, brightness and contrast changes, elastic deformation — is applied only to the training data, and applied identically to images and their masks together.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models, each fine-tuned the same way: first we freeze the pretrained backbone and train only the new head, then we unfreeze everything and fine-tune end-to-end at a lower learning rate. For classification we use EfficientNet-B0 with a cross-entropy loss, and we'll pick the best checkpoint using macro-F1 rather than plain accuracy. For segmentation we use a U-Net with a ResNet34 encoder, trained with a combined Dice and Focal loss, and model selection will be based on validation Dice score.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Putting it all together: an MRI image comes in, EfficientNet-B0 classifies it. If it's predicted as no tumor, we stop there and return the classification. If a tumor is predicted, the same image will be passed to the U-Net segmentation model, which will generate a tumor mask, overlay it on the original image, and everything will be served through a Gradio interface hosted on Hugging Face.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classification we're looking at accuracy, per-class precision and recall, macro-F1, a confusion matrix, and a calibration analysis so we understand how trustworthy the model's confidence scores are. For segmentation: Dice, IoU, precision and recall, reported both as an overall number and as a distribution per image, since an average alone can hide failures on small tumors. For this phase, our evaluation focuses on T1-weighted axial MRI images, which is our current project scope. Extending the evaluation to coronal and sagittal views is planned as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upfront: these are our project targets, not final results yet — we haven't completed training and testing, so these numbers describe what we're aiming for, not what we've already achieved. We're targeting macro-F1 of at least 0.95 and overall accuracy of at least 95% for classification, with no single class falling below 90% recall. For segmentation, we're targeting a Dice score of at least 0.80 and an IoU of at least 0.70.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user side, this will be simple: someone uploads a single MRI scan to our Gradio app. The system will return the predicted class along with confidence values, and if a tumor is predicted, it will also show the mask overlaid on the original scan. Our final prototype will be deployed through a Gradio interface hosted on Hugging Face, and we'll be explicit in the interface itself that this is a decision-support and educational tool, not something meant for clinical diagnosis.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limitations we want to be upfront about. First, the dataset gives us no patient identifier, so we can't guarantee a clean patient-level split — there's a chance of residual data leakage between train and test. Second, everything here is retrospective, tested on one curated dataset; real clinical use would require independent, prospective validation and regulatory approval. Looking ahead, we'd like to extend this to coronal and sagittal planes and test more broadly across different scanners and sites.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our project brings together tumor-type classification and tumor localization in one pipeline. The intended benefit is cutting down the time spent on manual tumor delineation and giving a consistent second opinion to support review — not replace it. We've designed this as a documented, reproducible pipeline with a fixed validation split so our results will be comparable across experiments. In short: our team built a simple two-stage system that's designed to answer both what the tumor is and where it 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 we're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56667998"/>
      </p:ext>
    </p:extLst>
  </p:cSld>
  <p:clrMapOvr>
    <a:masterClrMapping/>
  </p:clrMapOvr>
  <p:extLst>
    <p:ext uri="{DCECCB84-F9BA-43D5-87BE-67443E8EF086}">
      <p15:sldGuideLst xmlns:p15="http://schemas.microsoft.com/office/powerpoint/2012/main">
        <p15:guide id="2" pos="285">
          <p15:clr>
            <a:srgbClr val="FBAE40"/>
          </p15:clr>
        </p15:guide>
        <p15:guide id="3" pos="59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
        <p:nvSpPr>
          <p:cNvPr id="7" name="직사각형 133">
            <a:extLst>
              <a:ext uri="{FF2B5EF4-FFF2-40B4-BE49-F238E27FC236}">
                <a16:creationId xmlns:a16="http://schemas.microsoft.com/office/drawing/2014/main" id="{DE8CAD59-3F29-4FBB-AE0A-697DDFD5E69E}"/>
              </a:ext>
            </a:extLst>
          </p:cNvPr>
          <p:cNvSpPr/>
          <p:nvPr userDrawn="1"/>
        </p:nvSpPr>
        <p:spPr>
          <a:xfrm>
            <a:off x="990000" y="4320000"/>
            <a:ext cx="583252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914400" latinLnBrk="1">
              <a:defRPr/>
            </a:pPr>
            <a:r>
              <a:rPr lang="en-US" altLang="ko-KR" sz="2400" baseline="0" dirty="0">
                <a:solidFill>
                  <a:srgbClr val="1428A0"/>
                </a:solidFill>
                <a:latin typeface="Samsung Sharp Sans" pitchFamily="2" charset="0"/>
                <a:ea typeface="Samsung Sharp Sans" pitchFamily="2" charset="0"/>
                <a:cs typeface="Samsung Sharp Sans" pitchFamily="2" charset="0"/>
              </a:rPr>
              <a:t>Artificial Intelligence Course</a:t>
            </a:r>
            <a:endParaRPr lang="ko-KR" altLang="en-US" sz="2400" dirty="0">
              <a:solidFill>
                <a:srgbClr val="1428A0"/>
              </a:solidFill>
              <a:latin typeface="Samsung Sharp Sans" pitchFamily="2" charset="0"/>
              <a:ea typeface="Samsung Sharp Sans" pitchFamily="2" charset="0"/>
              <a:cs typeface="Samsung Sharp Sans" pitchFamily="2" charset="0"/>
            </a:endParaRPr>
          </a:p>
        </p:txBody>
      </p:sp>
      <p:sp>
        <p:nvSpPr>
          <p:cNvPr id="8" name="직사각형 7">
            <a:extLst>
              <a:ext uri="{FF2B5EF4-FFF2-40B4-BE49-F238E27FC236}">
                <a16:creationId xmlns:a16="http://schemas.microsoft.com/office/drawing/2014/main" id="{86149771-D78D-40D7-8B97-564358008D8D}"/>
              </a:ext>
            </a:extLst>
          </p:cNvPr>
          <p:cNvSpPr/>
          <p:nvPr userDrawn="1"/>
        </p:nvSpPr>
        <p:spPr>
          <a:xfrm>
            <a:off x="724689" y="4320000"/>
            <a:ext cx="54000" cy="360000"/>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1" name="텍스트 개체 틀 18">
            <a:extLst>
              <a:ext uri="{FF2B5EF4-FFF2-40B4-BE49-F238E27FC236}">
                <a16:creationId xmlns:a16="http://schemas.microsoft.com/office/drawing/2014/main" id="{02AC410D-7805-4DA9-915F-991D726861C7}"/>
              </a:ext>
            </a:extLst>
          </p:cNvPr>
          <p:cNvSpPr>
            <a:spLocks noGrp="1"/>
          </p:cNvSpPr>
          <p:nvPr>
            <p:ph type="body" sz="quarter" idx="11" hasCustomPrompt="1"/>
          </p:nvPr>
        </p:nvSpPr>
        <p:spPr>
          <a:xfrm>
            <a:off x="720000" y="3551768"/>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
        <p:nvSpPr>
          <p:cNvPr id="12" name="제목 2">
            <a:extLst>
              <a:ext uri="{FF2B5EF4-FFF2-40B4-BE49-F238E27FC236}">
                <a16:creationId xmlns:a16="http://schemas.microsoft.com/office/drawing/2014/main" id="{44AF0917-EEBC-44C5-8BA6-F1CA2AFA4B1E}"/>
              </a:ext>
            </a:extLst>
          </p:cNvPr>
          <p:cNvSpPr>
            <a:spLocks noGrp="1"/>
          </p:cNvSpPr>
          <p:nvPr>
            <p:ph type="title" hasCustomPrompt="1"/>
          </p:nvPr>
        </p:nvSpPr>
        <p:spPr>
          <a:xfrm>
            <a:off x="720000" y="1710000"/>
            <a:ext cx="5221019" cy="1477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8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Tree>
    <p:extLst>
      <p:ext uri="{BB962C8B-B14F-4D97-AF65-F5344CB8AC3E}">
        <p14:creationId xmlns:p14="http://schemas.microsoft.com/office/powerpoint/2010/main" val="303229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직사각형 133">
            <a:extLst>
              <a:ext uri="{FF2B5EF4-FFF2-40B4-BE49-F238E27FC236}">
                <a16:creationId xmlns:a16="http://schemas.microsoft.com/office/drawing/2014/main" id="{7A4BCBFF-5289-45FE-BA09-DFF42AF8A347}"/>
              </a:ext>
            </a:extLst>
          </p:cNvPr>
          <p:cNvSpPr/>
          <p:nvPr userDrawn="1"/>
        </p:nvSpPr>
        <p:spPr>
          <a:xfrm>
            <a:off x="990000" y="4157757"/>
            <a:ext cx="3563339" cy="323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100" dirty="0">
                <a:solidFill>
                  <a:srgbClr val="1428A0"/>
                </a:solidFill>
                <a:latin typeface="Samsung Sharp Sans" pitchFamily="2" charset="0"/>
                <a:ea typeface="Samsung Sharp Sans" pitchFamily="2" charset="0"/>
                <a:cs typeface="Samsung Sharp Sans" pitchFamily="2" charset="0"/>
              </a:rPr>
              <a:t>AI Course</a:t>
            </a:r>
            <a:endParaRPr lang="ko-KR" altLang="en-US" sz="2100" dirty="0">
              <a:solidFill>
                <a:srgbClr val="1428A0"/>
              </a:solidFill>
              <a:latin typeface="Samsung Sharp Sans" pitchFamily="2" charset="0"/>
              <a:ea typeface="Samsung Sharp Sans" pitchFamily="2" charset="0"/>
              <a:cs typeface="Samsung Sharp Sans" pitchFamily="2" charset="0"/>
            </a:endParaRPr>
          </a:p>
        </p:txBody>
      </p:sp>
      <p:sp>
        <p:nvSpPr>
          <p:cNvPr id="9" name="직사각형 8">
            <a:extLst>
              <a:ext uri="{FF2B5EF4-FFF2-40B4-BE49-F238E27FC236}">
                <a16:creationId xmlns:a16="http://schemas.microsoft.com/office/drawing/2014/main" id="{4AA6CFBD-D9B3-4245-A68B-1D7EC1CB6F07}"/>
              </a:ext>
            </a:extLst>
          </p:cNvPr>
          <p:cNvSpPr/>
          <p:nvPr userDrawn="1"/>
        </p:nvSpPr>
        <p:spPr>
          <a:xfrm>
            <a:off x="720000" y="2095275"/>
            <a:ext cx="60008" cy="1759369"/>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a16="http://schemas.microsoft.com/office/drawing/2014/main" id="{1B2EB59A-603F-4715-ABA1-D9DF69D44512}"/>
              </a:ext>
            </a:extLst>
          </p:cNvPr>
          <p:cNvSpPr/>
          <p:nvPr userDrawn="1"/>
        </p:nvSpPr>
        <p:spPr>
          <a:xfrm>
            <a:off x="720000" y="4157757"/>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3" name="제목 2">
            <a:extLst>
              <a:ext uri="{FF2B5EF4-FFF2-40B4-BE49-F238E27FC236}">
                <a16:creationId xmlns:a16="http://schemas.microsoft.com/office/drawing/2014/main" id="{CF6BC111-C555-4B09-8375-33C4F4C2FBB5}"/>
              </a:ext>
            </a:extLst>
          </p:cNvPr>
          <p:cNvSpPr>
            <a:spLocks noGrp="1"/>
          </p:cNvSpPr>
          <p:nvPr>
            <p:ph type="title" hasCustomPrompt="1"/>
          </p:nvPr>
        </p:nvSpPr>
        <p:spPr>
          <a:xfrm>
            <a:off x="990000" y="2095275"/>
            <a:ext cx="5221019" cy="1354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4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
        <p:nvSpPr>
          <p:cNvPr id="17" name="텍스트 개체 틀 18">
            <a:extLst>
              <a:ext uri="{FF2B5EF4-FFF2-40B4-BE49-F238E27FC236}">
                <a16:creationId xmlns:a16="http://schemas.microsoft.com/office/drawing/2014/main" id="{CBEAE583-0BAA-455B-9555-B00A4FE8B1C9}"/>
              </a:ext>
            </a:extLst>
          </p:cNvPr>
          <p:cNvSpPr>
            <a:spLocks noGrp="1"/>
          </p:cNvSpPr>
          <p:nvPr>
            <p:ph type="body" sz="quarter" idx="11" hasCustomPrompt="1"/>
          </p:nvPr>
        </p:nvSpPr>
        <p:spPr>
          <a:xfrm>
            <a:off x="990000" y="3577645"/>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Tree>
    <p:extLst>
      <p:ext uri="{BB962C8B-B14F-4D97-AF65-F5344CB8AC3E}">
        <p14:creationId xmlns:p14="http://schemas.microsoft.com/office/powerpoint/2010/main" val="690312953"/>
      </p:ext>
    </p:extLst>
  </p:cSld>
  <p:clrMapOvr>
    <a:masterClrMapping/>
  </p:clrMapOvr>
  <p:extLst>
    <p:ext uri="{DCECCB84-F9BA-43D5-87BE-67443E8EF086}">
      <p15:sldGuideLst xmlns:p15="http://schemas.microsoft.com/office/powerpoint/2012/main">
        <p15:guide id="1" orient="horz" pos="2614" userDrawn="1">
          <p15:clr>
            <a:srgbClr val="FBAE40"/>
          </p15:clr>
        </p15:guide>
        <p15:guide id="2" pos="443" userDrawn="1">
          <p15:clr>
            <a:srgbClr val="FBAE40"/>
          </p15:clr>
        </p15:guide>
        <p15:guide id="3" pos="5955">
          <p15:clr>
            <a:srgbClr val="FBAE40"/>
          </p15:clr>
        </p15:guide>
        <p15:guide id="4" pos="60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3" name="제목 2">
            <a:extLst>
              <a:ext uri="{FF2B5EF4-FFF2-40B4-BE49-F238E27FC236}">
                <a16:creationId xmlns:a16="http://schemas.microsoft.com/office/drawing/2014/main" id="{4625E1FE-2B04-4D8E-A51A-6B9CEC7B3790}"/>
              </a:ext>
            </a:extLst>
          </p:cNvPr>
          <p:cNvSpPr>
            <a:spLocks noGrp="1"/>
          </p:cNvSpPr>
          <p:nvPr>
            <p:ph type="title" hasCustomPrompt="1"/>
          </p:nvPr>
        </p:nvSpPr>
        <p:spPr>
          <a:xfrm>
            <a:off x="449468" y="1440000"/>
            <a:ext cx="854118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spcBef>
                <a:spcPts val="0"/>
              </a:spcBef>
              <a:defRPr lang="ko-KR" altLang="en-US" sz="3200">
                <a:solidFill>
                  <a:schemeClr val="tx1">
                    <a:lumMod val="95000"/>
                    <a:lumOff val="5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Slide Title</a:t>
            </a:r>
            <a:endParaRPr lang="ko-KR" altLang="en-US" dirty="0"/>
          </a:p>
        </p:txBody>
      </p:sp>
      <p:sp>
        <p:nvSpPr>
          <p:cNvPr id="19" name="텍스트 개체 틀 18">
            <a:extLst>
              <a:ext uri="{FF2B5EF4-FFF2-40B4-BE49-F238E27FC236}">
                <a16:creationId xmlns:a16="http://schemas.microsoft.com/office/drawing/2014/main" id="{DFEC8C6A-D95C-4B3C-9803-6F9071BF0C29}"/>
              </a:ext>
            </a:extLst>
          </p:cNvPr>
          <p:cNvSpPr>
            <a:spLocks noGrp="1"/>
          </p:cNvSpPr>
          <p:nvPr>
            <p:ph type="body" sz="quarter" idx="10" hasCustomPrompt="1"/>
          </p:nvPr>
        </p:nvSpPr>
        <p:spPr>
          <a:xfrm>
            <a:off x="449468" y="450000"/>
            <a:ext cx="323896"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No</a:t>
            </a:r>
            <a:endParaRPr lang="ko-KR" altLang="en-US" dirty="0"/>
          </a:p>
        </p:txBody>
      </p:sp>
      <p:sp>
        <p:nvSpPr>
          <p:cNvPr id="20" name="텍스트 개체 틀 18">
            <a:extLst>
              <a:ext uri="{FF2B5EF4-FFF2-40B4-BE49-F238E27FC236}">
                <a16:creationId xmlns:a16="http://schemas.microsoft.com/office/drawing/2014/main" id="{6DA22BCA-E7E2-4377-AD8E-AC1336C3DB31}"/>
              </a:ext>
            </a:extLst>
          </p:cNvPr>
          <p:cNvSpPr>
            <a:spLocks noGrp="1"/>
          </p:cNvSpPr>
          <p:nvPr>
            <p:ph type="body" sz="quarter" idx="11" hasCustomPrompt="1"/>
          </p:nvPr>
        </p:nvSpPr>
        <p:spPr>
          <a:xfrm>
            <a:off x="790000" y="450001"/>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Bold" pitchFamily="2" charset="0"/>
                <a:ea typeface="Samsung Sharp Sans Bold" pitchFamily="2" charset="0"/>
                <a:cs typeface="Samsung Sharp Sans Bold" pitchFamily="2" charset="0"/>
              </a:defRPr>
            </a:lvl1pPr>
          </a:lstStyle>
          <a:p>
            <a:pPr marL="0" lvl="0" defTabSz="457050" latinLnBrk="0"/>
            <a:r>
              <a:rPr lang="en-US" altLang="ko-KR" dirty="0"/>
              <a:t>Subtitle</a:t>
            </a:r>
            <a:endParaRPr lang="ko-KR" altLang="en-US" dirty="0"/>
          </a:p>
        </p:txBody>
      </p:sp>
      <p:sp>
        <p:nvSpPr>
          <p:cNvPr id="21" name="텍스트 개체 틀 18">
            <a:extLst>
              <a:ext uri="{FF2B5EF4-FFF2-40B4-BE49-F238E27FC236}">
                <a16:creationId xmlns:a16="http://schemas.microsoft.com/office/drawing/2014/main" id="{7647BD6A-5F13-45AE-859C-AF2BA0A739E6}"/>
              </a:ext>
            </a:extLst>
          </p:cNvPr>
          <p:cNvSpPr>
            <a:spLocks noGrp="1"/>
          </p:cNvSpPr>
          <p:nvPr>
            <p:ph type="body" sz="quarter" idx="12" hasCustomPrompt="1"/>
          </p:nvPr>
        </p:nvSpPr>
        <p:spPr>
          <a:xfrm>
            <a:off x="9112825" y="480779"/>
            <a:ext cx="340625" cy="246221"/>
          </a:xfrm>
          <a:prstGeom prst="rect">
            <a:avLst/>
          </a:prstGeom>
        </p:spPr>
        <p:txBody>
          <a:bodyPr wrap="square" lIns="0" tIns="0" rIns="0" bIns="0">
            <a:spAutoFit/>
          </a:bodyPr>
          <a:lstStyle>
            <a:lvl1pPr marL="0" indent="0" algn="r">
              <a:lnSpc>
                <a:spcPct val="100000"/>
              </a:lnSpc>
              <a:spcBef>
                <a:spcPts val="0"/>
              </a:spcBef>
              <a:buNone/>
              <a:defRPr lang="ko-KR" altLang="en-US" sz="1600" dirty="0">
                <a:solidFill>
                  <a:schemeClr val="bg1">
                    <a:lumMod val="85000"/>
                  </a:schemeClr>
                </a:solidFill>
                <a:latin typeface="Samsung Sharp Sans Bold" pitchFamily="2" charset="0"/>
                <a:ea typeface="Samsung Sharp Sans Bold" pitchFamily="2" charset="0"/>
                <a:cs typeface="Samsung Sharp Sans Bold" pitchFamily="2" charset="0"/>
              </a:defRPr>
            </a:lvl1pPr>
          </a:lstStyle>
          <a:p>
            <a:pPr marL="0" lvl="0" algn="r" defTabSz="457063" latinLnBrk="0"/>
            <a:r>
              <a:rPr lang="en-US" altLang="ko-KR" dirty="0"/>
              <a:t>00</a:t>
            </a:r>
            <a:endParaRPr lang="ko-KR" altLang="en-US" dirty="0"/>
          </a:p>
        </p:txBody>
      </p:sp>
      <p:sp>
        <p:nvSpPr>
          <p:cNvPr id="23" name="텍스트 개체 틀 18">
            <a:extLst>
              <a:ext uri="{FF2B5EF4-FFF2-40B4-BE49-F238E27FC236}">
                <a16:creationId xmlns:a16="http://schemas.microsoft.com/office/drawing/2014/main" id="{3A9667F7-80AD-4A7A-8543-285975B06BE3}"/>
              </a:ext>
            </a:extLst>
          </p:cNvPr>
          <p:cNvSpPr>
            <a:spLocks noGrp="1"/>
          </p:cNvSpPr>
          <p:nvPr>
            <p:ph type="body" sz="quarter" idx="13" hasCustomPrompt="1"/>
          </p:nvPr>
        </p:nvSpPr>
        <p:spPr>
          <a:xfrm>
            <a:off x="8740667" y="480779"/>
            <a:ext cx="46785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600" dirty="0">
                <a:solidFill>
                  <a:schemeClr val="bg1">
                    <a:lumMod val="85000"/>
                  </a:schemeClr>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UNIT</a:t>
            </a:r>
            <a:endParaRPr lang="ko-KR" altLang="en-US" dirty="0"/>
          </a:p>
        </p:txBody>
      </p:sp>
      <p:sp>
        <p:nvSpPr>
          <p:cNvPr id="16" name="텍스트 개체 틀 7">
            <a:extLst>
              <a:ext uri="{FF2B5EF4-FFF2-40B4-BE49-F238E27FC236}">
                <a16:creationId xmlns:a16="http://schemas.microsoft.com/office/drawing/2014/main" id="{B6D584F0-F100-4FB4-B935-0E81DB1D3B51}"/>
              </a:ext>
            </a:extLst>
          </p:cNvPr>
          <p:cNvSpPr>
            <a:spLocks noGrp="1"/>
          </p:cNvSpPr>
          <p:nvPr>
            <p:ph type="body" sz="quarter" idx="15" hasCustomPrompt="1"/>
          </p:nvPr>
        </p:nvSpPr>
        <p:spPr>
          <a:xfrm>
            <a:off x="522288" y="2221661"/>
            <a:ext cx="8055439" cy="914400"/>
          </a:xfrm>
          <a:prstGeom prst="rect">
            <a:avLst/>
          </a:prstGeom>
        </p:spPr>
        <p:txBody>
          <a:bodyPr lIns="0" tIns="0" rIns="0" bIns="0"/>
          <a:lstStyle>
            <a:lvl1pPr marL="177747" indent="-177747">
              <a:lnSpc>
                <a:spcPts val="1800"/>
              </a:lnSpc>
              <a:buSzPct val="105000"/>
              <a:buFontTx/>
              <a:buBlip>
                <a:blip r:embed="rId3"/>
              </a:buBlip>
              <a:defRPr kumimoji="1" lang="en-US" altLang="ko-KR" sz="1400" kern="120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1pPr>
            <a:lvl2pPr marL="360255" indent="-182508">
              <a:lnSpc>
                <a:spcPts val="1800"/>
              </a:lnSpc>
              <a:buSzPct val="80000"/>
              <a:buFontTx/>
              <a:buBlip>
                <a:blip r:embed="rId4"/>
              </a:buBlip>
              <a:tabLst>
                <a:tab pos="447541" algn="l"/>
              </a:tabLst>
              <a:defRPr lang="en-US" altLang="ko-KR" sz="1300" kern="1200" dirty="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2pPr>
          </a:lstStyle>
          <a:p>
            <a:pPr lvl="0"/>
            <a:r>
              <a:rPr lang="en-US" altLang="ko-KR" dirty="0"/>
              <a:t>Level1</a:t>
            </a:r>
          </a:p>
          <a:p>
            <a:pPr lvl="1"/>
            <a:r>
              <a:rPr lang="en-US" altLang="ko-KR" dirty="0"/>
              <a:t>Level2</a:t>
            </a:r>
          </a:p>
          <a:p>
            <a:pPr lvl="1"/>
            <a:endParaRPr lang="en-US" altLang="ko-KR" dirty="0"/>
          </a:p>
          <a:p>
            <a:pPr marL="628461" lvl="1" indent="-207901" algn="l" defTabSz="843830" rtl="0" eaLnBrk="1" latinLnBrk="1" hangingPunct="1">
              <a:lnSpc>
                <a:spcPct val="90000"/>
              </a:lnSpc>
              <a:spcBef>
                <a:spcPts val="462"/>
              </a:spcBef>
              <a:buSzPct val="90000"/>
              <a:buFontTx/>
              <a:buBlip>
                <a:blip r:embed="rId5"/>
              </a:buBlip>
            </a:pPr>
            <a:endParaRPr lang="en-US" altLang="ko-KR" dirty="0"/>
          </a:p>
          <a:p>
            <a:pPr lvl="1"/>
            <a:endParaRPr lang="ko-KR" altLang="en-US" dirty="0"/>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Pi24 – Brain Tumor Capstone</a:t>
            </a:r>
          </a:p>
        </p:txBody>
      </p:sp>
    </p:spTree>
    <p:extLst>
      <p:ext uri="{BB962C8B-B14F-4D97-AF65-F5344CB8AC3E}">
        <p14:creationId xmlns:p14="http://schemas.microsoft.com/office/powerpoint/2010/main" val="3102046736"/>
      </p:ext>
    </p:extLst>
  </p:cSld>
  <p:clrMapOvr>
    <a:masterClrMapping/>
  </p:clrMapOvr>
  <p:extLst>
    <p:ext uri="{DCECCB84-F9BA-43D5-87BE-67443E8EF086}">
      <p15:sldGuideLst xmlns:p15="http://schemas.microsoft.com/office/powerpoint/2012/main">
        <p15:guide id="1" orient="horz" pos="902" userDrawn="1">
          <p15:clr>
            <a:srgbClr val="FBAE40"/>
          </p15:clr>
        </p15:guide>
        <p15:guide id="2" pos="285">
          <p15:clr>
            <a:srgbClr val="FBAE40"/>
          </p15:clr>
        </p15:guide>
        <p15:guide id="3" pos="5955">
          <p15:clr>
            <a:srgbClr val="FBAE40"/>
          </p15:clr>
        </p15:guide>
        <p15:guide id="4" pos="32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434159522"/>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1779621428"/>
      </p:ext>
    </p:extLst>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E75758B0-2429-4331-898E-5EEED60D4280}"/>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42502544"/>
      </p:ext>
    </p:extLst>
  </p:cSld>
  <p:clrMapOvr>
    <a:masterClrMapping/>
  </p:clrMapOvr>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C5960DC7-D671-485D-92B0-FEED6CE658A3}"/>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1343950608"/>
      </p:ext>
    </p:extLst>
  </p:cSld>
  <p:clrMapOvr>
    <a:masterClrMapping/>
  </p:clrMapOvr>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2025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12278341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1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814442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928821"/>
      </p:ext>
    </p:extLst>
  </p:cSld>
  <p:clrMap bg1="lt1" tx1="dk1" bg2="lt2" tx2="dk2" accent1="accent1" accent2="accent2" accent3="accent3" accent4="accent4" accent5="accent5" accent6="accent6" hlink="hlink" folHlink="folHlink"/>
  <p:sldLayoutIdLst>
    <p:sldLayoutId id="2147483684" r:id="rId1"/>
    <p:sldLayoutId id="2147483691" r:id="rId2"/>
    <p:sldLayoutId id="2147483685" r:id="rId3"/>
    <p:sldLayoutId id="2147483687" r:id="rId4"/>
    <p:sldLayoutId id="2147483694" r:id="rId5"/>
    <p:sldLayoutId id="2147483693" r:id="rId6"/>
    <p:sldLayoutId id="2147483686" r:id="rId7"/>
    <p:sldLayoutId id="2147483688" r:id="rId8"/>
    <p:sldLayoutId id="2147483689" r:id="rId9"/>
    <p:sldLayoutId id="2147483690" r:id="rId10"/>
  </p:sldLayoutIdLst>
  <p:txStyles>
    <p:titleStyle>
      <a:lvl1pPr algn="l" defTabSz="914126" rtl="0" eaLnBrk="1" latinLnBrk="1"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1"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9ABA57D5-7920-4C59-8990-1FDF22441FA6}"/>
              </a:ext>
            </a:extLst>
          </p:cNvPr>
          <p:cNvSpPr>
            <a:spLocks noGrp="1"/>
          </p:cNvSpPr>
          <p:nvPr>
            <p:ph type="body" sz="quarter" idx="11"/>
          </p:nvPr>
        </p:nvSpPr>
        <p:spPr>
          <a:xfrm>
            <a:off x="720000" y="3620000"/>
            <a:ext cx="8300000" cy="560000"/>
          </a:xfrm>
        </p:spPr>
        <p:txBody>
          <a:bodyPr/>
          <a:lstStyle/>
          <a:p>
            <a:r>
              <a:rPr lang="en-US" altLang="ko-KR" b="1" dirty="0"/>
              <a:t>Pi24, Team 24</a:t>
            </a:r>
          </a:p>
          <a:p>
            <a:r>
              <a:rPr lang="en-US" altLang="ko-KR" sz="1300" dirty="0">
                <a:solidFill>
                  <a:schemeClr val="bg1">
                    <a:lumMod val="55000"/>
                  </a:schemeClr>
                </a:solidFill>
              </a:rPr>
              <a:t>Muslim Alhammad  ·  Haya Saleh Algarni  ·  Raed Almjally  ·  Maram Alraddadi</a:t>
            </a:r>
            <a:endParaRPr lang="ko-KR" altLang="en-US" dirty="0"/>
          </a:p>
        </p:txBody>
      </p:sp>
      <p:sp>
        <p:nvSpPr>
          <p:cNvPr id="4" name="제목 3">
            <a:extLst>
              <a:ext uri="{FF2B5EF4-FFF2-40B4-BE49-F238E27FC236}">
                <a16:creationId xmlns:a16="http://schemas.microsoft.com/office/drawing/2014/main" id="{51786819-9BFB-478D-BAE7-57DB1DEACF78}"/>
              </a:ext>
            </a:extLst>
          </p:cNvPr>
          <p:cNvSpPr>
            <a:spLocks noGrp="1"/>
          </p:cNvSpPr>
          <p:nvPr>
            <p:ph type="title"/>
          </p:nvPr>
        </p:nvSpPr>
        <p:spPr>
          <a:xfrm>
            <a:off x="720000" y="1550000"/>
            <a:ext cx="8400000" cy="1950000"/>
          </a:xfrm>
        </p:spPr>
        <p:txBody>
          <a:bodyPr>
            <a:normAutofit/>
          </a:bodyPr>
          <a:lstStyle/>
          <a:p>
            <a:r>
              <a:rPr lang="en-US" altLang="ko-KR" sz="2800" dirty="0"/>
              <a:t>A Two-Stage Deep Learning Approach to</a:t>
            </a:r>
            <a:br>
              <a:rPr lang="en-US" altLang="ko-KR" sz="2800" dirty="0"/>
            </a:br>
            <a:r>
              <a:rPr lang="en-US" altLang="ko-KR" sz="2800" dirty="0"/>
              <a:t>Brain Tumor Classification and Segmentation</a:t>
            </a:r>
            <a:br>
              <a:rPr lang="en-US" altLang="ko-KR" sz="2800" dirty="0"/>
            </a:br>
            <a:r>
              <a:rPr lang="en-US" altLang="ko-KR" sz="2800" dirty="0"/>
              <a:t>in 2D MRI Images</a:t>
            </a:r>
            <a:endParaRPr lang="ko-KR" altLang="en-US" sz="2800" dirty="0"/>
          </a:p>
        </p:txBody>
      </p:sp>
    </p:spTree>
    <p:extLst>
      <p:ext uri="{BB962C8B-B14F-4D97-AF65-F5344CB8AC3E}">
        <p14:creationId xmlns:p14="http://schemas.microsoft.com/office/powerpoint/2010/main" val="4009122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
            <a:extLst>
              <a:ext uri="{FF2B5EF4-FFF2-40B4-BE49-F238E27FC236}">
                <a16:creationId xmlns:a16="http://schemas.microsoft.com/office/drawing/2014/main" id="{1E42F3CA-E8F5-41D4-A677-F15543C46B01}"/>
              </a:ext>
            </a:extLst>
          </p:cNvPr>
          <p:cNvGrpSpPr/>
          <p:nvPr/>
        </p:nvGrpSpPr>
        <p:grpSpPr>
          <a:xfrm>
            <a:off x="710836" y="1750000"/>
            <a:ext cx="4379913" cy="1216982"/>
            <a:chOff x="4181256" y="3224809"/>
            <a:chExt cx="4379913" cy="1216982"/>
          </a:xfrm>
        </p:grpSpPr>
        <p:sp>
          <p:nvSpPr>
            <p:cNvPr id="5" name="직사각형 4">
              <a:extLst>
                <a:ext uri="{FF2B5EF4-FFF2-40B4-BE49-F238E27FC236}">
                  <a16:creationId xmlns:a16="http://schemas.microsoft.com/office/drawing/2014/main" id="{EEA224A4-F527-4CB0-B62E-359CBCD4E781}"/>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250"/>
                </a:spcAft>
              </a:pPr>
              <a:r>
                <a:rPr lang="en-US" altLang="ko-KR" dirty="0">
                  <a:solidFill>
                    <a:schemeClr val="tx1">
                      <a:lumMod val="75000"/>
                      <a:lumOff val="25000"/>
                    </a:schemeClr>
                  </a:solidFill>
                  <a:latin typeface="SamsungOne 700" panose="020B0803030303020204" pitchFamily="34" charset="0"/>
                  <a:ea typeface="SamsungOne 700" panose="020B0803030303020204" pitchFamily="34" charset="0"/>
                </a:rPr>
                <a:t>1. Foundations</a:t>
              </a:r>
            </a:p>
          </p:txBody>
        </p:sp>
        <p:sp>
          <p:nvSpPr>
            <p:cNvPr id="6" name="직사각형 5">
              <a:extLst>
                <a:ext uri="{FF2B5EF4-FFF2-40B4-BE49-F238E27FC236}">
                  <a16:creationId xmlns:a16="http://schemas.microsoft.com/office/drawing/2014/main" id="{F55CBCEC-393B-4E62-A937-E41B3CD7A93E}"/>
                </a:ext>
              </a:extLst>
            </p:cNvPr>
            <p:cNvSpPr/>
            <p:nvPr/>
          </p:nvSpPr>
          <p:spPr>
            <a:xfrm>
              <a:off x="4181256" y="3224809"/>
              <a:ext cx="36000" cy="252000"/>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sz="2800" dirty="0"/>
            </a:p>
          </p:txBody>
        </p:sp>
        <p:sp>
          <p:nvSpPr>
            <p:cNvPr id="7" name="직사각형 6">
              <a:extLst>
                <a:ext uri="{FF2B5EF4-FFF2-40B4-BE49-F238E27FC236}">
                  <a16:creationId xmlns:a16="http://schemas.microsoft.com/office/drawing/2014/main" id="{276F31AB-CE0B-4C60-A822-96C574A8736B}"/>
                </a:ext>
              </a:extLst>
            </p:cNvPr>
            <p:cNvSpPr/>
            <p:nvPr/>
          </p:nvSpPr>
          <p:spPr>
            <a:xfrm>
              <a:off x="5160752" y="3641572"/>
              <a:ext cx="3400417" cy="8002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250"/>
                </a:spcAft>
              </a:pPr>
              <a:r>
                <a:rPr lang="en-US" altLang="ko-KR" sz="1150" dirty="0">
                  <a:solidFill>
                    <a:srgbClr val="193EB0"/>
                  </a:solidFill>
                  <a:latin typeface="SamsungOne 700" panose="020B0803030303020204" pitchFamily="34" charset="0"/>
                  <a:ea typeface="SamsungOne 700" panose="020B0803030303020204" pitchFamily="34" charset="0"/>
                </a:rPr>
                <a:t>1.1  Problem &amp; Background</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1.2  Motivation &amp; Objective</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1.3  Proposed Solution</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1.4  Dataset (BRISC2025)</a:t>
              </a:r>
            </a:p>
          </p:txBody>
        </p:sp>
      </p:grpSp>
      <p:grpSp>
        <p:nvGrpSpPr>
          <p:cNvPr id="8" name="Group 1">
            <a:extLst>
              <a:ext uri="{FF2B5EF4-FFF2-40B4-BE49-F238E27FC236}">
                <a16:creationId xmlns:a16="http://schemas.microsoft.com/office/drawing/2014/main" id="{730BB671-9743-4819-9105-2FF86D4E0E36}"/>
              </a:ext>
            </a:extLst>
          </p:cNvPr>
          <p:cNvGrpSpPr/>
          <p:nvPr/>
        </p:nvGrpSpPr>
        <p:grpSpPr>
          <a:xfrm>
            <a:off x="710836" y="3410000"/>
            <a:ext cx="4379913" cy="1216982"/>
            <a:chOff x="4181256" y="3224809"/>
            <a:chExt cx="4379913" cy="1216982"/>
          </a:xfrm>
        </p:grpSpPr>
        <p:sp>
          <p:nvSpPr>
            <p:cNvPr id="9" name="직사각형 37">
              <a:extLst>
                <a:ext uri="{FF2B5EF4-FFF2-40B4-BE49-F238E27FC236}">
                  <a16:creationId xmlns:a16="http://schemas.microsoft.com/office/drawing/2014/main" id="{44B7DD30-17C5-4D7E-8AC2-EA4E01FBA36D}"/>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250"/>
                </a:spcAft>
              </a:pPr>
              <a:r>
                <a:rPr lang="en-US" altLang="ko-KR" dirty="0">
                  <a:solidFill>
                    <a:schemeClr val="tx1">
                      <a:lumMod val="75000"/>
                      <a:lumOff val="25000"/>
                    </a:schemeClr>
                  </a:solidFill>
                  <a:latin typeface="SamsungOne 700" panose="020B0803030303020204" pitchFamily="34" charset="0"/>
                  <a:ea typeface="SamsungOne 700" panose="020B0803030303020204" pitchFamily="34" charset="0"/>
                </a:rPr>
                <a:t>2. Method &amp; Models</a:t>
              </a:r>
            </a:p>
          </p:txBody>
        </p:sp>
        <p:sp>
          <p:nvSpPr>
            <p:cNvPr id="10" name="직사각형 38">
              <a:extLst>
                <a:ext uri="{FF2B5EF4-FFF2-40B4-BE49-F238E27FC236}">
                  <a16:creationId xmlns:a16="http://schemas.microsoft.com/office/drawing/2014/main" id="{0544C2E7-AEB2-4C9F-BC7B-16A176B1A6CD}"/>
                </a:ext>
              </a:extLst>
            </p:cNvPr>
            <p:cNvSpPr/>
            <p:nvPr/>
          </p:nvSpPr>
          <p:spPr>
            <a:xfrm>
              <a:off x="4181256" y="3224809"/>
              <a:ext cx="36000" cy="252000"/>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sz="2800" dirty="0"/>
            </a:p>
          </p:txBody>
        </p:sp>
        <p:sp>
          <p:nvSpPr>
            <p:cNvPr id="11" name="직사각형 39">
              <a:extLst>
                <a:ext uri="{FF2B5EF4-FFF2-40B4-BE49-F238E27FC236}">
                  <a16:creationId xmlns:a16="http://schemas.microsoft.com/office/drawing/2014/main" id="{8FF9FD52-A1FA-45F7-80A2-FC3AF69D82B2}"/>
                </a:ext>
              </a:extLst>
            </p:cNvPr>
            <p:cNvSpPr/>
            <p:nvPr/>
          </p:nvSpPr>
          <p:spPr>
            <a:xfrm>
              <a:off x="5160752" y="3641572"/>
              <a:ext cx="3400417" cy="8002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250"/>
                </a:spcAft>
              </a:pPr>
              <a:r>
                <a:rPr lang="en-US" altLang="ko-KR" sz="1150" dirty="0">
                  <a:solidFill>
                    <a:srgbClr val="193EB0"/>
                  </a:solidFill>
                  <a:latin typeface="SamsungOne 700" panose="020B0803030303020204" pitchFamily="34" charset="0"/>
                  <a:ea typeface="SamsungOne 700" panose="020B0803030303020204" pitchFamily="34" charset="0"/>
                </a:rPr>
                <a:t>2.1  Data Preparation &amp; Preprocessing</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2.2  AI Models</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2.3  System Workflow &amp; Architecture</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2.4  Evaluation Methodology</a:t>
              </a:r>
            </a:p>
          </p:txBody>
        </p:sp>
      </p:grpSp>
      <p:grpSp>
        <p:nvGrpSpPr>
          <p:cNvPr id="12" name="Group 1">
            <a:extLst>
              <a:ext uri="{FF2B5EF4-FFF2-40B4-BE49-F238E27FC236}">
                <a16:creationId xmlns:a16="http://schemas.microsoft.com/office/drawing/2014/main" id="{99E1C113-2E13-42D7-B0BA-4B851632AACF}"/>
              </a:ext>
            </a:extLst>
          </p:cNvPr>
          <p:cNvGrpSpPr/>
          <p:nvPr/>
        </p:nvGrpSpPr>
        <p:grpSpPr>
          <a:xfrm>
            <a:off x="710836" y="5070000"/>
            <a:ext cx="4379913" cy="1216982"/>
            <a:chOff x="4181256" y="3224809"/>
            <a:chExt cx="4379913" cy="1216982"/>
          </a:xfrm>
        </p:grpSpPr>
        <p:sp>
          <p:nvSpPr>
            <p:cNvPr id="13" name="직사각형 37">
              <a:extLst>
                <a:ext uri="{FF2B5EF4-FFF2-40B4-BE49-F238E27FC236}">
                  <a16:creationId xmlns:a16="http://schemas.microsoft.com/office/drawing/2014/main" id="{B347DB6E-48AB-4ECB-AF93-4C89FBDF1471}"/>
                </a:ext>
              </a:extLst>
            </p:cNvPr>
            <p:cNvSpPr/>
            <p:nvPr/>
          </p:nvSpPr>
          <p:spPr>
            <a:xfrm>
              <a:off x="4364136" y="3225982"/>
              <a:ext cx="419703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spcAft>
                  <a:spcPts val="250"/>
                </a:spcAft>
              </a:pPr>
              <a:r>
                <a:rPr lang="en-US" altLang="ko-KR" dirty="0">
                  <a:solidFill>
                    <a:schemeClr val="tx1">
                      <a:lumMod val="75000"/>
                      <a:lumOff val="25000"/>
                    </a:schemeClr>
                  </a:solidFill>
                  <a:latin typeface="SamsungOne 700" panose="020B0803030303020204" pitchFamily="34" charset="0"/>
                  <a:ea typeface="SamsungOne 700" panose="020B0803030303020204" pitchFamily="34" charset="0"/>
                </a:rPr>
                <a:t>3. Results &amp; Impact</a:t>
              </a:r>
            </a:p>
          </p:txBody>
        </p:sp>
        <p:sp>
          <p:nvSpPr>
            <p:cNvPr id="14" name="직사각형 38">
              <a:extLst>
                <a:ext uri="{FF2B5EF4-FFF2-40B4-BE49-F238E27FC236}">
                  <a16:creationId xmlns:a16="http://schemas.microsoft.com/office/drawing/2014/main" id="{0B90DCE9-673D-4E88-91C4-A7B10F5EEAE4}"/>
                </a:ext>
              </a:extLst>
            </p:cNvPr>
            <p:cNvSpPr/>
            <p:nvPr/>
          </p:nvSpPr>
          <p:spPr>
            <a:xfrm>
              <a:off x="4181256" y="3224809"/>
              <a:ext cx="36000" cy="252000"/>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sz="2800" dirty="0"/>
            </a:p>
          </p:txBody>
        </p:sp>
        <p:sp>
          <p:nvSpPr>
            <p:cNvPr id="15" name="직사각형 39">
              <a:extLst>
                <a:ext uri="{FF2B5EF4-FFF2-40B4-BE49-F238E27FC236}">
                  <a16:creationId xmlns:a16="http://schemas.microsoft.com/office/drawing/2014/main" id="{2825410F-2C46-47C0-A8BD-61DC6D753D88}"/>
                </a:ext>
              </a:extLst>
            </p:cNvPr>
            <p:cNvSpPr/>
            <p:nvPr/>
          </p:nvSpPr>
          <p:spPr>
            <a:xfrm>
              <a:off x="5160752" y="3641572"/>
              <a:ext cx="3400417" cy="8002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250"/>
                </a:spcAft>
              </a:pPr>
              <a:r>
                <a:rPr lang="en-US" altLang="ko-KR" sz="1150" dirty="0">
                  <a:solidFill>
                    <a:srgbClr val="193EB0"/>
                  </a:solidFill>
                  <a:latin typeface="SamsungOne 700" panose="020B0803030303020204" pitchFamily="34" charset="0"/>
                  <a:ea typeface="SamsungOne 700" panose="020B0803030303020204" pitchFamily="34" charset="0"/>
                </a:rPr>
                <a:t>3.1  Expected Results (Targets)</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3.2  UI &amp; Deployment</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3.3  Limitations &amp; Future Work</a:t>
              </a:r>
            </a:p>
            <a:p>
              <a:pPr>
                <a:spcAft>
                  <a:spcPts val="250"/>
                </a:spcAft>
              </a:pPr>
              <a:r>
                <a:rPr lang="en-US" altLang="ko-KR" sz="1150" dirty="0">
                  <a:solidFill>
                    <a:schemeClr val="bg1">
                      <a:lumMod val="65000"/>
                    </a:schemeClr>
                  </a:solidFill>
                  <a:latin typeface="SamsungOne 400" panose="020B0503030303020204" pitchFamily="34" charset="0"/>
                  <a:ea typeface="SamsungOne 400" panose="020B0503030303020204" pitchFamily="34" charset="0"/>
                </a:rPr>
                <a:t>3.4  Project Impact &amp; Conclusion</a:t>
              </a:r>
            </a:p>
          </p:txBody>
        </p:sp>
      </p:grpSp>
      <p:sp>
        <p:nvSpPr>
          <p:cNvPr id="16" name="직사각형 133">
            <a:extLst>
              <a:ext uri="{FF2B5EF4-FFF2-40B4-BE49-F238E27FC236}">
                <a16:creationId xmlns:a16="http://schemas.microsoft.com/office/drawing/2014/main" id="{71B9AA9E-B863-4155-9637-87088D8ED43A}"/>
              </a:ext>
            </a:extLst>
          </p:cNvPr>
          <p:cNvSpPr/>
          <p:nvPr/>
        </p:nvSpPr>
        <p:spPr>
          <a:xfrm>
            <a:off x="710836" y="357668"/>
            <a:ext cx="850832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bg1"/>
                </a:solidFill>
                <a:latin typeface="Samsung Sharp Sans" pitchFamily="2" charset="0"/>
                <a:ea typeface="Samsung Sharp Sans" pitchFamily="2" charset="0"/>
                <a:cs typeface="Samsung Sharp Sans" pitchFamily="2" charset="0"/>
              </a:rPr>
              <a:t>Agenda</a:t>
            </a:r>
          </a:p>
        </p:txBody>
      </p:sp>
    </p:spTree>
    <p:extLst>
      <p:ext uri="{BB962C8B-B14F-4D97-AF65-F5344CB8AC3E}">
        <p14:creationId xmlns:p14="http://schemas.microsoft.com/office/powerpoint/2010/main" val="210647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Problem &amp; Background</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1.1</a:t>
            </a:r>
            <a:endParaRPr lang="ko-KR" altLang="en-US" dirty="0"/>
          </a:p>
        </p:txBody>
      </p:sp>
      <p:sp>
        <p:nvSpPr>
          <p:cNvPr id="4" name="Crumb Text"/>
          <p:cNvSpPr>
            <a:spLocks noGrp="1"/>
          </p:cNvSpPr>
          <p:nvPr>
            <p:ph type="body" sz="quarter" idx="11"/>
          </p:nvPr>
        </p:nvSpPr>
        <p:spPr/>
        <p:txBody>
          <a:bodyPr/>
          <a:lstStyle/>
          <a:p>
            <a:r>
              <a:rPr lang="en-US" altLang="ko-KR" dirty="0"/>
              <a:t>Foundations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01</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Brain tumors are abnormal tissue growths that require timely, accurate assessment.</a:t>
            </a:r>
          </a:p>
          <a:p>
            <a:r>
              <a:rPr lang="en-US" altLang="ko-KR" dirty="0"/>
              <a:t>MRI is widely used to visualize brain structure and tumor regions.</a:t>
            </a:r>
          </a:p>
          <a:p>
            <a:r>
              <a:rPr lang="en-US" altLang="ko-KR" dirty="0"/>
              <a:t>Two things matter most for every scan: the tumor type, and where it is located.</a:t>
            </a:r>
          </a:p>
          <a:p>
            <a:r>
              <a:rPr lang="en-US" altLang="ko-KR" dirty="0"/>
              <a:t>Manual identification and delineation of tumors is time-consuming</a:t>
            </a:r>
            <a:r>
              <a:rPr lang="ar-SA" altLang="ko-KR" dirty="0"/>
              <a:t>.</a:t>
            </a:r>
            <a:r>
              <a:rPr lang="en-US" altLang="ko-KR" dirty="0"/>
              <a:t> This motivates using deep learning to support the analysis.</a:t>
            </a:r>
          </a:p>
        </p:txBody>
      </p:sp>
      <p:sp>
        <p:nvSpPr>
          <p:cNvPr id="101" name="probcard_bg0"/>
          <p:cNvSpPr/>
          <p:nvPr/>
        </p:nvSpPr>
        <p:spPr>
          <a:xfrm>
            <a:off x="1380000" y="3970000"/>
            <a:ext cx="3320000" cy="190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02" name="probcard_hdr0"/>
          <p:cNvSpPr txBox="1"/>
          <p:nvPr/>
        </p:nvSpPr>
        <p:spPr>
          <a:xfrm>
            <a:off x="1645600" y="4122000"/>
            <a:ext cx="2788800" cy="532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WHAT is it?</a:t>
            </a:r>
          </a:p>
        </p:txBody>
      </p:sp>
      <p:sp>
        <p:nvSpPr>
          <p:cNvPr id="103" name="probcard_sub0"/>
          <p:cNvSpPr txBox="1"/>
          <p:nvPr/>
        </p:nvSpPr>
        <p:spPr>
          <a:xfrm>
            <a:off x="1645600" y="4616000"/>
            <a:ext cx="2788800" cy="1216000"/>
          </a:xfrm>
          <a:prstGeom prst="rect">
            <a:avLst/>
          </a:prstGeom>
          <a:noFill/>
          <a:ln>
            <a:noFill/>
          </a:ln>
        </p:spPr>
        <p:txBody>
          <a:bodyPr wrap="square" lIns="0" tIns="0" rIns="0" bIns="0" anchor="t">
            <a:noAutofit/>
          </a:bodyPr>
          <a:lstStyle/>
          <a:p>
            <a:pPr algn="ctr">
              <a:spcAft>
                <a:spcPts val="300"/>
              </a:spcAft>
            </a:pPr>
            <a:r>
              <a:rPr lang="en-US" sz="1100" b="1" i="0" dirty="0">
                <a:solidFill>
                  <a:srgbClr val="222222"/>
                </a:solidFill>
                <a:latin typeface="Calibri"/>
                <a:ea typeface="Calibri"/>
                <a:cs typeface="Calibri"/>
              </a:rPr>
              <a:t>Tumor type</a:t>
            </a:r>
          </a:p>
          <a:p>
            <a:pPr algn="ctr">
              <a:spcAft>
                <a:spcPts val="300"/>
              </a:spcAft>
            </a:pPr>
            <a:r>
              <a:rPr lang="en-US" sz="1000" b="0" i="0" dirty="0">
                <a:solidFill>
                  <a:srgbClr val="6B7280"/>
                </a:solidFill>
                <a:latin typeface="Calibri"/>
                <a:ea typeface="Calibri"/>
                <a:cs typeface="Calibri"/>
              </a:rPr>
              <a:t>Glioma / Meningioma /</a:t>
            </a:r>
          </a:p>
          <a:p>
            <a:pPr algn="ctr">
              <a:spcAft>
                <a:spcPts val="300"/>
              </a:spcAft>
            </a:pPr>
            <a:r>
              <a:rPr lang="en-US" sz="1000" b="0" i="0" dirty="0">
                <a:solidFill>
                  <a:srgbClr val="6B7280"/>
                </a:solidFill>
                <a:latin typeface="Calibri"/>
                <a:ea typeface="Calibri"/>
                <a:cs typeface="Calibri"/>
              </a:rPr>
              <a:t>Pituitary / No Tumor</a:t>
            </a:r>
          </a:p>
        </p:txBody>
      </p:sp>
      <p:sp>
        <p:nvSpPr>
          <p:cNvPr id="104" name="probcard_bg1"/>
          <p:cNvSpPr/>
          <p:nvPr/>
        </p:nvSpPr>
        <p:spPr>
          <a:xfrm>
            <a:off x="5200000" y="3970000"/>
            <a:ext cx="3320000" cy="190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05" name="probcard_hdr1"/>
          <p:cNvSpPr txBox="1"/>
          <p:nvPr/>
        </p:nvSpPr>
        <p:spPr>
          <a:xfrm>
            <a:off x="5465600" y="4122000"/>
            <a:ext cx="2788800" cy="532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WHERE is it?</a:t>
            </a:r>
          </a:p>
        </p:txBody>
      </p:sp>
      <p:sp>
        <p:nvSpPr>
          <p:cNvPr id="106" name="probcard_sub1"/>
          <p:cNvSpPr txBox="1"/>
          <p:nvPr/>
        </p:nvSpPr>
        <p:spPr>
          <a:xfrm>
            <a:off x="5465600" y="4616000"/>
            <a:ext cx="2788800" cy="1216000"/>
          </a:xfrm>
          <a:prstGeom prst="rect">
            <a:avLst/>
          </a:prstGeom>
          <a:noFill/>
          <a:ln>
            <a:noFill/>
          </a:ln>
        </p:spPr>
        <p:txBody>
          <a:bodyPr wrap="square" lIns="0" tIns="0" rIns="0" bIns="0" anchor="t">
            <a:noAutofit/>
          </a:bodyPr>
          <a:lstStyle/>
          <a:p>
            <a:pPr algn="ctr">
              <a:spcAft>
                <a:spcPts val="300"/>
              </a:spcAft>
            </a:pPr>
            <a:r>
              <a:rPr lang="en-US" sz="1100" b="1" i="0" dirty="0">
                <a:solidFill>
                  <a:srgbClr val="222222"/>
                </a:solidFill>
                <a:latin typeface="Calibri"/>
                <a:ea typeface="Calibri"/>
                <a:cs typeface="Calibri"/>
              </a:rPr>
              <a:t>Tumor location</a:t>
            </a:r>
          </a:p>
          <a:p>
            <a:pPr algn="ctr">
              <a:spcAft>
                <a:spcPts val="300"/>
              </a:spcAft>
            </a:pPr>
            <a:r>
              <a:rPr lang="en-US" sz="1000" b="0" i="0" dirty="0">
                <a:solidFill>
                  <a:srgbClr val="6B7280"/>
                </a:solidFill>
                <a:latin typeface="Calibri"/>
                <a:ea typeface="Calibri"/>
                <a:cs typeface="Calibri"/>
              </a:rPr>
              <a:t>Pixel-level region</a:t>
            </a:r>
          </a:p>
          <a:p>
            <a:pPr algn="ctr">
              <a:spcAft>
                <a:spcPts val="300"/>
              </a:spcAft>
            </a:pPr>
            <a:r>
              <a:rPr lang="en-US" sz="1000" b="0" i="0" dirty="0">
                <a:solidFill>
                  <a:srgbClr val="6B7280"/>
                </a:solidFill>
                <a:latin typeface="Calibri"/>
                <a:ea typeface="Calibri"/>
                <a:cs typeface="Calibri"/>
              </a:rPr>
              <a:t>within the scan</a:t>
            </a:r>
          </a:p>
        </p:txBody>
      </p:sp>
    </p:spTree>
    <p:extLst>
      <p:ext uri="{BB962C8B-B14F-4D97-AF65-F5344CB8AC3E}">
        <p14:creationId xmlns:p14="http://schemas.microsoft.com/office/powerpoint/2010/main" val="4080462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Motivation &amp; Objective</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1.2</a:t>
            </a:r>
            <a:endParaRPr lang="ko-KR" altLang="en-US" dirty="0"/>
          </a:p>
        </p:txBody>
      </p:sp>
      <p:sp>
        <p:nvSpPr>
          <p:cNvPr id="4" name="Crumb Text"/>
          <p:cNvSpPr>
            <a:spLocks noGrp="1"/>
          </p:cNvSpPr>
          <p:nvPr>
            <p:ph type="body" sz="quarter" idx="11"/>
          </p:nvPr>
        </p:nvSpPr>
        <p:spPr/>
        <p:txBody>
          <a:bodyPr/>
          <a:lstStyle/>
          <a:p>
            <a:r>
              <a:rPr lang="en-US" altLang="ko-KR" dirty="0"/>
              <a:t>Foundations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02</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Our motivation: our team set out to build a simple, understandable AI pipeline that pairs tumor-type classification with tumor localization.</a:t>
            </a:r>
          </a:p>
          <a:p>
            <a:r>
              <a:rPr lang="en-US" altLang="ko-KR" dirty="0"/>
              <a:t>BRISC2025 was chosen because it supports both tasks classification and pixel-level segmentation from one source.</a:t>
            </a:r>
          </a:p>
          <a:p>
            <a:r>
              <a:rPr lang="en-US" altLang="ko-KR" dirty="0"/>
              <a:t>Our objective: given one T1-weighted axial 2D MRI image, predict one of four classes, and if a tumor is found, produce a tumor mask.</a:t>
            </a:r>
          </a:p>
        </p:txBody>
      </p:sp>
      <p:sp>
        <p:nvSpPr>
          <p:cNvPr id="107" name="quotecard"/>
          <p:cNvSpPr/>
          <p:nvPr/>
        </p:nvSpPr>
        <p:spPr>
          <a:xfrm>
            <a:off x="780000" y="4070000"/>
            <a:ext cx="8340000" cy="115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08" name="quotetxt"/>
          <p:cNvSpPr txBox="1"/>
          <p:nvPr/>
        </p:nvSpPr>
        <p:spPr>
          <a:xfrm>
            <a:off x="1180000" y="4070000"/>
            <a:ext cx="7540000" cy="1150000"/>
          </a:xfrm>
          <a:prstGeom prst="rect">
            <a:avLst/>
          </a:prstGeom>
          <a:noFill/>
          <a:ln>
            <a:noFill/>
          </a:ln>
        </p:spPr>
        <p:txBody>
          <a:bodyPr wrap="square" lIns="0" tIns="0" rIns="0" bIns="0" anchor="ctr">
            <a:noAutofit/>
          </a:bodyPr>
          <a:lstStyle/>
          <a:p>
            <a:pPr algn="ctr">
              <a:spcAft>
                <a:spcPts val="300"/>
              </a:spcAft>
            </a:pPr>
            <a:r>
              <a:rPr lang="en-US" sz="1400" b="1" i="1" dirty="0">
                <a:solidFill>
                  <a:srgbClr val="FFFFFF"/>
                </a:solidFill>
                <a:latin typeface="Calibri"/>
                <a:ea typeface="Calibri"/>
                <a:cs typeface="Calibri"/>
              </a:rPr>
              <a:t>“A non-diagnostic, educational decision-support prototype </a:t>
            </a:r>
          </a:p>
          <a:p>
            <a:pPr algn="ctr">
              <a:spcAft>
                <a:spcPts val="300"/>
              </a:spcAft>
            </a:pPr>
            <a:r>
              <a:rPr lang="en-US" sz="1400" b="1" i="1" dirty="0">
                <a:solidFill>
                  <a:srgbClr val="FFFFFF"/>
                </a:solidFill>
                <a:latin typeface="Calibri"/>
                <a:ea typeface="Calibri"/>
                <a:cs typeface="Calibri"/>
              </a:rPr>
              <a:t>presented through a Gradio interface, not a replacement for a doctor.”</a:t>
            </a:r>
          </a:p>
        </p:txBody>
      </p:sp>
    </p:spTree>
    <p:extLst>
      <p:ext uri="{BB962C8B-B14F-4D97-AF65-F5344CB8AC3E}">
        <p14:creationId xmlns:p14="http://schemas.microsoft.com/office/powerpoint/2010/main" val="4080462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Proposed Solution: A Two-Stage Pipeline</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1.3</a:t>
            </a:r>
            <a:endParaRPr lang="ko-KR" altLang="en-US" dirty="0"/>
          </a:p>
        </p:txBody>
      </p:sp>
      <p:sp>
        <p:nvSpPr>
          <p:cNvPr id="4" name="Crumb Text"/>
          <p:cNvSpPr>
            <a:spLocks noGrp="1"/>
          </p:cNvSpPr>
          <p:nvPr>
            <p:ph type="body" sz="quarter" idx="11"/>
          </p:nvPr>
        </p:nvSpPr>
        <p:spPr/>
        <p:txBody>
          <a:bodyPr/>
          <a:lstStyle/>
          <a:p>
            <a:r>
              <a:rPr lang="en-US" altLang="ko-KR" dirty="0"/>
              <a:t>Foundations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03</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Our proposed solution is a two-stage cascaded pipeline: classify first, then segment only when a tumor is present.</a:t>
            </a:r>
          </a:p>
          <a:p>
            <a:r>
              <a:rPr lang="en-US" altLang="ko-KR" dirty="0"/>
              <a:t>Stage 1 Classification sorts the image into glioma, meningioma, pituitary tumor, or no tumor.</a:t>
            </a:r>
          </a:p>
          <a:p>
            <a:r>
              <a:rPr lang="en-US" altLang="ko-KR" dirty="0"/>
              <a:t>Stage 2 Segmentation runs only for tumor-positive images, to localize the tumor region.</a:t>
            </a:r>
          </a:p>
        </p:txBody>
      </p:sp>
      <p:sp>
        <p:nvSpPr>
          <p:cNvPr id="109" name="solpipe_box0"/>
          <p:cNvSpPr/>
          <p:nvPr/>
        </p:nvSpPr>
        <p:spPr>
          <a:xfrm>
            <a:off x="4800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10" name="solpipe_txt0"/>
          <p:cNvSpPr txBox="1"/>
          <p:nvPr/>
        </p:nvSpPr>
        <p:spPr>
          <a:xfrm>
            <a:off x="5765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MRI Image</a:t>
            </a:r>
          </a:p>
        </p:txBody>
      </p:sp>
      <p:sp>
        <p:nvSpPr>
          <p:cNvPr id="111" name="solpipe_arrow0"/>
          <p:cNvSpPr/>
          <p:nvPr/>
        </p:nvSpPr>
        <p:spPr>
          <a:xfrm>
            <a:off x="20892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12" name="solpipe_box1"/>
          <p:cNvSpPr/>
          <p:nvPr/>
        </p:nvSpPr>
        <p:spPr>
          <a:xfrm>
            <a:off x="29236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13" name="solpipe_txt1"/>
          <p:cNvSpPr txBox="1"/>
          <p:nvPr/>
        </p:nvSpPr>
        <p:spPr>
          <a:xfrm>
            <a:off x="30201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Stage 1</a:t>
            </a:r>
          </a:p>
          <a:p>
            <a:pPr algn="ctr">
              <a:spcAft>
                <a:spcPts val="300"/>
              </a:spcAft>
            </a:pPr>
            <a:r>
              <a:rPr lang="en-US" sz="1100" b="0" i="0" dirty="0">
                <a:solidFill>
                  <a:srgbClr val="FFFFFF"/>
                </a:solidFill>
                <a:latin typeface="Calibri"/>
                <a:ea typeface="Calibri"/>
                <a:cs typeface="Calibri"/>
              </a:rPr>
              <a:t>Classification</a:t>
            </a:r>
          </a:p>
          <a:p>
            <a:pPr algn="ctr">
              <a:spcAft>
                <a:spcPts val="300"/>
              </a:spcAft>
            </a:pPr>
            <a:r>
              <a:rPr lang="en-US" sz="900" b="0" i="0" dirty="0">
                <a:solidFill>
                  <a:srgbClr val="FFFFFF"/>
                </a:solidFill>
                <a:latin typeface="Calibri"/>
                <a:ea typeface="Calibri"/>
                <a:cs typeface="Calibri"/>
              </a:rPr>
              <a:t>(EfficientNet-B0)</a:t>
            </a:r>
          </a:p>
        </p:txBody>
      </p:sp>
      <p:sp>
        <p:nvSpPr>
          <p:cNvPr id="114" name="solpipe_arrow1"/>
          <p:cNvSpPr/>
          <p:nvPr/>
        </p:nvSpPr>
        <p:spPr>
          <a:xfrm>
            <a:off x="45328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15" name="solpipe_box2"/>
          <p:cNvSpPr/>
          <p:nvPr/>
        </p:nvSpPr>
        <p:spPr>
          <a:xfrm>
            <a:off x="53672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16" name="solpipe_txt2"/>
          <p:cNvSpPr txBox="1"/>
          <p:nvPr/>
        </p:nvSpPr>
        <p:spPr>
          <a:xfrm>
            <a:off x="54637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Stage 2</a:t>
            </a:r>
          </a:p>
          <a:p>
            <a:pPr algn="ctr">
              <a:spcAft>
                <a:spcPts val="300"/>
              </a:spcAft>
            </a:pPr>
            <a:r>
              <a:rPr lang="en-US" sz="1100" b="0" i="0" dirty="0">
                <a:solidFill>
                  <a:srgbClr val="FFFFFF"/>
                </a:solidFill>
                <a:latin typeface="Calibri"/>
                <a:ea typeface="Calibri"/>
                <a:cs typeface="Calibri"/>
              </a:rPr>
              <a:t>Segmentation</a:t>
            </a:r>
          </a:p>
          <a:p>
            <a:pPr algn="ctr">
              <a:spcAft>
                <a:spcPts val="300"/>
              </a:spcAft>
            </a:pPr>
            <a:r>
              <a:rPr lang="en-US" sz="900" b="0" i="0" dirty="0">
                <a:solidFill>
                  <a:srgbClr val="FFFFFF"/>
                </a:solidFill>
                <a:latin typeface="Calibri"/>
                <a:ea typeface="Calibri"/>
                <a:cs typeface="Calibri"/>
              </a:rPr>
              <a:t>(U-Net, if tumor)</a:t>
            </a:r>
          </a:p>
        </p:txBody>
      </p:sp>
      <p:sp>
        <p:nvSpPr>
          <p:cNvPr id="117" name="solpipe_arrow2"/>
          <p:cNvSpPr/>
          <p:nvPr/>
        </p:nvSpPr>
        <p:spPr>
          <a:xfrm>
            <a:off x="69764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18" name="solpipe_box3"/>
          <p:cNvSpPr/>
          <p:nvPr/>
        </p:nvSpPr>
        <p:spPr>
          <a:xfrm>
            <a:off x="7810800" y="4320000"/>
            <a:ext cx="1609200" cy="1300000"/>
          </a:xfrm>
          <a:prstGeom prst="roundRect">
            <a:avLst>
              <a:gd name="adj" fmla="val 8000"/>
            </a:avLst>
          </a:prstGeom>
          <a:solidFill>
            <a:srgbClr val="13307F"/>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19" name="solpipe_txt3"/>
          <p:cNvSpPr txBox="1"/>
          <p:nvPr/>
        </p:nvSpPr>
        <p:spPr>
          <a:xfrm>
            <a:off x="79073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Class +</a:t>
            </a:r>
          </a:p>
          <a:p>
            <a:pPr algn="ctr">
              <a:spcAft>
                <a:spcPts val="300"/>
              </a:spcAft>
            </a:pPr>
            <a:r>
              <a:rPr lang="en-US" sz="1100" b="0" i="0" dirty="0">
                <a:solidFill>
                  <a:srgbClr val="FFFFFF"/>
                </a:solidFill>
                <a:latin typeface="Calibri"/>
                <a:ea typeface="Calibri"/>
                <a:cs typeface="Calibri"/>
              </a:rPr>
              <a:t>Tumor Mask</a:t>
            </a:r>
          </a:p>
          <a:p>
            <a:pPr algn="ctr">
              <a:spcAft>
                <a:spcPts val="300"/>
              </a:spcAft>
            </a:pPr>
            <a:r>
              <a:rPr lang="en-US" sz="900" b="0" i="0" dirty="0">
                <a:solidFill>
                  <a:srgbClr val="FFFFFF"/>
                </a:solidFill>
                <a:latin typeface="Calibri"/>
                <a:ea typeface="Calibri"/>
                <a:cs typeface="Calibri"/>
              </a:rPr>
              <a:t>(if applicable)</a:t>
            </a:r>
          </a:p>
        </p:txBody>
      </p:sp>
      <p:sp>
        <p:nvSpPr>
          <p:cNvPr id="120" name="solnote"/>
          <p:cNvSpPr txBox="1"/>
          <p:nvPr/>
        </p:nvSpPr>
        <p:spPr>
          <a:xfrm>
            <a:off x="480000" y="5870000"/>
            <a:ext cx="8940000" cy="400000"/>
          </a:xfrm>
          <a:prstGeom prst="rect">
            <a:avLst/>
          </a:prstGeom>
          <a:noFill/>
          <a:ln>
            <a:noFill/>
          </a:ln>
        </p:spPr>
        <p:txBody>
          <a:bodyPr wrap="square" lIns="0" tIns="0" rIns="0" bIns="0" anchor="t">
            <a:noAutofit/>
          </a:bodyPr>
          <a:lstStyle/>
          <a:p>
            <a:pPr algn="ctr"/>
            <a:r>
              <a:rPr lang="en-US" sz="1000" b="0" i="1" dirty="0">
                <a:solidFill>
                  <a:srgbClr val="6B7280"/>
                </a:solidFill>
                <a:latin typeface="Calibri"/>
                <a:ea typeface="Calibri"/>
                <a:cs typeface="Calibri"/>
              </a:rPr>
              <a:t>Segmentation is skipped entirely for the “no tumor” class.</a:t>
            </a:r>
          </a:p>
        </p:txBody>
      </p:sp>
    </p:spTree>
    <p:extLst>
      <p:ext uri="{BB962C8B-B14F-4D97-AF65-F5344CB8AC3E}">
        <p14:creationId xmlns:p14="http://schemas.microsoft.com/office/powerpoint/2010/main" val="4080462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The BRISC2025 Dataset</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1.4</a:t>
            </a:r>
            <a:endParaRPr lang="ko-KR" altLang="en-US" dirty="0"/>
          </a:p>
        </p:txBody>
      </p:sp>
      <p:sp>
        <p:nvSpPr>
          <p:cNvPr id="4" name="Crumb Text"/>
          <p:cNvSpPr>
            <a:spLocks noGrp="1"/>
          </p:cNvSpPr>
          <p:nvPr>
            <p:ph type="body" sz="quarter" idx="11"/>
          </p:nvPr>
        </p:nvSpPr>
        <p:spPr/>
        <p:txBody>
          <a:bodyPr/>
          <a:lstStyle/>
          <a:p>
            <a:r>
              <a:rPr lang="en-US" altLang="ko-KR" dirty="0"/>
              <a:t>Foundations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04</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BRISC2025 (Kaggle): one source providing both class labels and pixel-level segmentation masks.</a:t>
            </a:r>
          </a:p>
          <a:p>
            <a:r>
              <a:rPr lang="en-US" altLang="ko-KR" dirty="0"/>
              <a:t>Current scope: T1-weighted axial 2D MRI images (coronal / sagittal reserved for future work).</a:t>
            </a:r>
          </a:p>
          <a:p>
            <a:r>
              <a:rPr lang="en-US" altLang="ko-KR" dirty="0"/>
              <a:t>Classification set: 6,000 images (5,000 train / 1,000 test). Segmentation set: 4,793 tumor images (3,933 train / 860 test), each with one mask.</a:t>
            </a:r>
          </a:p>
        </p:txBody>
      </p:sp>
      <p:sp>
        <p:nvSpPr>
          <p:cNvPr id="121" name="dsetcard_bg0"/>
          <p:cNvSpPr/>
          <p:nvPr/>
        </p:nvSpPr>
        <p:spPr>
          <a:xfrm>
            <a:off x="480000" y="3970000"/>
            <a:ext cx="2100000" cy="16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22" name="dsetcard_hdr0"/>
          <p:cNvSpPr txBox="1"/>
          <p:nvPr/>
        </p:nvSpPr>
        <p:spPr>
          <a:xfrm>
            <a:off x="648000" y="4102000"/>
            <a:ext cx="1764000" cy="462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Glioma</a:t>
            </a:r>
          </a:p>
        </p:txBody>
      </p:sp>
      <p:sp>
        <p:nvSpPr>
          <p:cNvPr id="123" name="dsetcard_sub0"/>
          <p:cNvSpPr txBox="1"/>
          <p:nvPr/>
        </p:nvSpPr>
        <p:spPr>
          <a:xfrm>
            <a:off x="64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222222"/>
                </a:solidFill>
                <a:latin typeface="Calibri"/>
                <a:ea typeface="Calibri"/>
                <a:cs typeface="Calibri"/>
              </a:rPr>
              <a:t>1,147 train</a:t>
            </a:r>
          </a:p>
          <a:p>
            <a:pPr algn="ctr">
              <a:spcAft>
                <a:spcPts val="300"/>
              </a:spcAft>
            </a:pPr>
            <a:r>
              <a:rPr lang="en-US" sz="1000" b="0" i="0" dirty="0">
                <a:solidFill>
                  <a:srgbClr val="6B7280"/>
                </a:solidFill>
                <a:latin typeface="Calibri"/>
                <a:ea typeface="Calibri"/>
                <a:cs typeface="Calibri"/>
              </a:rPr>
              <a:t>254 test</a:t>
            </a:r>
          </a:p>
        </p:txBody>
      </p:sp>
      <p:sp>
        <p:nvSpPr>
          <p:cNvPr id="124" name="dsetcard_bg1"/>
          <p:cNvSpPr/>
          <p:nvPr/>
        </p:nvSpPr>
        <p:spPr>
          <a:xfrm>
            <a:off x="2760000" y="3970000"/>
            <a:ext cx="2100000" cy="16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25" name="dsetcard_hdr1"/>
          <p:cNvSpPr txBox="1"/>
          <p:nvPr/>
        </p:nvSpPr>
        <p:spPr>
          <a:xfrm>
            <a:off x="2928000" y="4102000"/>
            <a:ext cx="1764000" cy="462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Meningioma</a:t>
            </a:r>
          </a:p>
        </p:txBody>
      </p:sp>
      <p:sp>
        <p:nvSpPr>
          <p:cNvPr id="126" name="dsetcard_sub1"/>
          <p:cNvSpPr txBox="1"/>
          <p:nvPr/>
        </p:nvSpPr>
        <p:spPr>
          <a:xfrm>
            <a:off x="292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222222"/>
                </a:solidFill>
                <a:latin typeface="Calibri"/>
                <a:ea typeface="Calibri"/>
                <a:cs typeface="Calibri"/>
              </a:rPr>
              <a:t>1,329 train</a:t>
            </a:r>
          </a:p>
          <a:p>
            <a:pPr algn="ctr">
              <a:spcAft>
                <a:spcPts val="300"/>
              </a:spcAft>
            </a:pPr>
            <a:r>
              <a:rPr lang="en-US" sz="1000" b="0" i="0" dirty="0">
                <a:solidFill>
                  <a:srgbClr val="6B7280"/>
                </a:solidFill>
                <a:latin typeface="Calibri"/>
                <a:ea typeface="Calibri"/>
                <a:cs typeface="Calibri"/>
              </a:rPr>
              <a:t>306 test</a:t>
            </a:r>
          </a:p>
        </p:txBody>
      </p:sp>
      <p:sp>
        <p:nvSpPr>
          <p:cNvPr id="127" name="dsetcard_bg2"/>
          <p:cNvSpPr/>
          <p:nvPr/>
        </p:nvSpPr>
        <p:spPr>
          <a:xfrm>
            <a:off x="5040000" y="3970000"/>
            <a:ext cx="2100000" cy="16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28" name="dsetcard_hdr2"/>
          <p:cNvSpPr txBox="1"/>
          <p:nvPr/>
        </p:nvSpPr>
        <p:spPr>
          <a:xfrm>
            <a:off x="5208000" y="4102000"/>
            <a:ext cx="1764000" cy="462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Pituitary</a:t>
            </a:r>
          </a:p>
        </p:txBody>
      </p:sp>
      <p:sp>
        <p:nvSpPr>
          <p:cNvPr id="129" name="dsetcard_sub2"/>
          <p:cNvSpPr txBox="1"/>
          <p:nvPr/>
        </p:nvSpPr>
        <p:spPr>
          <a:xfrm>
            <a:off x="520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222222"/>
                </a:solidFill>
                <a:latin typeface="Calibri"/>
                <a:ea typeface="Calibri"/>
                <a:cs typeface="Calibri"/>
              </a:rPr>
              <a:t>1,457 train</a:t>
            </a:r>
          </a:p>
          <a:p>
            <a:pPr algn="ctr">
              <a:spcAft>
                <a:spcPts val="300"/>
              </a:spcAft>
            </a:pPr>
            <a:r>
              <a:rPr lang="en-US" sz="1000" b="0" i="0" dirty="0">
                <a:solidFill>
                  <a:srgbClr val="6B7280"/>
                </a:solidFill>
                <a:latin typeface="Calibri"/>
                <a:ea typeface="Calibri"/>
                <a:cs typeface="Calibri"/>
              </a:rPr>
              <a:t>300 test</a:t>
            </a:r>
          </a:p>
        </p:txBody>
      </p:sp>
      <p:sp>
        <p:nvSpPr>
          <p:cNvPr id="130" name="dsetcard_bg3"/>
          <p:cNvSpPr/>
          <p:nvPr/>
        </p:nvSpPr>
        <p:spPr>
          <a:xfrm>
            <a:off x="7320000" y="3970000"/>
            <a:ext cx="2100000" cy="16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31" name="dsetcard_hdr3"/>
          <p:cNvSpPr txBox="1"/>
          <p:nvPr/>
        </p:nvSpPr>
        <p:spPr>
          <a:xfrm>
            <a:off x="7488000" y="4102000"/>
            <a:ext cx="1764000" cy="462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No Tumor</a:t>
            </a:r>
          </a:p>
        </p:txBody>
      </p:sp>
      <p:sp>
        <p:nvSpPr>
          <p:cNvPr id="132" name="dsetcard_sub3"/>
          <p:cNvSpPr txBox="1"/>
          <p:nvPr/>
        </p:nvSpPr>
        <p:spPr>
          <a:xfrm>
            <a:off x="748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222222"/>
                </a:solidFill>
                <a:latin typeface="Calibri"/>
                <a:ea typeface="Calibri"/>
                <a:cs typeface="Calibri"/>
              </a:rPr>
              <a:t>1,067 train</a:t>
            </a:r>
          </a:p>
          <a:p>
            <a:pPr algn="ctr">
              <a:spcAft>
                <a:spcPts val="300"/>
              </a:spcAft>
            </a:pPr>
            <a:r>
              <a:rPr lang="en-US" sz="1000" b="0" i="0" dirty="0">
                <a:solidFill>
                  <a:srgbClr val="6B7280"/>
                </a:solidFill>
                <a:latin typeface="Calibri"/>
                <a:ea typeface="Calibri"/>
                <a:cs typeface="Calibri"/>
              </a:rPr>
              <a:t>140 test</a:t>
            </a:r>
          </a:p>
        </p:txBody>
      </p:sp>
      <p:sp>
        <p:nvSpPr>
          <p:cNvPr id="133" name="dsetnote"/>
          <p:cNvSpPr txBox="1"/>
          <p:nvPr/>
        </p:nvSpPr>
        <p:spPr>
          <a:xfrm>
            <a:off x="480000" y="5770000"/>
            <a:ext cx="8940000" cy="400000"/>
          </a:xfrm>
          <a:prstGeom prst="rect">
            <a:avLst/>
          </a:prstGeom>
          <a:noFill/>
          <a:ln>
            <a:noFill/>
          </a:ln>
        </p:spPr>
        <p:txBody>
          <a:bodyPr wrap="square" lIns="0" tIns="0" rIns="0" bIns="0" anchor="t">
            <a:noAutofit/>
          </a:bodyPr>
          <a:lstStyle/>
          <a:p>
            <a:pPr algn="ctr"/>
            <a:r>
              <a:rPr lang="en-US" sz="1000" b="0" i="1" dirty="0">
                <a:solidFill>
                  <a:srgbClr val="6B7280"/>
                </a:solidFill>
                <a:latin typeface="Calibri"/>
                <a:ea typeface="Calibri"/>
                <a:cs typeface="Calibri"/>
              </a:rPr>
              <a:t>Classification image counts shown; tumor classes also carry a matched segmentation mask.</a:t>
            </a:r>
          </a:p>
        </p:txBody>
      </p:sp>
    </p:spTree>
    <p:extLst>
      <p:ext uri="{BB962C8B-B14F-4D97-AF65-F5344CB8AC3E}">
        <p14:creationId xmlns:p14="http://schemas.microsoft.com/office/powerpoint/2010/main" val="408046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Data Preparation &amp; Preprocessing</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2.1</a:t>
            </a:r>
            <a:endParaRPr lang="ko-KR" altLang="en-US" dirty="0"/>
          </a:p>
        </p:txBody>
      </p:sp>
      <p:sp>
        <p:nvSpPr>
          <p:cNvPr id="4" name="Crumb Text"/>
          <p:cNvSpPr>
            <a:spLocks noGrp="1"/>
          </p:cNvSpPr>
          <p:nvPr>
            <p:ph type="body" sz="quarter" idx="11"/>
          </p:nvPr>
        </p:nvSpPr>
        <p:spPr/>
        <p:txBody>
          <a:bodyPr/>
          <a:lstStyle/>
          <a:p>
            <a:r>
              <a:rPr lang="en-US" altLang="ko-KR" dirty="0"/>
              <a:t>Method &amp; Models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05</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All data is loaded from a single manifest (path, class, plane, split, mask link) for consistency.</a:t>
            </a:r>
          </a:p>
          <a:p>
            <a:r>
              <a:rPr lang="en-US" altLang="ko-KR" dirty="0"/>
              <a:t>Images are padded to a square before resizing, to preserve anatomical proportions.</a:t>
            </a:r>
          </a:p>
          <a:p>
            <a:r>
              <a:rPr lang="en-US" altLang="ko-KR" dirty="0"/>
              <a:t>Classification inputs: 224×224 px. Segmentation inputs: 256×256 px. Pixels are normalized to the pretrained backbone's expected scale.</a:t>
            </a:r>
          </a:p>
        </p:txBody>
      </p:sp>
      <p:sp>
        <p:nvSpPr>
          <p:cNvPr id="134" name="preppipe_box0"/>
          <p:cNvSpPr/>
          <p:nvPr/>
        </p:nvSpPr>
        <p:spPr>
          <a:xfrm>
            <a:off x="4800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35" name="preppipe_txt0"/>
          <p:cNvSpPr txBox="1"/>
          <p:nvPr/>
        </p:nvSpPr>
        <p:spPr>
          <a:xfrm>
            <a:off x="5765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Partition</a:t>
            </a:r>
          </a:p>
          <a:p>
            <a:pPr algn="ctr">
              <a:spcAft>
                <a:spcPts val="300"/>
              </a:spcAft>
            </a:pPr>
            <a:r>
              <a:rPr lang="en-US" sz="900" b="0" i="0" dirty="0">
                <a:solidFill>
                  <a:srgbClr val="FFFFFF"/>
                </a:solidFill>
                <a:latin typeface="Calibri"/>
                <a:ea typeface="Calibri"/>
                <a:cs typeface="Calibri"/>
              </a:rPr>
              <a:t>(stratified split)</a:t>
            </a:r>
          </a:p>
        </p:txBody>
      </p:sp>
      <p:sp>
        <p:nvSpPr>
          <p:cNvPr id="136" name="preppipe_arrow0"/>
          <p:cNvSpPr/>
          <p:nvPr/>
        </p:nvSpPr>
        <p:spPr>
          <a:xfrm>
            <a:off x="20892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37" name="preppipe_box1"/>
          <p:cNvSpPr/>
          <p:nvPr/>
        </p:nvSpPr>
        <p:spPr>
          <a:xfrm>
            <a:off x="29236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38" name="preppipe_txt1"/>
          <p:cNvSpPr txBox="1"/>
          <p:nvPr/>
        </p:nvSpPr>
        <p:spPr>
          <a:xfrm>
            <a:off x="30201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Pad &amp;</a:t>
            </a:r>
          </a:p>
          <a:p>
            <a:pPr algn="ctr">
              <a:spcAft>
                <a:spcPts val="300"/>
              </a:spcAft>
            </a:pPr>
            <a:r>
              <a:rPr lang="en-US" sz="1200" b="1" i="0" dirty="0">
                <a:solidFill>
                  <a:srgbClr val="FFFFFF"/>
                </a:solidFill>
                <a:latin typeface="Calibri"/>
                <a:ea typeface="Calibri"/>
                <a:cs typeface="Calibri"/>
              </a:rPr>
              <a:t>Resize</a:t>
            </a:r>
          </a:p>
        </p:txBody>
      </p:sp>
      <p:sp>
        <p:nvSpPr>
          <p:cNvPr id="139" name="preppipe_arrow1"/>
          <p:cNvSpPr/>
          <p:nvPr/>
        </p:nvSpPr>
        <p:spPr>
          <a:xfrm>
            <a:off x="45328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40" name="preppipe_box2"/>
          <p:cNvSpPr/>
          <p:nvPr/>
        </p:nvSpPr>
        <p:spPr>
          <a:xfrm>
            <a:off x="53672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1" name="preppipe_txt2"/>
          <p:cNvSpPr txBox="1"/>
          <p:nvPr/>
        </p:nvSpPr>
        <p:spPr>
          <a:xfrm>
            <a:off x="54637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Normalize</a:t>
            </a:r>
          </a:p>
          <a:p>
            <a:pPr algn="ctr">
              <a:spcAft>
                <a:spcPts val="300"/>
              </a:spcAft>
            </a:pPr>
            <a:r>
              <a:rPr lang="en-US" sz="900" b="0" i="0" dirty="0">
                <a:solidFill>
                  <a:srgbClr val="FFFFFF"/>
                </a:solidFill>
                <a:latin typeface="Calibri"/>
                <a:ea typeface="Calibri"/>
                <a:cs typeface="Calibri"/>
              </a:rPr>
              <a:t>(backbone stats)</a:t>
            </a:r>
          </a:p>
        </p:txBody>
      </p:sp>
      <p:sp>
        <p:nvSpPr>
          <p:cNvPr id="142" name="preppipe_arrow2"/>
          <p:cNvSpPr/>
          <p:nvPr/>
        </p:nvSpPr>
        <p:spPr>
          <a:xfrm>
            <a:off x="69764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43" name="preppipe_box3"/>
          <p:cNvSpPr/>
          <p:nvPr/>
        </p:nvSpPr>
        <p:spPr>
          <a:xfrm>
            <a:off x="7810800" y="4320000"/>
            <a:ext cx="1609200" cy="1300000"/>
          </a:xfrm>
          <a:prstGeom prst="roundRect">
            <a:avLst>
              <a:gd name="adj" fmla="val 8000"/>
            </a:avLst>
          </a:prstGeom>
          <a:solidFill>
            <a:srgbClr val="13307F"/>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4" name="preppipe_txt3"/>
          <p:cNvSpPr txBox="1"/>
          <p:nvPr/>
        </p:nvSpPr>
        <p:spPr>
          <a:xfrm>
            <a:off x="79073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Augment</a:t>
            </a:r>
          </a:p>
          <a:p>
            <a:pPr algn="ctr">
              <a:spcAft>
                <a:spcPts val="300"/>
              </a:spcAft>
            </a:pPr>
            <a:r>
              <a:rPr lang="en-US" sz="900" b="0" i="0" dirty="0">
                <a:solidFill>
                  <a:srgbClr val="FFFFFF"/>
                </a:solidFill>
                <a:latin typeface="Calibri"/>
                <a:ea typeface="Calibri"/>
                <a:cs typeface="Calibri"/>
              </a:rPr>
              <a:t>(train only)</a:t>
            </a:r>
          </a:p>
        </p:txBody>
      </p:sp>
      <p:sp>
        <p:nvSpPr>
          <p:cNvPr id="145" name="prepnote"/>
          <p:cNvSpPr txBox="1"/>
          <p:nvPr/>
        </p:nvSpPr>
        <p:spPr>
          <a:xfrm>
            <a:off x="480000" y="5870000"/>
            <a:ext cx="8940000" cy="400000"/>
          </a:xfrm>
          <a:prstGeom prst="rect">
            <a:avLst/>
          </a:prstGeom>
          <a:noFill/>
          <a:ln>
            <a:noFill/>
          </a:ln>
        </p:spPr>
        <p:txBody>
          <a:bodyPr wrap="square" lIns="0" tIns="0" rIns="0" bIns="0" anchor="t">
            <a:noAutofit/>
          </a:bodyPr>
          <a:lstStyle/>
          <a:p>
            <a:pPr algn="ctr"/>
            <a:r>
              <a:rPr lang="en-US" sz="1000" b="0" i="1" dirty="0">
                <a:solidFill>
                  <a:srgbClr val="6B7280"/>
                </a:solidFill>
                <a:latin typeface="Calibri"/>
                <a:ea typeface="Calibri"/>
                <a:cs typeface="Calibri"/>
              </a:rPr>
              <a:t>Augmentation (flips, limited rotation, brightness/contrast, elastic deformation) applied identically to images and masks via Albumentations.</a:t>
            </a:r>
          </a:p>
        </p:txBody>
      </p:sp>
    </p:spTree>
    <p:extLst>
      <p:ext uri="{BB962C8B-B14F-4D97-AF65-F5344CB8AC3E}">
        <p14:creationId xmlns:p14="http://schemas.microsoft.com/office/powerpoint/2010/main" val="408046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AI Models: Classification &amp; Segmentation</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2.2</a:t>
            </a:r>
            <a:endParaRPr lang="ko-KR" altLang="en-US" dirty="0"/>
          </a:p>
        </p:txBody>
      </p:sp>
      <p:sp>
        <p:nvSpPr>
          <p:cNvPr id="4" name="Crumb Text"/>
          <p:cNvSpPr>
            <a:spLocks noGrp="1"/>
          </p:cNvSpPr>
          <p:nvPr>
            <p:ph type="body" sz="quarter" idx="11"/>
          </p:nvPr>
        </p:nvSpPr>
        <p:spPr/>
        <p:txBody>
          <a:bodyPr/>
          <a:lstStyle/>
          <a:p>
            <a:r>
              <a:rPr lang="en-US" altLang="ko-KR" dirty="0"/>
              <a:t>Method &amp; Models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06</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Our two specialized models are each fine-tuned in two phases: freeze the pretrained backbone, then fine-tune end-to-end at a lower learning rate.</a:t>
            </a:r>
          </a:p>
        </p:txBody>
      </p:sp>
      <p:sp>
        <p:nvSpPr>
          <p:cNvPr id="146" name="modelcard_bg0"/>
          <p:cNvSpPr/>
          <p:nvPr/>
        </p:nvSpPr>
        <p:spPr>
          <a:xfrm>
            <a:off x="480000" y="3320000"/>
            <a:ext cx="4295000" cy="230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7" name="modelcard_hdr0"/>
          <p:cNvSpPr txBox="1"/>
          <p:nvPr/>
        </p:nvSpPr>
        <p:spPr>
          <a:xfrm>
            <a:off x="823600" y="3504000"/>
            <a:ext cx="3607800" cy="644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Classification EfficientNet-B0</a:t>
            </a:r>
          </a:p>
        </p:txBody>
      </p:sp>
      <p:sp>
        <p:nvSpPr>
          <p:cNvPr id="148" name="modelcard_sub0"/>
          <p:cNvSpPr txBox="1"/>
          <p:nvPr/>
        </p:nvSpPr>
        <p:spPr>
          <a:xfrm>
            <a:off x="823600" y="4102000"/>
            <a:ext cx="3607800" cy="1472000"/>
          </a:xfrm>
          <a:prstGeom prst="rect">
            <a:avLst/>
          </a:prstGeom>
          <a:noFill/>
          <a:ln>
            <a:noFill/>
          </a:ln>
        </p:spPr>
        <p:txBody>
          <a:bodyPr wrap="square" lIns="0" tIns="0" rIns="0" bIns="0" anchor="t">
            <a:noAutofit/>
          </a:bodyPr>
          <a:lstStyle/>
          <a:p>
            <a:pPr algn="ctr">
              <a:spcAft>
                <a:spcPts val="300"/>
              </a:spcAft>
            </a:pPr>
            <a:r>
              <a:rPr lang="en-US" sz="1100" b="0" i="0" dirty="0">
                <a:solidFill>
                  <a:srgbClr val="222222"/>
                </a:solidFill>
                <a:latin typeface="Calibri"/>
                <a:ea typeface="Calibri"/>
                <a:cs typeface="Calibri"/>
              </a:rPr>
              <a:t>Transfer learning, 4-class output</a:t>
            </a:r>
          </a:p>
          <a:p>
            <a:pPr algn="ctr">
              <a:spcAft>
                <a:spcPts val="300"/>
              </a:spcAft>
            </a:pPr>
            <a:r>
              <a:rPr lang="en-US" sz="1100" b="0" i="0" dirty="0">
                <a:solidFill>
                  <a:srgbClr val="222222"/>
                </a:solidFill>
                <a:latin typeface="Calibri"/>
                <a:ea typeface="Calibri"/>
                <a:cs typeface="Calibri"/>
              </a:rPr>
              <a:t>Loss: cross-entropy (class-weighted)</a:t>
            </a:r>
          </a:p>
          <a:p>
            <a:pPr algn="ctr">
              <a:spcAft>
                <a:spcPts val="300"/>
              </a:spcAft>
            </a:pPr>
            <a:r>
              <a:rPr lang="en-US" sz="1100" b="0" i="0" dirty="0">
                <a:solidFill>
                  <a:srgbClr val="222222"/>
                </a:solidFill>
                <a:latin typeface="Calibri"/>
                <a:ea typeface="Calibri"/>
                <a:cs typeface="Calibri"/>
              </a:rPr>
              <a:t>Selection: validation macro-F1</a:t>
            </a:r>
          </a:p>
        </p:txBody>
      </p:sp>
      <p:sp>
        <p:nvSpPr>
          <p:cNvPr id="149" name="modelcard_bg1"/>
          <p:cNvSpPr/>
          <p:nvPr/>
        </p:nvSpPr>
        <p:spPr>
          <a:xfrm>
            <a:off x="5125000" y="3320000"/>
            <a:ext cx="4295000" cy="230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50" name="modelcard_hdr1"/>
          <p:cNvSpPr txBox="1"/>
          <p:nvPr/>
        </p:nvSpPr>
        <p:spPr>
          <a:xfrm>
            <a:off x="5468600" y="3504000"/>
            <a:ext cx="3607800" cy="644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Segmentation  U-Net + ResNet34</a:t>
            </a:r>
          </a:p>
        </p:txBody>
      </p:sp>
      <p:sp>
        <p:nvSpPr>
          <p:cNvPr id="151" name="modelcard_sub1"/>
          <p:cNvSpPr txBox="1"/>
          <p:nvPr/>
        </p:nvSpPr>
        <p:spPr>
          <a:xfrm>
            <a:off x="5468600" y="4102000"/>
            <a:ext cx="3607800" cy="1472000"/>
          </a:xfrm>
          <a:prstGeom prst="rect">
            <a:avLst/>
          </a:prstGeom>
          <a:noFill/>
          <a:ln>
            <a:noFill/>
          </a:ln>
        </p:spPr>
        <p:txBody>
          <a:bodyPr wrap="square" lIns="0" tIns="0" rIns="0" bIns="0" anchor="t">
            <a:noAutofit/>
          </a:bodyPr>
          <a:lstStyle/>
          <a:p>
            <a:pPr algn="ctr">
              <a:spcAft>
                <a:spcPts val="300"/>
              </a:spcAft>
            </a:pPr>
            <a:r>
              <a:rPr lang="en-US" sz="1100" b="0" i="0" dirty="0">
                <a:solidFill>
                  <a:srgbClr val="222222"/>
                </a:solidFill>
                <a:latin typeface="Calibri"/>
                <a:ea typeface="Calibri"/>
                <a:cs typeface="Calibri"/>
              </a:rPr>
              <a:t>Encoder-decoder with skip connections</a:t>
            </a:r>
          </a:p>
          <a:p>
            <a:pPr algn="ctr">
              <a:spcAft>
                <a:spcPts val="300"/>
              </a:spcAft>
            </a:pPr>
            <a:r>
              <a:rPr lang="en-US" sz="1100" b="0" i="0" dirty="0">
                <a:solidFill>
                  <a:srgbClr val="222222"/>
                </a:solidFill>
                <a:latin typeface="Calibri"/>
                <a:ea typeface="Calibri"/>
                <a:cs typeface="Calibri"/>
              </a:rPr>
              <a:t>Loss: Dice + Focal loss</a:t>
            </a:r>
          </a:p>
          <a:p>
            <a:pPr algn="ctr">
              <a:spcAft>
                <a:spcPts val="300"/>
              </a:spcAft>
            </a:pPr>
            <a:r>
              <a:rPr lang="en-US" sz="1100" b="0" i="0" dirty="0">
                <a:solidFill>
                  <a:srgbClr val="222222"/>
                </a:solidFill>
                <a:latin typeface="Calibri"/>
                <a:ea typeface="Calibri"/>
                <a:cs typeface="Calibri"/>
              </a:rPr>
              <a:t>Selection: validation Dice Coefficient</a:t>
            </a:r>
          </a:p>
        </p:txBody>
      </p:sp>
    </p:spTree>
    <p:extLst>
      <p:ext uri="{BB962C8B-B14F-4D97-AF65-F5344CB8AC3E}">
        <p14:creationId xmlns:p14="http://schemas.microsoft.com/office/powerpoint/2010/main" val="4080462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System Workflow &amp; Architecture</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2.3</a:t>
            </a:r>
            <a:endParaRPr lang="ko-KR" altLang="en-US" dirty="0"/>
          </a:p>
        </p:txBody>
      </p:sp>
      <p:sp>
        <p:nvSpPr>
          <p:cNvPr id="4" name="Crumb Text"/>
          <p:cNvSpPr>
            <a:spLocks noGrp="1"/>
          </p:cNvSpPr>
          <p:nvPr>
            <p:ph type="body" sz="quarter" idx="11"/>
          </p:nvPr>
        </p:nvSpPr>
        <p:spPr/>
        <p:txBody>
          <a:bodyPr/>
          <a:lstStyle/>
          <a:p>
            <a:r>
              <a:rPr lang="en-US" altLang="ko-KR" dirty="0"/>
              <a:t>Method &amp; Models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07</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Our two models will be combined into a single cascaded inference pipeline.</a:t>
            </a:r>
          </a:p>
          <a:p>
            <a:r>
              <a:rPr lang="en-US" altLang="ko-KR" dirty="0"/>
              <a:t>The interface will return a class prediction and, for tumor cases, a mask overlay via Gradio.</a:t>
            </a:r>
          </a:p>
        </p:txBody>
      </p:sp>
      <p:sp>
        <p:nvSpPr>
          <p:cNvPr id="152" name="wf_input"/>
          <p:cNvSpPr/>
          <p:nvPr/>
        </p:nvSpPr>
        <p:spPr>
          <a:xfrm>
            <a:off x="480000" y="3150000"/>
            <a:ext cx="1750000" cy="56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53" name="text"/>
          <p:cNvSpPr txBox="1"/>
          <p:nvPr/>
        </p:nvSpPr>
        <p:spPr>
          <a:xfrm>
            <a:off x="480000" y="3150000"/>
            <a:ext cx="1750000" cy="56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MRI Input</a:t>
            </a:r>
          </a:p>
        </p:txBody>
      </p:sp>
      <p:sp>
        <p:nvSpPr>
          <p:cNvPr id="154" name="arrow"/>
          <p:cNvSpPr/>
          <p:nvPr/>
        </p:nvSpPr>
        <p:spPr>
          <a:xfrm>
            <a:off x="2230000" y="3360000"/>
            <a:ext cx="320000" cy="140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55" name="wf_clf"/>
          <p:cNvSpPr/>
          <p:nvPr/>
        </p:nvSpPr>
        <p:spPr>
          <a:xfrm>
            <a:off x="2550000" y="3150000"/>
            <a:ext cx="2500000" cy="56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56" name="text"/>
          <p:cNvSpPr txBox="1"/>
          <p:nvPr/>
        </p:nvSpPr>
        <p:spPr>
          <a:xfrm>
            <a:off x="2550000" y="3150000"/>
            <a:ext cx="2500000" cy="56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FFFFF"/>
                </a:solidFill>
                <a:latin typeface="Calibri"/>
                <a:ea typeface="Calibri"/>
                <a:cs typeface="Calibri"/>
              </a:rPr>
              <a:t>EfficientNet-B0 Classification</a:t>
            </a:r>
          </a:p>
        </p:txBody>
      </p:sp>
      <p:sp>
        <p:nvSpPr>
          <p:cNvPr id="157" name="arrow"/>
          <p:cNvSpPr/>
          <p:nvPr/>
        </p:nvSpPr>
        <p:spPr>
          <a:xfrm>
            <a:off x="5050000" y="3360000"/>
            <a:ext cx="320000" cy="140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58" name="wf_branch"/>
          <p:cNvSpPr/>
          <p:nvPr/>
        </p:nvSpPr>
        <p:spPr>
          <a:xfrm>
            <a:off x="5370000" y="3150000"/>
            <a:ext cx="1450000" cy="560000"/>
          </a:xfrm>
          <a:prstGeom prst="roundRect">
            <a:avLst>
              <a:gd name="adj" fmla="val 8000"/>
            </a:avLst>
          </a:prstGeom>
          <a:solidFill>
            <a:srgbClr val="13307F"/>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59" name="text"/>
          <p:cNvSpPr txBox="1"/>
          <p:nvPr/>
        </p:nvSpPr>
        <p:spPr>
          <a:xfrm>
            <a:off x="5370000" y="3150000"/>
            <a:ext cx="1450000" cy="56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FFFFF"/>
                </a:solidFill>
                <a:latin typeface="Calibri"/>
                <a:ea typeface="Calibri"/>
                <a:cs typeface="Calibri"/>
              </a:rPr>
              <a:t>Tumor?</a:t>
            </a:r>
          </a:p>
        </p:txBody>
      </p:sp>
      <p:cxnSp>
        <p:nvCxnSpPr>
          <p:cNvPr id="160" name="wf_lineno"/>
          <p:cNvCxnSpPr/>
          <p:nvPr/>
        </p:nvCxnSpPr>
        <p:spPr>
          <a:xfrm flipH="1">
            <a:off x="4845000" y="3710000"/>
            <a:ext cx="1100000" cy="430000"/>
          </a:xfrm>
          <a:prstGeom prst="line">
            <a:avLst/>
          </a:prstGeom>
          <a:ln w="12700">
            <a:solidFill>
              <a:srgbClr val="6B7280"/>
            </a:solidFill>
            <a:tailEnd type="arrow"/>
          </a:ln>
        </p:spPr>
        <p:style>
          <a:lnRef idx="1">
            <a:schemeClr val="accent1"/>
          </a:lnRef>
          <a:fillRef idx="0">
            <a:schemeClr val="accent1"/>
          </a:fillRef>
          <a:effectRef idx="0">
            <a:schemeClr val="accent1"/>
          </a:effectRef>
          <a:fontRef idx="minor">
            <a:schemeClr val="tx1"/>
          </a:fontRef>
        </p:style>
      </p:cxnSp>
      <p:sp>
        <p:nvSpPr>
          <p:cNvPr id="161" name="text"/>
          <p:cNvSpPr txBox="1"/>
          <p:nvPr/>
        </p:nvSpPr>
        <p:spPr>
          <a:xfrm>
            <a:off x="4345000" y="3750000"/>
            <a:ext cx="500000" cy="240000"/>
          </a:xfrm>
          <a:prstGeom prst="rect">
            <a:avLst/>
          </a:prstGeom>
          <a:noFill/>
          <a:ln>
            <a:noFill/>
          </a:ln>
        </p:spPr>
        <p:txBody>
          <a:bodyPr wrap="square" lIns="0" tIns="0" rIns="0" bIns="0" anchor="t">
            <a:noAutofit/>
          </a:bodyPr>
          <a:lstStyle/>
          <a:p>
            <a:pPr algn="r"/>
            <a:r>
              <a:rPr lang="en-US" sz="1000" b="1" i="0" dirty="0">
                <a:solidFill>
                  <a:srgbClr val="6B7280"/>
                </a:solidFill>
                <a:latin typeface="Calibri"/>
                <a:ea typeface="Calibri"/>
                <a:cs typeface="Calibri"/>
              </a:rPr>
              <a:t>No</a:t>
            </a:r>
          </a:p>
        </p:txBody>
      </p:sp>
      <p:sp>
        <p:nvSpPr>
          <p:cNvPr id="162" name="wf_nobox"/>
          <p:cNvSpPr/>
          <p:nvPr/>
        </p:nvSpPr>
        <p:spPr>
          <a:xfrm>
            <a:off x="4070000" y="4140000"/>
            <a:ext cx="1550000" cy="560000"/>
          </a:xfrm>
          <a:prstGeom prst="roundRect">
            <a:avLst>
              <a:gd name="adj" fmla="val 8000"/>
            </a:avLst>
          </a:prstGeom>
          <a:solidFill>
            <a:srgbClr val="F3F4F6"/>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63" name="text"/>
          <p:cNvSpPr txBox="1"/>
          <p:nvPr/>
        </p:nvSpPr>
        <p:spPr>
          <a:xfrm>
            <a:off x="4070000" y="4140000"/>
            <a:ext cx="1550000" cy="560000"/>
          </a:xfrm>
          <a:prstGeom prst="rect">
            <a:avLst/>
          </a:prstGeom>
          <a:noFill/>
          <a:ln>
            <a:noFill/>
          </a:ln>
        </p:spPr>
        <p:txBody>
          <a:bodyPr wrap="square" lIns="0" tIns="0" rIns="0" bIns="0" anchor="ctr">
            <a:noAutofit/>
          </a:bodyPr>
          <a:lstStyle/>
          <a:p>
            <a:pPr algn="ctr">
              <a:spcAft>
                <a:spcPts val="300"/>
              </a:spcAft>
            </a:pPr>
            <a:r>
              <a:rPr lang="en-US" sz="1000" b="1" i="0" dirty="0">
                <a:solidFill>
                  <a:srgbClr val="222222"/>
                </a:solidFill>
                <a:latin typeface="Calibri"/>
                <a:ea typeface="Calibri"/>
                <a:cs typeface="Calibri"/>
              </a:rPr>
              <a:t>Final Classification</a:t>
            </a:r>
          </a:p>
          <a:p>
            <a:pPr algn="ctr">
              <a:spcAft>
                <a:spcPts val="300"/>
              </a:spcAft>
            </a:pPr>
            <a:r>
              <a:rPr lang="en-US" sz="900" b="0" i="0" dirty="0">
                <a:solidFill>
                  <a:srgbClr val="6B7280"/>
                </a:solidFill>
                <a:latin typeface="Calibri"/>
                <a:ea typeface="Calibri"/>
                <a:cs typeface="Calibri"/>
              </a:rPr>
              <a:t>(no tumor)</a:t>
            </a:r>
          </a:p>
        </p:txBody>
      </p:sp>
      <p:cxnSp>
        <p:nvCxnSpPr>
          <p:cNvPr id="164" name="wf_lineyes"/>
          <p:cNvCxnSpPr/>
          <p:nvPr/>
        </p:nvCxnSpPr>
        <p:spPr>
          <a:xfrm>
            <a:off x="6245000" y="3710000"/>
            <a:ext cx="400000" cy="430000"/>
          </a:xfrm>
          <a:prstGeom prst="line">
            <a:avLst/>
          </a:prstGeom>
          <a:ln w="12700">
            <a:solidFill>
              <a:srgbClr val="6B7280"/>
            </a:solidFill>
            <a:tailEnd type="arrow"/>
          </a:ln>
        </p:spPr>
        <p:style>
          <a:lnRef idx="1">
            <a:schemeClr val="accent1"/>
          </a:lnRef>
          <a:fillRef idx="0">
            <a:schemeClr val="accent1"/>
          </a:fillRef>
          <a:effectRef idx="0">
            <a:schemeClr val="accent1"/>
          </a:effectRef>
          <a:fontRef idx="minor">
            <a:schemeClr val="tx1"/>
          </a:fontRef>
        </p:style>
      </p:cxnSp>
      <p:sp>
        <p:nvSpPr>
          <p:cNvPr id="165" name="text"/>
          <p:cNvSpPr txBox="1"/>
          <p:nvPr/>
        </p:nvSpPr>
        <p:spPr>
          <a:xfrm>
            <a:off x="6645000" y="3750000"/>
            <a:ext cx="500000" cy="240000"/>
          </a:xfrm>
          <a:prstGeom prst="rect">
            <a:avLst/>
          </a:prstGeom>
          <a:noFill/>
          <a:ln>
            <a:noFill/>
          </a:ln>
        </p:spPr>
        <p:txBody>
          <a:bodyPr wrap="square" lIns="0" tIns="0" rIns="0" bIns="0" anchor="t">
            <a:noAutofit/>
          </a:bodyPr>
          <a:lstStyle/>
          <a:p>
            <a:pPr algn="l"/>
            <a:r>
              <a:rPr lang="en-US" sz="1000" b="1" i="0" dirty="0">
                <a:solidFill>
                  <a:srgbClr val="6B7280"/>
                </a:solidFill>
                <a:latin typeface="Calibri"/>
                <a:ea typeface="Calibri"/>
                <a:cs typeface="Calibri"/>
              </a:rPr>
              <a:t>Yes</a:t>
            </a:r>
          </a:p>
        </p:txBody>
      </p:sp>
      <p:sp>
        <p:nvSpPr>
          <p:cNvPr id="166" name="wf_unet"/>
          <p:cNvSpPr/>
          <p:nvPr/>
        </p:nvSpPr>
        <p:spPr>
          <a:xfrm>
            <a:off x="5670000" y="4140000"/>
            <a:ext cx="1950000" cy="56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67" name="text"/>
          <p:cNvSpPr txBox="1"/>
          <p:nvPr/>
        </p:nvSpPr>
        <p:spPr>
          <a:xfrm>
            <a:off x="5670000" y="4140000"/>
            <a:ext cx="1950000" cy="560000"/>
          </a:xfrm>
          <a:prstGeom prst="rect">
            <a:avLst/>
          </a:prstGeom>
          <a:noFill/>
          <a:ln>
            <a:noFill/>
          </a:ln>
        </p:spPr>
        <p:txBody>
          <a:bodyPr wrap="square" lIns="0" tIns="0" rIns="0" bIns="0" anchor="ctr">
            <a:noAutofit/>
          </a:bodyPr>
          <a:lstStyle/>
          <a:p>
            <a:pPr algn="ctr">
              <a:spcAft>
                <a:spcPts val="300"/>
              </a:spcAft>
            </a:pPr>
            <a:r>
              <a:rPr lang="en-US" sz="1000" b="1" i="0" dirty="0">
                <a:solidFill>
                  <a:srgbClr val="FFFFFF"/>
                </a:solidFill>
                <a:latin typeface="Calibri"/>
                <a:ea typeface="Calibri"/>
                <a:cs typeface="Calibri"/>
              </a:rPr>
              <a:t>U-Net Segmentation</a:t>
            </a:r>
          </a:p>
          <a:p>
            <a:pPr algn="ctr">
              <a:spcAft>
                <a:spcPts val="300"/>
              </a:spcAft>
            </a:pPr>
            <a:r>
              <a:rPr lang="en-US" sz="900" b="0" i="0" dirty="0">
                <a:solidFill>
                  <a:srgbClr val="FFFFFF"/>
                </a:solidFill>
                <a:latin typeface="Calibri"/>
                <a:ea typeface="Calibri"/>
                <a:cs typeface="Calibri"/>
              </a:rPr>
              <a:t>(ResNet34 encoder)</a:t>
            </a:r>
          </a:p>
        </p:txBody>
      </p:sp>
      <p:sp>
        <p:nvSpPr>
          <p:cNvPr id="168" name="arrow"/>
          <p:cNvSpPr/>
          <p:nvPr/>
        </p:nvSpPr>
        <p:spPr>
          <a:xfrm>
            <a:off x="6575000" y="4730000"/>
            <a:ext cx="140000" cy="220000"/>
          </a:xfrm>
          <a:prstGeom prst="down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69" name="wf_overlay"/>
          <p:cNvSpPr/>
          <p:nvPr/>
        </p:nvSpPr>
        <p:spPr>
          <a:xfrm>
            <a:off x="5670000" y="5000000"/>
            <a:ext cx="1950000" cy="560000"/>
          </a:xfrm>
          <a:prstGeom prst="roundRect">
            <a:avLst>
              <a:gd name="adj" fmla="val 8000"/>
            </a:avLst>
          </a:prstGeom>
          <a:solidFill>
            <a:srgbClr val="13307F"/>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70" name="text"/>
          <p:cNvSpPr txBox="1"/>
          <p:nvPr/>
        </p:nvSpPr>
        <p:spPr>
          <a:xfrm>
            <a:off x="5670000" y="5000000"/>
            <a:ext cx="1950000" cy="560000"/>
          </a:xfrm>
          <a:prstGeom prst="rect">
            <a:avLst/>
          </a:prstGeom>
          <a:noFill/>
          <a:ln>
            <a:noFill/>
          </a:ln>
        </p:spPr>
        <p:txBody>
          <a:bodyPr wrap="square" lIns="0" tIns="0" rIns="0" bIns="0" anchor="ctr">
            <a:noAutofit/>
          </a:bodyPr>
          <a:lstStyle/>
          <a:p>
            <a:pPr algn="ctr">
              <a:spcAft>
                <a:spcPts val="300"/>
              </a:spcAft>
            </a:pPr>
            <a:r>
              <a:rPr lang="en-US" sz="1000" b="1" i="0" dirty="0">
                <a:solidFill>
                  <a:srgbClr val="FFFFFF"/>
                </a:solidFill>
                <a:latin typeface="Calibri"/>
                <a:ea typeface="Calibri"/>
                <a:cs typeface="Calibri"/>
              </a:rPr>
              <a:t>Tumor Mask Overlay</a:t>
            </a:r>
          </a:p>
        </p:txBody>
      </p:sp>
      <p:sp>
        <p:nvSpPr>
          <p:cNvPr id="171" name="wf_gradio"/>
          <p:cNvSpPr/>
          <p:nvPr/>
        </p:nvSpPr>
        <p:spPr>
          <a:xfrm>
            <a:off x="1300000" y="5880000"/>
            <a:ext cx="6900000" cy="560000"/>
          </a:xfrm>
          <a:prstGeom prst="roundRect">
            <a:avLst>
              <a:gd name="adj" fmla="val 8000"/>
            </a:avLst>
          </a:prstGeom>
          <a:solidFill>
            <a:srgbClr val="F0A50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72" name="text"/>
          <p:cNvSpPr txBox="1"/>
          <p:nvPr/>
        </p:nvSpPr>
        <p:spPr>
          <a:xfrm>
            <a:off x="1300000" y="5880000"/>
            <a:ext cx="6900000" cy="560000"/>
          </a:xfrm>
          <a:prstGeom prst="rect">
            <a:avLst/>
          </a:prstGeom>
          <a:noFill/>
          <a:ln>
            <a:noFill/>
          </a:ln>
        </p:spPr>
        <p:txBody>
          <a:bodyPr wrap="square" lIns="0" tIns="0" rIns="0" bIns="0" anchor="ctr">
            <a:noAutofit/>
          </a:bodyPr>
          <a:lstStyle/>
          <a:p>
            <a:pPr algn="ctr">
              <a:spcAft>
                <a:spcPts val="300"/>
              </a:spcAft>
            </a:pPr>
            <a:r>
              <a:rPr lang="en-US" sz="1100" b="1" i="0" dirty="0">
                <a:solidFill>
                  <a:srgbClr val="3A2900"/>
                </a:solidFill>
                <a:latin typeface="Calibri"/>
                <a:ea typeface="Calibri"/>
                <a:cs typeface="Calibri"/>
              </a:rPr>
              <a:t>Gradio Interface (hosted on Hugging Face)</a:t>
            </a:r>
          </a:p>
        </p:txBody>
      </p:sp>
      <p:cxnSp>
        <p:nvCxnSpPr>
          <p:cNvPr id="173" name="wf_l1"/>
          <p:cNvCxnSpPr/>
          <p:nvPr/>
        </p:nvCxnSpPr>
        <p:spPr>
          <a:xfrm flipH="1">
            <a:off x="4350000" y="4700000"/>
            <a:ext cx="495000" cy="1180000"/>
          </a:xfrm>
          <a:prstGeom prst="line">
            <a:avLst/>
          </a:prstGeom>
          <a:ln w="12700">
            <a:solidFill>
              <a:srgbClr val="6B7280"/>
            </a:solidFill>
            <a:tailEnd type="arrow"/>
          </a:ln>
        </p:spPr>
        <p:style>
          <a:lnRef idx="1">
            <a:schemeClr val="accent1"/>
          </a:lnRef>
          <a:fillRef idx="0">
            <a:schemeClr val="accent1"/>
          </a:fillRef>
          <a:effectRef idx="0">
            <a:schemeClr val="accent1"/>
          </a:effectRef>
          <a:fontRef idx="minor">
            <a:schemeClr val="tx1"/>
          </a:fontRef>
        </p:style>
      </p:cxnSp>
      <p:cxnSp>
        <p:nvCxnSpPr>
          <p:cNvPr id="174" name="wf_l2"/>
          <p:cNvCxnSpPr/>
          <p:nvPr/>
        </p:nvCxnSpPr>
        <p:spPr>
          <a:xfrm flipH="1">
            <a:off x="5150000" y="5560000"/>
            <a:ext cx="1495000" cy="320000"/>
          </a:xfrm>
          <a:prstGeom prst="line">
            <a:avLst/>
          </a:prstGeom>
          <a:ln w="12700">
            <a:solidFill>
              <a:srgbClr val="6B728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462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Evaluation Methodology</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2.4</a:t>
            </a:r>
            <a:endParaRPr lang="ko-KR" altLang="en-US" dirty="0"/>
          </a:p>
        </p:txBody>
      </p:sp>
      <p:sp>
        <p:nvSpPr>
          <p:cNvPr id="4" name="Crumb Text"/>
          <p:cNvSpPr>
            <a:spLocks noGrp="1"/>
          </p:cNvSpPr>
          <p:nvPr>
            <p:ph type="body" sz="quarter" idx="11"/>
          </p:nvPr>
        </p:nvSpPr>
        <p:spPr/>
        <p:txBody>
          <a:bodyPr/>
          <a:lstStyle/>
          <a:p>
            <a:r>
              <a:rPr lang="en-US" altLang="ko-KR" dirty="0"/>
              <a:t>Method &amp; Models</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08</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Both models will be evaluated once, at the end of development, on the held-out test partition.</a:t>
            </a:r>
          </a:p>
        </p:txBody>
      </p:sp>
      <p:sp>
        <p:nvSpPr>
          <p:cNvPr id="175" name="evalcard_bg0"/>
          <p:cNvSpPr/>
          <p:nvPr/>
        </p:nvSpPr>
        <p:spPr>
          <a:xfrm>
            <a:off x="480000" y="3370000"/>
            <a:ext cx="4295000" cy="19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76" name="evalcard_hdr0"/>
          <p:cNvSpPr txBox="1"/>
          <p:nvPr/>
        </p:nvSpPr>
        <p:spPr>
          <a:xfrm>
            <a:off x="823600" y="3526000"/>
            <a:ext cx="3607800" cy="546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Classification Metrics</a:t>
            </a:r>
          </a:p>
        </p:txBody>
      </p:sp>
      <p:sp>
        <p:nvSpPr>
          <p:cNvPr id="177" name="evalcard_sub0"/>
          <p:cNvSpPr txBox="1"/>
          <p:nvPr/>
        </p:nvSpPr>
        <p:spPr>
          <a:xfrm>
            <a:off x="823600" y="4033000"/>
            <a:ext cx="3607800" cy="1248000"/>
          </a:xfrm>
          <a:prstGeom prst="rect">
            <a:avLst/>
          </a:prstGeom>
          <a:noFill/>
          <a:ln>
            <a:noFill/>
          </a:ln>
        </p:spPr>
        <p:txBody>
          <a:bodyPr wrap="square" lIns="0" tIns="0" rIns="0" bIns="0" anchor="t">
            <a:noAutofit/>
          </a:bodyPr>
          <a:lstStyle/>
          <a:p>
            <a:pPr algn="ctr">
              <a:spcAft>
                <a:spcPts val="300"/>
              </a:spcAft>
            </a:pPr>
            <a:r>
              <a:rPr lang="en-US" sz="1100" b="0" i="0" dirty="0">
                <a:solidFill>
                  <a:srgbClr val="222222"/>
                </a:solidFill>
                <a:latin typeface="Calibri"/>
                <a:ea typeface="Calibri"/>
                <a:cs typeface="Calibri"/>
              </a:rPr>
              <a:t>Accuracy, per-class precision &amp; recall</a:t>
            </a:r>
          </a:p>
          <a:p>
            <a:pPr algn="ctr">
              <a:spcAft>
                <a:spcPts val="300"/>
              </a:spcAft>
            </a:pPr>
            <a:r>
              <a:rPr lang="en-US" sz="1100" b="0" i="0" dirty="0">
                <a:solidFill>
                  <a:srgbClr val="222222"/>
                </a:solidFill>
                <a:latin typeface="Calibri"/>
                <a:ea typeface="Calibri"/>
                <a:cs typeface="Calibri"/>
              </a:rPr>
              <a:t>Macro-F1 and confusion matrix</a:t>
            </a:r>
          </a:p>
          <a:p>
            <a:pPr algn="ctr">
              <a:spcAft>
                <a:spcPts val="300"/>
              </a:spcAft>
            </a:pPr>
            <a:r>
              <a:rPr lang="en-US" sz="1100" b="0" i="0" dirty="0">
                <a:solidFill>
                  <a:srgbClr val="222222"/>
                </a:solidFill>
                <a:latin typeface="Calibri"/>
                <a:ea typeface="Calibri"/>
                <a:cs typeface="Calibri"/>
              </a:rPr>
              <a:t>Calibration: reliability diagram + ECE</a:t>
            </a:r>
          </a:p>
        </p:txBody>
      </p:sp>
      <p:sp>
        <p:nvSpPr>
          <p:cNvPr id="178" name="evalcard_bg1"/>
          <p:cNvSpPr/>
          <p:nvPr/>
        </p:nvSpPr>
        <p:spPr>
          <a:xfrm>
            <a:off x="5125000" y="3370000"/>
            <a:ext cx="4295000" cy="19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79" name="evalcard_hdr1"/>
          <p:cNvSpPr txBox="1"/>
          <p:nvPr/>
        </p:nvSpPr>
        <p:spPr>
          <a:xfrm>
            <a:off x="5468600" y="3526000"/>
            <a:ext cx="3607800" cy="546000"/>
          </a:xfrm>
          <a:prstGeom prst="rect">
            <a:avLst/>
          </a:prstGeom>
          <a:noFill/>
          <a:ln>
            <a:noFill/>
          </a:ln>
        </p:spPr>
        <p:txBody>
          <a:bodyPr wrap="square" lIns="0" tIns="0" rIns="0" bIns="0" anchor="t">
            <a:noAutofit/>
          </a:bodyPr>
          <a:lstStyle/>
          <a:p>
            <a:pPr algn="ctr"/>
            <a:r>
              <a:rPr lang="en-US" sz="1300" b="1" i="0" dirty="0">
                <a:solidFill>
                  <a:srgbClr val="193EB0"/>
                </a:solidFill>
                <a:latin typeface="Calibri"/>
                <a:ea typeface="Calibri"/>
                <a:cs typeface="Calibri"/>
              </a:rPr>
              <a:t>Segmentation Metrics</a:t>
            </a:r>
          </a:p>
        </p:txBody>
      </p:sp>
      <p:sp>
        <p:nvSpPr>
          <p:cNvPr id="180" name="evalcard_sub1"/>
          <p:cNvSpPr txBox="1"/>
          <p:nvPr/>
        </p:nvSpPr>
        <p:spPr>
          <a:xfrm>
            <a:off x="5468600" y="4033000"/>
            <a:ext cx="3607800" cy="1248000"/>
          </a:xfrm>
          <a:prstGeom prst="rect">
            <a:avLst/>
          </a:prstGeom>
          <a:noFill/>
          <a:ln>
            <a:noFill/>
          </a:ln>
        </p:spPr>
        <p:txBody>
          <a:bodyPr wrap="square" lIns="0" tIns="0" rIns="0" bIns="0" anchor="t">
            <a:noAutofit/>
          </a:bodyPr>
          <a:lstStyle/>
          <a:p>
            <a:pPr algn="ctr">
              <a:spcAft>
                <a:spcPts val="300"/>
              </a:spcAft>
            </a:pPr>
            <a:r>
              <a:rPr lang="en-US" sz="1100" b="0" i="0" dirty="0">
                <a:solidFill>
                  <a:srgbClr val="222222"/>
                </a:solidFill>
                <a:latin typeface="Calibri"/>
                <a:ea typeface="Calibri"/>
                <a:cs typeface="Calibri"/>
              </a:rPr>
              <a:t>Dice Coefficient and IoU</a:t>
            </a:r>
          </a:p>
          <a:p>
            <a:pPr algn="ctr">
              <a:spcAft>
                <a:spcPts val="300"/>
              </a:spcAft>
            </a:pPr>
            <a:r>
              <a:rPr lang="en-US" sz="1100" b="0" i="0" dirty="0">
                <a:solidFill>
                  <a:srgbClr val="222222"/>
                </a:solidFill>
                <a:latin typeface="Calibri"/>
                <a:ea typeface="Calibri"/>
                <a:cs typeface="Calibri"/>
              </a:rPr>
              <a:t>Precision and recall</a:t>
            </a:r>
          </a:p>
          <a:p>
            <a:pPr algn="ctr">
              <a:spcAft>
                <a:spcPts val="300"/>
              </a:spcAft>
            </a:pPr>
            <a:r>
              <a:rPr lang="en-US" sz="1100" b="0" i="0" dirty="0">
                <a:solidFill>
                  <a:srgbClr val="222222"/>
                </a:solidFill>
                <a:latin typeface="Calibri"/>
                <a:ea typeface="Calibri"/>
                <a:cs typeface="Calibri"/>
              </a:rPr>
              <a:t>Reported as aggregate + per-image distribution</a:t>
            </a:r>
          </a:p>
        </p:txBody>
      </p:sp>
      <p:sp>
        <p:nvSpPr>
          <p:cNvPr id="181" name="evalnote"/>
          <p:cNvSpPr txBox="1"/>
          <p:nvPr/>
        </p:nvSpPr>
        <p:spPr>
          <a:xfrm>
            <a:off x="480000" y="5470000"/>
            <a:ext cx="8940000" cy="400000"/>
          </a:xfrm>
          <a:prstGeom prst="rect">
            <a:avLst/>
          </a:prstGeom>
          <a:noFill/>
          <a:ln>
            <a:noFill/>
          </a:ln>
        </p:spPr>
        <p:txBody>
          <a:bodyPr wrap="square" lIns="0" tIns="0" rIns="0" bIns="0" anchor="t">
            <a:noAutofit/>
          </a:bodyPr>
          <a:lstStyle/>
          <a:p>
            <a:pPr algn="ctr"/>
            <a:r>
              <a:rPr lang="en-US" sz="1000" b="0" i="1" dirty="0">
                <a:solidFill>
                  <a:srgbClr val="6B7280"/>
                </a:solidFill>
                <a:latin typeface="Calibri"/>
                <a:ea typeface="Calibri"/>
                <a:cs typeface="Calibri"/>
              </a:rPr>
              <a:t>Current evaluation focuses on T1-weighted axial MRI images. Coronal and sagittal planes are reserved for future work.</a:t>
            </a:r>
          </a:p>
        </p:txBody>
      </p:sp>
    </p:spTree>
    <p:extLst>
      <p:ext uri="{BB962C8B-B14F-4D97-AF65-F5344CB8AC3E}">
        <p14:creationId xmlns:p14="http://schemas.microsoft.com/office/powerpoint/2010/main" val="4080462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Expected Results (Project Targets)</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3.1</a:t>
            </a:r>
            <a:endParaRPr lang="ko-KR" altLang="en-US" dirty="0"/>
          </a:p>
        </p:txBody>
      </p:sp>
      <p:sp>
        <p:nvSpPr>
          <p:cNvPr id="4" name="Crumb Text"/>
          <p:cNvSpPr>
            <a:spLocks noGrp="1"/>
          </p:cNvSpPr>
          <p:nvPr>
            <p:ph type="body" sz="quarter" idx="11"/>
          </p:nvPr>
        </p:nvSpPr>
        <p:spPr/>
        <p:txBody>
          <a:bodyPr/>
          <a:lstStyle/>
          <a:p>
            <a:r>
              <a:rPr lang="en-US" altLang="ko-KR" dirty="0"/>
              <a:t>Results &amp; Impact</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09</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b="1" dirty="0"/>
              <a:t>The figures below are our project's performance targets not final test results. They will be verified on the held-out test partition once training and evaluation are complete.</a:t>
            </a:r>
          </a:p>
        </p:txBody>
      </p:sp>
      <p:sp>
        <p:nvSpPr>
          <p:cNvPr id="182" name="stat1_bg0"/>
          <p:cNvSpPr/>
          <p:nvPr/>
        </p:nvSpPr>
        <p:spPr>
          <a:xfrm>
            <a:off x="480000" y="3470000"/>
            <a:ext cx="2780000" cy="11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3" name="stat1_big0"/>
          <p:cNvSpPr txBox="1"/>
          <p:nvPr/>
        </p:nvSpPr>
        <p:spPr>
          <a:xfrm>
            <a:off x="480000" y="3585000"/>
            <a:ext cx="2780000" cy="483000"/>
          </a:xfrm>
          <a:prstGeom prst="rect">
            <a:avLst/>
          </a:prstGeom>
          <a:noFill/>
          <a:ln>
            <a:noFill/>
          </a:ln>
        </p:spPr>
        <p:txBody>
          <a:bodyPr wrap="square" lIns="0" tIns="0" rIns="0" bIns="0" anchor="ctr">
            <a:noAutofit/>
          </a:bodyPr>
          <a:lstStyle/>
          <a:p>
            <a:pPr algn="ctr"/>
            <a:r>
              <a:rPr lang="en-US" sz="2000" b="1" i="0" dirty="0">
                <a:solidFill>
                  <a:srgbClr val="193EB0"/>
                </a:solidFill>
                <a:latin typeface="Calibri"/>
                <a:ea typeface="Calibri"/>
                <a:cs typeface="Calibri"/>
              </a:rPr>
              <a:t>≥ 0.95</a:t>
            </a:r>
          </a:p>
        </p:txBody>
      </p:sp>
      <p:sp>
        <p:nvSpPr>
          <p:cNvPr id="184" name="stat1_lbl0"/>
          <p:cNvSpPr txBox="1"/>
          <p:nvPr/>
        </p:nvSpPr>
        <p:spPr>
          <a:xfrm>
            <a:off x="646800" y="4091000"/>
            <a:ext cx="24464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6B7280"/>
                </a:solidFill>
                <a:latin typeface="Calibri"/>
                <a:ea typeface="Calibri"/>
                <a:cs typeface="Calibri"/>
              </a:rPr>
              <a:t>Classification</a:t>
            </a:r>
          </a:p>
          <a:p>
            <a:pPr algn="ctr">
              <a:spcAft>
                <a:spcPts val="300"/>
              </a:spcAft>
            </a:pPr>
            <a:r>
              <a:rPr lang="en-US" sz="1000" b="0" i="0" dirty="0">
                <a:solidFill>
                  <a:srgbClr val="6B7280"/>
                </a:solidFill>
                <a:latin typeface="Calibri"/>
                <a:ea typeface="Calibri"/>
                <a:cs typeface="Calibri"/>
              </a:rPr>
              <a:t>Macro-F1 (target)</a:t>
            </a:r>
          </a:p>
        </p:txBody>
      </p:sp>
      <p:sp>
        <p:nvSpPr>
          <p:cNvPr id="185" name="stat1_bg1"/>
          <p:cNvSpPr/>
          <p:nvPr/>
        </p:nvSpPr>
        <p:spPr>
          <a:xfrm>
            <a:off x="3560000" y="3470000"/>
            <a:ext cx="2780000" cy="11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6" name="stat1_big1"/>
          <p:cNvSpPr txBox="1"/>
          <p:nvPr/>
        </p:nvSpPr>
        <p:spPr>
          <a:xfrm>
            <a:off x="3560000" y="3585000"/>
            <a:ext cx="2780000" cy="483000"/>
          </a:xfrm>
          <a:prstGeom prst="rect">
            <a:avLst/>
          </a:prstGeom>
          <a:noFill/>
          <a:ln>
            <a:noFill/>
          </a:ln>
        </p:spPr>
        <p:txBody>
          <a:bodyPr wrap="square" lIns="0" tIns="0" rIns="0" bIns="0" anchor="ctr">
            <a:noAutofit/>
          </a:bodyPr>
          <a:lstStyle/>
          <a:p>
            <a:pPr algn="ctr"/>
            <a:r>
              <a:rPr lang="en-US" sz="2000" b="1" i="0" dirty="0">
                <a:solidFill>
                  <a:srgbClr val="193EB0"/>
                </a:solidFill>
                <a:latin typeface="Calibri"/>
                <a:ea typeface="Calibri"/>
                <a:cs typeface="Calibri"/>
              </a:rPr>
              <a:t>≥ 95%</a:t>
            </a:r>
          </a:p>
        </p:txBody>
      </p:sp>
      <p:sp>
        <p:nvSpPr>
          <p:cNvPr id="187" name="stat1_lbl1"/>
          <p:cNvSpPr txBox="1"/>
          <p:nvPr/>
        </p:nvSpPr>
        <p:spPr>
          <a:xfrm>
            <a:off x="3726800" y="4091000"/>
            <a:ext cx="24464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6B7280"/>
                </a:solidFill>
                <a:latin typeface="Calibri"/>
                <a:ea typeface="Calibri"/>
                <a:cs typeface="Calibri"/>
              </a:rPr>
              <a:t>Overall Accuracy</a:t>
            </a:r>
          </a:p>
          <a:p>
            <a:pPr algn="ctr">
              <a:spcAft>
                <a:spcPts val="300"/>
              </a:spcAft>
            </a:pPr>
            <a:r>
              <a:rPr lang="en-US" sz="1000" b="0" i="0" dirty="0">
                <a:solidFill>
                  <a:srgbClr val="6B7280"/>
                </a:solidFill>
                <a:latin typeface="Calibri"/>
                <a:ea typeface="Calibri"/>
                <a:cs typeface="Calibri"/>
              </a:rPr>
              <a:t>(target)</a:t>
            </a:r>
          </a:p>
        </p:txBody>
      </p:sp>
      <p:sp>
        <p:nvSpPr>
          <p:cNvPr id="188" name="stat1_bg2"/>
          <p:cNvSpPr/>
          <p:nvPr/>
        </p:nvSpPr>
        <p:spPr>
          <a:xfrm>
            <a:off x="6640000" y="3470000"/>
            <a:ext cx="2780000" cy="11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9" name="stat1_big2"/>
          <p:cNvSpPr txBox="1"/>
          <p:nvPr/>
        </p:nvSpPr>
        <p:spPr>
          <a:xfrm>
            <a:off x="6640000" y="3585000"/>
            <a:ext cx="2780000" cy="483000"/>
          </a:xfrm>
          <a:prstGeom prst="rect">
            <a:avLst/>
          </a:prstGeom>
          <a:noFill/>
          <a:ln>
            <a:noFill/>
          </a:ln>
        </p:spPr>
        <p:txBody>
          <a:bodyPr wrap="square" lIns="0" tIns="0" rIns="0" bIns="0" anchor="ctr">
            <a:noAutofit/>
          </a:bodyPr>
          <a:lstStyle/>
          <a:p>
            <a:pPr algn="ctr"/>
            <a:r>
              <a:rPr lang="en-US" sz="2000" b="1" i="0" dirty="0">
                <a:solidFill>
                  <a:srgbClr val="193EB0"/>
                </a:solidFill>
                <a:latin typeface="Calibri"/>
                <a:ea typeface="Calibri"/>
                <a:cs typeface="Calibri"/>
              </a:rPr>
              <a:t>≥ 0.90</a:t>
            </a:r>
          </a:p>
        </p:txBody>
      </p:sp>
      <p:sp>
        <p:nvSpPr>
          <p:cNvPr id="190" name="stat1_lbl2"/>
          <p:cNvSpPr txBox="1"/>
          <p:nvPr/>
        </p:nvSpPr>
        <p:spPr>
          <a:xfrm>
            <a:off x="6806800" y="4091000"/>
            <a:ext cx="24464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6B7280"/>
                </a:solidFill>
                <a:latin typeface="Calibri"/>
                <a:ea typeface="Calibri"/>
                <a:cs typeface="Calibri"/>
              </a:rPr>
              <a:t>Per-class Recall</a:t>
            </a:r>
          </a:p>
          <a:p>
            <a:pPr algn="ctr">
              <a:spcAft>
                <a:spcPts val="300"/>
              </a:spcAft>
            </a:pPr>
            <a:r>
              <a:rPr lang="en-US" sz="1000" b="0" i="0" dirty="0">
                <a:solidFill>
                  <a:srgbClr val="6B7280"/>
                </a:solidFill>
                <a:latin typeface="Calibri"/>
                <a:ea typeface="Calibri"/>
                <a:cs typeface="Calibri"/>
              </a:rPr>
              <a:t>(target, each class)</a:t>
            </a:r>
          </a:p>
        </p:txBody>
      </p:sp>
      <p:sp>
        <p:nvSpPr>
          <p:cNvPr id="191" name="stat2_bg0"/>
          <p:cNvSpPr/>
          <p:nvPr/>
        </p:nvSpPr>
        <p:spPr>
          <a:xfrm>
            <a:off x="1980000" y="4920000"/>
            <a:ext cx="2820000" cy="11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92" name="stat2_big0"/>
          <p:cNvSpPr txBox="1"/>
          <p:nvPr/>
        </p:nvSpPr>
        <p:spPr>
          <a:xfrm>
            <a:off x="1980000" y="5035000"/>
            <a:ext cx="2820000" cy="483000"/>
          </a:xfrm>
          <a:prstGeom prst="rect">
            <a:avLst/>
          </a:prstGeom>
          <a:noFill/>
          <a:ln>
            <a:noFill/>
          </a:ln>
        </p:spPr>
        <p:txBody>
          <a:bodyPr wrap="square" lIns="0" tIns="0" rIns="0" bIns="0" anchor="ctr">
            <a:noAutofit/>
          </a:bodyPr>
          <a:lstStyle/>
          <a:p>
            <a:pPr algn="ctr"/>
            <a:r>
              <a:rPr lang="en-US" sz="2000" b="1" i="0" dirty="0">
                <a:solidFill>
                  <a:srgbClr val="193EB0"/>
                </a:solidFill>
                <a:latin typeface="Calibri"/>
                <a:ea typeface="Calibri"/>
                <a:cs typeface="Calibri"/>
              </a:rPr>
              <a:t>≥ 0.80</a:t>
            </a:r>
          </a:p>
        </p:txBody>
      </p:sp>
      <p:sp>
        <p:nvSpPr>
          <p:cNvPr id="193" name="stat2_lbl0"/>
          <p:cNvSpPr txBox="1"/>
          <p:nvPr/>
        </p:nvSpPr>
        <p:spPr>
          <a:xfrm>
            <a:off x="2149200" y="5541000"/>
            <a:ext cx="24816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6B7280"/>
                </a:solidFill>
                <a:latin typeface="Calibri"/>
                <a:ea typeface="Calibri"/>
                <a:cs typeface="Calibri"/>
              </a:rPr>
              <a:t>Segmentation</a:t>
            </a:r>
          </a:p>
          <a:p>
            <a:pPr algn="ctr">
              <a:spcAft>
                <a:spcPts val="300"/>
              </a:spcAft>
            </a:pPr>
            <a:r>
              <a:rPr lang="en-US" sz="1000" b="0" i="0" dirty="0">
                <a:solidFill>
                  <a:srgbClr val="6B7280"/>
                </a:solidFill>
                <a:latin typeface="Calibri"/>
                <a:ea typeface="Calibri"/>
                <a:cs typeface="Calibri"/>
              </a:rPr>
              <a:t>Dice Coefficient (target)</a:t>
            </a:r>
          </a:p>
        </p:txBody>
      </p:sp>
      <p:sp>
        <p:nvSpPr>
          <p:cNvPr id="194" name="stat2_bg1"/>
          <p:cNvSpPr/>
          <p:nvPr/>
        </p:nvSpPr>
        <p:spPr>
          <a:xfrm>
            <a:off x="5100000" y="4920000"/>
            <a:ext cx="2820000" cy="115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95" name="stat2_big1"/>
          <p:cNvSpPr txBox="1"/>
          <p:nvPr/>
        </p:nvSpPr>
        <p:spPr>
          <a:xfrm>
            <a:off x="5100000" y="5035000"/>
            <a:ext cx="2820000" cy="483000"/>
          </a:xfrm>
          <a:prstGeom prst="rect">
            <a:avLst/>
          </a:prstGeom>
          <a:noFill/>
          <a:ln>
            <a:noFill/>
          </a:ln>
        </p:spPr>
        <p:txBody>
          <a:bodyPr wrap="square" lIns="0" tIns="0" rIns="0" bIns="0" anchor="ctr">
            <a:noAutofit/>
          </a:bodyPr>
          <a:lstStyle/>
          <a:p>
            <a:pPr algn="ctr"/>
            <a:r>
              <a:rPr lang="en-US" sz="2000" b="1" i="0" dirty="0">
                <a:solidFill>
                  <a:srgbClr val="193EB0"/>
                </a:solidFill>
                <a:latin typeface="Calibri"/>
                <a:ea typeface="Calibri"/>
                <a:cs typeface="Calibri"/>
              </a:rPr>
              <a:t>≥ 0.70</a:t>
            </a:r>
          </a:p>
        </p:txBody>
      </p:sp>
      <p:sp>
        <p:nvSpPr>
          <p:cNvPr id="196" name="stat2_lbl1"/>
          <p:cNvSpPr txBox="1"/>
          <p:nvPr/>
        </p:nvSpPr>
        <p:spPr>
          <a:xfrm>
            <a:off x="5269200" y="5541000"/>
            <a:ext cx="24816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6B7280"/>
                </a:solidFill>
                <a:latin typeface="Calibri"/>
                <a:ea typeface="Calibri"/>
                <a:cs typeface="Calibri"/>
              </a:rPr>
              <a:t>Segmentation</a:t>
            </a:r>
          </a:p>
          <a:p>
            <a:pPr algn="ctr">
              <a:spcAft>
                <a:spcPts val="300"/>
              </a:spcAft>
            </a:pPr>
            <a:r>
              <a:rPr lang="en-US" sz="1000" b="0" i="0" dirty="0">
                <a:solidFill>
                  <a:srgbClr val="6B7280"/>
                </a:solidFill>
                <a:latin typeface="Calibri"/>
                <a:ea typeface="Calibri"/>
                <a:cs typeface="Calibri"/>
              </a:rPr>
              <a:t>IoU (target)</a:t>
            </a:r>
          </a:p>
        </p:txBody>
      </p:sp>
    </p:spTree>
    <p:extLst>
      <p:ext uri="{BB962C8B-B14F-4D97-AF65-F5344CB8AC3E}">
        <p14:creationId xmlns:p14="http://schemas.microsoft.com/office/powerpoint/2010/main" val="4080462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User Interface &amp; Deployment</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3.2</a:t>
            </a:r>
            <a:endParaRPr lang="ko-KR" altLang="en-US" dirty="0"/>
          </a:p>
        </p:txBody>
      </p:sp>
      <p:sp>
        <p:nvSpPr>
          <p:cNvPr id="4" name="Crumb Text"/>
          <p:cNvSpPr>
            <a:spLocks noGrp="1"/>
          </p:cNvSpPr>
          <p:nvPr>
            <p:ph type="body" sz="quarter" idx="11"/>
          </p:nvPr>
        </p:nvSpPr>
        <p:spPr/>
        <p:txBody>
          <a:bodyPr/>
          <a:lstStyle/>
          <a:p>
            <a:r>
              <a:rPr lang="en-US" altLang="ko-KR" dirty="0"/>
              <a:t>Results &amp; Impact</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10</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b="1" dirty="0"/>
              <a:t>Our final prototype will be deployed through a Gradio interface hosted on Hugging Face.</a:t>
            </a:r>
          </a:p>
          <a:p>
            <a:r>
              <a:rPr lang="en-US" altLang="ko-KR" dirty="0"/>
              <a:t>A user will upload a single MRI scan and receive the predicted class with its confidence values.</a:t>
            </a:r>
          </a:p>
          <a:p>
            <a:r>
              <a:rPr lang="en-US" altLang="ko-KR" dirty="0"/>
              <a:t>If a tumor class is predicted, the interface will overlay the tumor-region mask on the original image.</a:t>
            </a:r>
          </a:p>
        </p:txBody>
      </p:sp>
      <p:sp>
        <p:nvSpPr>
          <p:cNvPr id="197" name="uipipe_box0"/>
          <p:cNvSpPr/>
          <p:nvPr/>
        </p:nvSpPr>
        <p:spPr>
          <a:xfrm>
            <a:off x="4800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98" name="uipipe_txt0"/>
          <p:cNvSpPr txBox="1"/>
          <p:nvPr/>
        </p:nvSpPr>
        <p:spPr>
          <a:xfrm>
            <a:off x="5765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Upload MRI</a:t>
            </a:r>
          </a:p>
        </p:txBody>
      </p:sp>
      <p:sp>
        <p:nvSpPr>
          <p:cNvPr id="199" name="uipipe_arrow0"/>
          <p:cNvSpPr/>
          <p:nvPr/>
        </p:nvSpPr>
        <p:spPr>
          <a:xfrm>
            <a:off x="20892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00" name="uipipe_box1"/>
          <p:cNvSpPr/>
          <p:nvPr/>
        </p:nvSpPr>
        <p:spPr>
          <a:xfrm>
            <a:off x="29236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01" name="uipipe_txt1"/>
          <p:cNvSpPr txBox="1"/>
          <p:nvPr/>
        </p:nvSpPr>
        <p:spPr>
          <a:xfrm>
            <a:off x="30201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FFFFF"/>
                </a:solidFill>
                <a:latin typeface="Calibri"/>
                <a:ea typeface="Calibri"/>
                <a:cs typeface="Calibri"/>
              </a:rPr>
              <a:t>Gradio App</a:t>
            </a:r>
          </a:p>
        </p:txBody>
      </p:sp>
      <p:sp>
        <p:nvSpPr>
          <p:cNvPr id="202" name="uipipe_arrow1"/>
          <p:cNvSpPr/>
          <p:nvPr/>
        </p:nvSpPr>
        <p:spPr>
          <a:xfrm>
            <a:off x="45328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03" name="uipipe_box2"/>
          <p:cNvSpPr/>
          <p:nvPr/>
        </p:nvSpPr>
        <p:spPr>
          <a:xfrm>
            <a:off x="5367200" y="4320000"/>
            <a:ext cx="1609200" cy="13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04" name="uipipe_txt2"/>
          <p:cNvSpPr txBox="1"/>
          <p:nvPr/>
        </p:nvSpPr>
        <p:spPr>
          <a:xfrm>
            <a:off x="5463752" y="4320000"/>
            <a:ext cx="1416096" cy="130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FFFFF"/>
                </a:solidFill>
                <a:latin typeface="Calibri"/>
                <a:ea typeface="Calibri"/>
                <a:cs typeface="Calibri"/>
              </a:rPr>
              <a:t>Prediction +</a:t>
            </a:r>
          </a:p>
          <a:p>
            <a:pPr algn="ctr">
              <a:spcAft>
                <a:spcPts val="300"/>
              </a:spcAft>
            </a:pPr>
            <a:r>
              <a:rPr lang="en-US" sz="1000" b="0" i="0" dirty="0">
                <a:solidFill>
                  <a:srgbClr val="FFFFFF"/>
                </a:solidFill>
                <a:latin typeface="Calibri"/>
                <a:ea typeface="Calibri"/>
                <a:cs typeface="Calibri"/>
              </a:rPr>
              <a:t>mask (if tumor)</a:t>
            </a:r>
          </a:p>
        </p:txBody>
      </p:sp>
      <p:sp>
        <p:nvSpPr>
          <p:cNvPr id="205" name="uipipe_arrow2"/>
          <p:cNvSpPr/>
          <p:nvPr/>
        </p:nvSpPr>
        <p:spPr>
          <a:xfrm>
            <a:off x="6976400" y="4788000"/>
            <a:ext cx="834400" cy="364000"/>
          </a:xfrm>
          <a:prstGeom prst="rightArrow">
            <a:avLst>
              <a:gd name="adj1" fmla="val 60000"/>
              <a:gd name="adj2" fmla="val 60000"/>
            </a:avLst>
          </a:prstGeom>
          <a:solidFill>
            <a:srgbClr val="6B728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06" name="uipipe_box3"/>
          <p:cNvSpPr/>
          <p:nvPr/>
        </p:nvSpPr>
        <p:spPr>
          <a:xfrm>
            <a:off x="7810800" y="4320000"/>
            <a:ext cx="1609200" cy="1300000"/>
          </a:xfrm>
          <a:prstGeom prst="roundRect">
            <a:avLst>
              <a:gd name="adj" fmla="val 8000"/>
            </a:avLst>
          </a:prstGeom>
          <a:solidFill>
            <a:srgbClr val="13307F"/>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07" name="uipipe_txt3"/>
          <p:cNvSpPr txBox="1"/>
          <p:nvPr/>
        </p:nvSpPr>
        <p:spPr>
          <a:xfrm>
            <a:off x="7907352" y="4320000"/>
            <a:ext cx="1416096" cy="130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FFFFF"/>
                </a:solidFill>
                <a:latin typeface="Calibri"/>
                <a:ea typeface="Calibri"/>
                <a:cs typeface="Calibri"/>
              </a:rPr>
              <a:t>Hosted on</a:t>
            </a:r>
          </a:p>
          <a:p>
            <a:pPr algn="ctr">
              <a:spcAft>
                <a:spcPts val="300"/>
              </a:spcAft>
            </a:pPr>
            <a:r>
              <a:rPr lang="en-US" sz="1100" b="1" i="0" dirty="0">
                <a:solidFill>
                  <a:srgbClr val="FFFFFF"/>
                </a:solidFill>
                <a:latin typeface="Calibri"/>
                <a:ea typeface="Calibri"/>
                <a:cs typeface="Calibri"/>
              </a:rPr>
              <a:t>Hugging Face</a:t>
            </a:r>
          </a:p>
        </p:txBody>
      </p:sp>
      <p:sp>
        <p:nvSpPr>
          <p:cNvPr id="208" name="uinote"/>
          <p:cNvSpPr txBox="1"/>
          <p:nvPr/>
        </p:nvSpPr>
        <p:spPr>
          <a:xfrm>
            <a:off x="480000" y="5870000"/>
            <a:ext cx="8940000" cy="400000"/>
          </a:xfrm>
          <a:prstGeom prst="rect">
            <a:avLst/>
          </a:prstGeom>
          <a:noFill/>
          <a:ln>
            <a:noFill/>
          </a:ln>
        </p:spPr>
        <p:txBody>
          <a:bodyPr wrap="square" lIns="0" tIns="0" rIns="0" bIns="0" anchor="t">
            <a:noAutofit/>
          </a:bodyPr>
          <a:lstStyle/>
          <a:p>
            <a:pPr algn="ctr"/>
            <a:r>
              <a:rPr lang="en-US" sz="1000" b="0" i="1" dirty="0">
                <a:solidFill>
                  <a:srgbClr val="6B7280"/>
                </a:solidFill>
                <a:latin typeface="Calibri"/>
                <a:ea typeface="Calibri"/>
                <a:cs typeface="Calibri"/>
              </a:rPr>
              <a:t>Presented explicitly as a decision-support / educational demonstration — not a diagnostic tool.</a:t>
            </a:r>
          </a:p>
        </p:txBody>
      </p:sp>
    </p:spTree>
    <p:extLst>
      <p:ext uri="{BB962C8B-B14F-4D97-AF65-F5344CB8AC3E}">
        <p14:creationId xmlns:p14="http://schemas.microsoft.com/office/powerpoint/2010/main" val="4080462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Limitations &amp; Future Improvements</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3.3</a:t>
            </a:r>
            <a:endParaRPr lang="ko-KR" altLang="en-US" dirty="0"/>
          </a:p>
        </p:txBody>
      </p:sp>
      <p:sp>
        <p:nvSpPr>
          <p:cNvPr id="4" name="Crumb Text"/>
          <p:cNvSpPr>
            <a:spLocks noGrp="1"/>
          </p:cNvSpPr>
          <p:nvPr>
            <p:ph type="body" sz="quarter" idx="11"/>
          </p:nvPr>
        </p:nvSpPr>
        <p:spPr/>
        <p:txBody>
          <a:bodyPr/>
          <a:lstStyle/>
          <a:p>
            <a:r>
              <a:rPr lang="en-US" altLang="ko-KR" dirty="0"/>
              <a:t>Results &amp; Impact</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11</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We state two limitations in advance, together with the corresponding future work.</a:t>
            </a:r>
          </a:p>
        </p:txBody>
      </p:sp>
      <p:sp>
        <p:nvSpPr>
          <p:cNvPr id="209" name="limcard_bg0"/>
          <p:cNvSpPr/>
          <p:nvPr/>
        </p:nvSpPr>
        <p:spPr>
          <a:xfrm>
            <a:off x="480000" y="3370000"/>
            <a:ext cx="4295000" cy="2100000"/>
          </a:xfrm>
          <a:prstGeom prst="roundRect">
            <a:avLst>
              <a:gd name="adj" fmla="val 8000"/>
            </a:avLst>
          </a:prstGeom>
          <a:solidFill>
            <a:srgbClr val="FCEEEE"/>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10" name="limcard_hdr0"/>
          <p:cNvSpPr txBox="1"/>
          <p:nvPr/>
        </p:nvSpPr>
        <p:spPr>
          <a:xfrm>
            <a:off x="823600" y="3538000"/>
            <a:ext cx="3607800" cy="588000"/>
          </a:xfrm>
          <a:prstGeom prst="rect">
            <a:avLst/>
          </a:prstGeom>
          <a:noFill/>
          <a:ln>
            <a:noFill/>
          </a:ln>
        </p:spPr>
        <p:txBody>
          <a:bodyPr wrap="square" lIns="0" tIns="0" rIns="0" bIns="0" anchor="t">
            <a:noAutofit/>
          </a:bodyPr>
          <a:lstStyle/>
          <a:p>
            <a:pPr algn="ctr"/>
            <a:r>
              <a:rPr lang="en-US" sz="1200" b="1" i="0" dirty="0">
                <a:solidFill>
                  <a:srgbClr val="9C2B2B"/>
                </a:solidFill>
                <a:latin typeface="Calibri"/>
                <a:ea typeface="Calibri"/>
                <a:cs typeface="Calibri"/>
              </a:rPr>
              <a:t>Limitations</a:t>
            </a:r>
          </a:p>
        </p:txBody>
      </p:sp>
      <p:sp>
        <p:nvSpPr>
          <p:cNvPr id="211" name="limcard_sub0"/>
          <p:cNvSpPr txBox="1"/>
          <p:nvPr/>
        </p:nvSpPr>
        <p:spPr>
          <a:xfrm>
            <a:off x="823600" y="4084000"/>
            <a:ext cx="3607800" cy="1344000"/>
          </a:xfrm>
          <a:prstGeom prst="rect">
            <a:avLst/>
          </a:prstGeom>
          <a:noFill/>
          <a:ln>
            <a:noFill/>
          </a:ln>
        </p:spPr>
        <p:txBody>
          <a:bodyPr wrap="square" lIns="0" tIns="0" rIns="0" bIns="0" anchor="t">
            <a:noAutofit/>
          </a:bodyPr>
          <a:lstStyle/>
          <a:p>
            <a:pPr algn="ctr">
              <a:spcAft>
                <a:spcPts val="300"/>
              </a:spcAft>
            </a:pPr>
            <a:r>
              <a:rPr lang="en-US" sz="1000" b="0" i="0" dirty="0">
                <a:solidFill>
                  <a:srgbClr val="222222"/>
                </a:solidFill>
                <a:latin typeface="Calibri"/>
                <a:ea typeface="Calibri"/>
                <a:cs typeface="Calibri"/>
              </a:rPr>
              <a:t>No patient ID  patient-level split not possible; residual leakage cannot be excluded</a:t>
            </a:r>
          </a:p>
          <a:p>
            <a:pPr algn="ctr">
              <a:spcAft>
                <a:spcPts val="300"/>
              </a:spcAft>
            </a:pPr>
            <a:r>
              <a:rPr lang="en-US" sz="1000" b="0" i="0" dirty="0">
                <a:solidFill>
                  <a:srgbClr val="222222"/>
                </a:solidFill>
                <a:latin typeface="Calibri"/>
                <a:ea typeface="Calibri"/>
                <a:cs typeface="Calibri"/>
              </a:rPr>
              <a:t>All evaluation is retrospective, on one curated dataset</a:t>
            </a:r>
          </a:p>
          <a:p>
            <a:pPr algn="ctr">
              <a:spcAft>
                <a:spcPts val="300"/>
              </a:spcAft>
            </a:pPr>
            <a:r>
              <a:rPr lang="en-US" sz="1000" b="0" i="0" dirty="0">
                <a:solidFill>
                  <a:srgbClr val="222222"/>
                </a:solidFill>
                <a:latin typeface="Calibri"/>
                <a:ea typeface="Calibri"/>
                <a:cs typeface="Calibri"/>
              </a:rPr>
              <a:t>Clinical use would need independent prospective validation + regulatory approval</a:t>
            </a:r>
          </a:p>
        </p:txBody>
      </p:sp>
      <p:sp>
        <p:nvSpPr>
          <p:cNvPr id="212" name="limcard_bg1"/>
          <p:cNvSpPr/>
          <p:nvPr/>
        </p:nvSpPr>
        <p:spPr>
          <a:xfrm>
            <a:off x="5125000" y="3370000"/>
            <a:ext cx="4295000" cy="2100000"/>
          </a:xfrm>
          <a:prstGeom prst="roundRect">
            <a:avLst>
              <a:gd name="adj" fmla="val 8000"/>
            </a:avLst>
          </a:prstGeom>
          <a:solidFill>
            <a:srgbClr val="EAF0FC"/>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13" name="limcard_hdr1"/>
          <p:cNvSpPr txBox="1"/>
          <p:nvPr/>
        </p:nvSpPr>
        <p:spPr>
          <a:xfrm>
            <a:off x="5468600" y="3538000"/>
            <a:ext cx="3607800" cy="588000"/>
          </a:xfrm>
          <a:prstGeom prst="rect">
            <a:avLst/>
          </a:prstGeom>
          <a:noFill/>
          <a:ln>
            <a:noFill/>
          </a:ln>
        </p:spPr>
        <p:txBody>
          <a:bodyPr wrap="square" lIns="0" tIns="0" rIns="0" bIns="0" anchor="t">
            <a:noAutofit/>
          </a:bodyPr>
          <a:lstStyle/>
          <a:p>
            <a:pPr algn="ctr"/>
            <a:r>
              <a:rPr lang="en-US" sz="1200" b="1" i="0" dirty="0">
                <a:solidFill>
                  <a:srgbClr val="193EB0"/>
                </a:solidFill>
                <a:latin typeface="Calibri"/>
                <a:ea typeface="Calibri"/>
                <a:cs typeface="Calibri"/>
              </a:rPr>
              <a:t>Future Improvements</a:t>
            </a:r>
          </a:p>
        </p:txBody>
      </p:sp>
      <p:sp>
        <p:nvSpPr>
          <p:cNvPr id="214" name="limcard_sub1"/>
          <p:cNvSpPr txBox="1"/>
          <p:nvPr/>
        </p:nvSpPr>
        <p:spPr>
          <a:xfrm>
            <a:off x="5468600" y="4084000"/>
            <a:ext cx="3607800" cy="1344000"/>
          </a:xfrm>
          <a:prstGeom prst="rect">
            <a:avLst/>
          </a:prstGeom>
          <a:noFill/>
          <a:ln>
            <a:noFill/>
          </a:ln>
        </p:spPr>
        <p:txBody>
          <a:bodyPr wrap="square" lIns="0" tIns="0" rIns="0" bIns="0" anchor="t">
            <a:noAutofit/>
          </a:bodyPr>
          <a:lstStyle/>
          <a:p>
            <a:pPr algn="ctr">
              <a:spcAft>
                <a:spcPts val="300"/>
              </a:spcAft>
            </a:pPr>
            <a:r>
              <a:rPr lang="en-US" sz="1000" b="0" i="0" dirty="0">
                <a:solidFill>
                  <a:srgbClr val="222222"/>
                </a:solidFill>
                <a:latin typeface="Calibri"/>
                <a:ea typeface="Calibri"/>
                <a:cs typeface="Calibri"/>
              </a:rPr>
              <a:t>Extend to coronal and sagittal image planes</a:t>
            </a:r>
          </a:p>
          <a:p>
            <a:pPr algn="ctr">
              <a:spcAft>
                <a:spcPts val="300"/>
              </a:spcAft>
            </a:pPr>
            <a:r>
              <a:rPr lang="en-US" sz="1000" b="0" i="0" dirty="0">
                <a:solidFill>
                  <a:srgbClr val="222222"/>
                </a:solidFill>
                <a:latin typeface="Calibri"/>
                <a:ea typeface="Calibri"/>
                <a:cs typeface="Calibri"/>
              </a:rPr>
              <a:t>Independent, prospectively collected validation data</a:t>
            </a:r>
          </a:p>
          <a:p>
            <a:pPr algn="ctr">
              <a:spcAft>
                <a:spcPts val="300"/>
              </a:spcAft>
            </a:pPr>
            <a:r>
              <a:rPr lang="en-US" sz="1000" b="0" i="0" dirty="0">
                <a:solidFill>
                  <a:srgbClr val="222222"/>
                </a:solidFill>
                <a:latin typeface="Calibri"/>
                <a:ea typeface="Calibri"/>
                <a:cs typeface="Calibri"/>
              </a:rPr>
              <a:t>Broader robustness testing across scanners/sites</a:t>
            </a:r>
          </a:p>
        </p:txBody>
      </p:sp>
    </p:spTree>
    <p:extLst>
      <p:ext uri="{BB962C8B-B14F-4D97-AF65-F5344CB8AC3E}">
        <p14:creationId xmlns:p14="http://schemas.microsoft.com/office/powerpoint/2010/main" val="4080462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ltLang="ko-KR" dirty="0"/>
              <a:t>Project Impact &amp; Conclusion</a:t>
            </a:r>
            <a:endParaRPr lang="ko-KR" altLang="en-US" dirty="0"/>
          </a:p>
        </p:txBody>
      </p:sp>
      <p:sp>
        <p:nvSpPr>
          <p:cNvPr id="3" name="Crumb Num"/>
          <p:cNvSpPr>
            <a:spLocks noGrp="1"/>
          </p:cNvSpPr>
          <p:nvPr>
            <p:ph type="body" sz="quarter" idx="10"/>
          </p:nvPr>
        </p:nvSpPr>
        <p:spPr>
          <a:xfrm>
            <a:off x="449468" y="450000"/>
            <a:ext cx="700000" cy="277200"/>
          </a:xfrm>
        </p:spPr>
        <p:txBody>
          <a:bodyPr/>
          <a:lstStyle/>
          <a:p>
            <a:r>
              <a:rPr lang="en-US" altLang="ko-KR" sz="1200" dirty="0"/>
              <a:t>3.4</a:t>
            </a:r>
            <a:endParaRPr lang="ko-KR" altLang="en-US" dirty="0"/>
          </a:p>
        </p:txBody>
      </p:sp>
      <p:sp>
        <p:nvSpPr>
          <p:cNvPr id="4" name="Crumb Text"/>
          <p:cNvSpPr>
            <a:spLocks noGrp="1"/>
          </p:cNvSpPr>
          <p:nvPr>
            <p:ph type="body" sz="quarter" idx="11"/>
          </p:nvPr>
        </p:nvSpPr>
        <p:spPr/>
        <p:txBody>
          <a:bodyPr/>
          <a:lstStyle/>
          <a:p>
            <a:r>
              <a:rPr lang="en-US" altLang="ko-KR" dirty="0"/>
              <a:t>Results &amp; Impact</a:t>
            </a:r>
            <a:endParaRPr lang="ko-KR" altLang="en-US" dirty="0"/>
          </a:p>
        </p:txBody>
      </p:sp>
      <p:sp>
        <p:nvSpPr>
          <p:cNvPr id="5" name="Unit Num"/>
          <p:cNvSpPr>
            <a:spLocks noGrp="1"/>
          </p:cNvSpPr>
          <p:nvPr>
            <p:ph type="body" sz="quarter" idx="12"/>
          </p:nvPr>
        </p:nvSpPr>
        <p:spPr>
          <a:xfrm>
            <a:off x="9012825" y="480779"/>
            <a:ext cx="440625" cy="246221"/>
          </a:xfrm>
        </p:spPr>
        <p:txBody>
          <a:bodyPr/>
          <a:lstStyle/>
          <a:p>
            <a:r>
              <a:rPr lang="en-US" altLang="ko-KR" sz="1200" dirty="0"/>
              <a:t>12</a:t>
            </a:r>
            <a:endParaRPr lang="ko-KR" altLang="en-US" dirty="0"/>
          </a:p>
        </p:txBody>
      </p:sp>
      <p:sp>
        <p:nvSpPr>
          <p:cNvPr id="6" name="Unit Label"/>
          <p:cNvSpPr>
            <a:spLocks noGrp="1"/>
          </p:cNvSpPr>
          <p:nvPr>
            <p:ph type="body" sz="quarter" idx="13"/>
          </p:nvPr>
        </p:nvSpPr>
        <p:spPr>
          <a:xfrm>
            <a:off x="8540667" y="480779"/>
            <a:ext cx="467850" cy="246221"/>
          </a:xfrm>
        </p:spPr>
        <p:txBody>
          <a:bodyPr/>
          <a:lstStyle/>
          <a:p>
            <a:r>
              <a:rPr lang="en-US" altLang="ko-KR" sz="1200" dirty="0"/>
              <a:t>UNIT</a:t>
            </a:r>
            <a:endParaRPr lang="ko-KR" altLang="en-US" dirty="0"/>
          </a:p>
        </p:txBody>
      </p:sp>
      <p:sp>
        <p:nvSpPr>
          <p:cNvPr id="7" name="Body"/>
          <p:cNvSpPr>
            <a:spLocks noGrp="1"/>
          </p:cNvSpPr>
          <p:nvPr>
            <p:ph type="body" sz="quarter" idx="15"/>
          </p:nvPr>
        </p:nvSpPr>
        <p:spPr>
          <a:xfrm>
            <a:off x="522288" y="2221661"/>
            <a:ext cx="8055439" cy="1550000"/>
          </a:xfrm>
        </p:spPr>
        <p:txBody>
          <a:bodyPr/>
          <a:lstStyle/>
          <a:p>
            <a:r>
              <a:rPr lang="en-US" altLang="ko-KR" dirty="0"/>
              <a:t>Our project combines tumor-type classification with tumor localization in a single pipeline.</a:t>
            </a:r>
          </a:p>
          <a:p>
            <a:r>
              <a:rPr lang="en-US" altLang="ko-KR" dirty="0"/>
              <a:t>Intended benefit: less time spent on manual tumor delineation, plus a consistent second reading to support review.</a:t>
            </a:r>
          </a:p>
          <a:p>
            <a:r>
              <a:rPr lang="en-US" altLang="ko-KR" dirty="0"/>
              <a:t>The project is designed as a documented and reproducible pipeline, with a fixed, shared validation split.</a:t>
            </a:r>
          </a:p>
        </p:txBody>
      </p:sp>
      <p:sp>
        <p:nvSpPr>
          <p:cNvPr id="215" name="conclcard"/>
          <p:cNvSpPr/>
          <p:nvPr/>
        </p:nvSpPr>
        <p:spPr>
          <a:xfrm>
            <a:off x="780000" y="4120000"/>
            <a:ext cx="8340000" cy="1500000"/>
          </a:xfrm>
          <a:prstGeom prst="roundRect">
            <a:avLst>
              <a:gd name="adj" fmla="val 8000"/>
            </a:avLst>
          </a:prstGeom>
          <a:solidFill>
            <a:srgbClr val="193EB0"/>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16" name="concltxt"/>
          <p:cNvSpPr txBox="1"/>
          <p:nvPr/>
        </p:nvSpPr>
        <p:spPr>
          <a:xfrm>
            <a:off x="1180000" y="4290000"/>
            <a:ext cx="7540000" cy="1150000"/>
          </a:xfrm>
          <a:prstGeom prst="rect">
            <a:avLst/>
          </a:prstGeom>
          <a:noFill/>
          <a:ln>
            <a:noFill/>
          </a:ln>
        </p:spPr>
        <p:txBody>
          <a:bodyPr wrap="square" lIns="0" tIns="0" rIns="0" bIns="0" anchor="ctr">
            <a:noAutofit/>
          </a:bodyPr>
          <a:lstStyle/>
          <a:p>
            <a:pPr algn="ctr">
              <a:spcAft>
                <a:spcPts val="300"/>
              </a:spcAft>
            </a:pPr>
            <a:r>
              <a:rPr lang="en-US" sz="1300" b="1" i="1" dirty="0">
                <a:solidFill>
                  <a:srgbClr val="FFFFFF"/>
                </a:solidFill>
                <a:latin typeface="Calibri"/>
                <a:ea typeface="Calibri"/>
                <a:cs typeface="Calibri"/>
              </a:rPr>
              <a:t>Our two-stage pipeline is designed to answer both</a:t>
            </a:r>
          </a:p>
          <a:p>
            <a:pPr algn="ctr">
              <a:spcAft>
                <a:spcPts val="300"/>
              </a:spcAft>
            </a:pPr>
            <a:r>
              <a:rPr lang="en-US" sz="1300" b="1" i="1" dirty="0">
                <a:solidFill>
                  <a:srgbClr val="FFFFFF"/>
                </a:solidFill>
                <a:latin typeface="Calibri"/>
                <a:ea typeface="Calibri"/>
                <a:cs typeface="Calibri"/>
              </a:rPr>
              <a:t>what the tumor is and where it is </a:t>
            </a:r>
          </a:p>
          <a:p>
            <a:pPr algn="ctr">
              <a:spcAft>
                <a:spcPts val="300"/>
              </a:spcAft>
            </a:pPr>
            <a:r>
              <a:rPr lang="en-US" sz="1300" b="1" i="1" dirty="0">
                <a:solidFill>
                  <a:srgbClr val="FFFFFF"/>
                </a:solidFill>
                <a:latin typeface="Calibri"/>
                <a:ea typeface="Calibri"/>
                <a:cs typeface="Calibri"/>
              </a:rPr>
              <a:t>supporting, not replacing, expert review.</a:t>
            </a:r>
          </a:p>
        </p:txBody>
      </p:sp>
    </p:spTree>
    <p:extLst>
      <p:ext uri="{BB962C8B-B14F-4D97-AF65-F5344CB8AC3E}">
        <p14:creationId xmlns:p14="http://schemas.microsoft.com/office/powerpoint/2010/main" val="4080462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hank You Heading"/>
          <p:cNvSpPr txBox="1"/>
          <p:nvPr/>
        </p:nvSpPr>
        <p:spPr>
          <a:xfrm>
            <a:off x="720000" y="1000000"/>
            <a:ext cx="8460000" cy="900000"/>
          </a:xfrm>
          <a:prstGeom prst="rect">
            <a:avLst/>
          </a:prstGeom>
          <a:noFill/>
          <a:ln>
            <a:noFill/>
          </a:ln>
        </p:spPr>
        <p:txBody>
          <a:bodyPr wrap="square" lIns="0" tIns="0" rIns="0" bIns="0" anchor="t">
            <a:noAutofit/>
          </a:bodyPr>
          <a:lstStyle/>
          <a:p>
            <a:pPr algn="ctr"/>
            <a:r>
              <a:rPr lang="en-US" sz="4400" b="1" dirty="0">
                <a:solidFill>
                  <a:srgbClr val="FFFFFF"/>
                </a:solidFill>
                <a:latin typeface="Samsung Sharp Sans" pitchFamily="2" charset="0"/>
                <a:ea typeface="Samsung Sharp Sans" pitchFamily="2" charset="0"/>
              </a:rPr>
              <a:t>Thank You</a:t>
            </a:r>
          </a:p>
        </p:txBody>
      </p:sp>
      <p:sp>
        <p:nvSpPr>
          <p:cNvPr id="21" name="QA Subheading"/>
          <p:cNvSpPr txBox="1"/>
          <p:nvPr/>
        </p:nvSpPr>
        <p:spPr>
          <a:xfrm>
            <a:off x="720000" y="1930000"/>
            <a:ext cx="8460000" cy="500000"/>
          </a:xfrm>
          <a:prstGeom prst="rect">
            <a:avLst/>
          </a:prstGeom>
          <a:noFill/>
          <a:ln>
            <a:noFill/>
          </a:ln>
        </p:spPr>
        <p:txBody>
          <a:bodyPr wrap="square" lIns="0" tIns="0" rIns="0" bIns="0" anchor="t">
            <a:noAutofit/>
          </a:bodyPr>
          <a:lstStyle/>
          <a:p>
            <a:pPr algn="ctr"/>
            <a:r>
              <a:rPr lang="en-US" sz="2000" dirty="0">
                <a:solidFill>
                  <a:srgbClr val="CADCFC"/>
                </a:solidFill>
                <a:latin typeface="Calibri"/>
              </a:rPr>
              <a:t>Questions &amp; Answers</a:t>
            </a:r>
          </a:p>
        </p:txBody>
      </p:sp>
      <p:sp>
        <p:nvSpPr>
          <p:cNvPr id="22" name="Team Credit"/>
          <p:cNvSpPr txBox="1"/>
          <p:nvPr/>
        </p:nvSpPr>
        <p:spPr>
          <a:xfrm>
            <a:off x="720000" y="2420000"/>
            <a:ext cx="8460000" cy="400000"/>
          </a:xfrm>
          <a:prstGeom prst="rect">
            <a:avLst/>
          </a:prstGeom>
          <a:noFill/>
          <a:ln>
            <a:noFill/>
          </a:ln>
        </p:spPr>
        <p:txBody>
          <a:bodyPr wrap="square" lIns="0" tIns="0" rIns="0" bIns="0" anchor="t">
            <a:noAutofit/>
          </a:bodyPr>
          <a:lstStyle/>
          <a:p>
            <a:pPr algn="ctr"/>
            <a:r>
              <a:rPr lang="en-US" sz="1400" dirty="0">
                <a:solidFill>
                  <a:srgbClr val="FFFFFF"/>
                </a:solidFill>
                <a:latin typeface="Calibri"/>
              </a:rPr>
              <a:t>Pi24, Team 24  · Maram </a:t>
            </a:r>
            <a:r>
              <a:rPr lang="en-US" sz="1400" dirty="0" err="1">
                <a:solidFill>
                  <a:srgbClr val="FFFFFF"/>
                </a:solidFill>
                <a:latin typeface="Calibri"/>
              </a:rPr>
              <a:t>Alraddadi</a:t>
            </a:r>
            <a:r>
              <a:rPr lang="en-US" sz="1400" dirty="0">
                <a:solidFill>
                  <a:srgbClr val="FFFFFF"/>
                </a:solidFill>
                <a:latin typeface="Calibri"/>
              </a:rPr>
              <a:t>, Muslim Alhammad, Haya Saleh Algarni, Raed </a:t>
            </a:r>
            <a:r>
              <a:rPr lang="en-US" sz="1400" dirty="0" err="1">
                <a:solidFill>
                  <a:srgbClr val="FFFFFF"/>
                </a:solidFill>
                <a:latin typeface="Calibri"/>
              </a:rPr>
              <a:t>Almjally</a:t>
            </a:r>
            <a:endParaRPr lang="en-US" sz="1400" dirty="0">
              <a:solidFill>
                <a:srgbClr val="FFFFFF"/>
              </a:solidFill>
              <a:latin typeface="Calibri"/>
            </a:endParaRPr>
          </a:p>
        </p:txBody>
      </p:sp>
    </p:spTree>
    <p:extLst>
      <p:ext uri="{BB962C8B-B14F-4D97-AF65-F5344CB8AC3E}">
        <p14:creationId xmlns:p14="http://schemas.microsoft.com/office/powerpoint/2010/main" val="1016206736"/>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25df02f-3aee-47af-b2f3-c2ea8bcae9a6" xsi:nil="true"/>
    <lcf76f155ced4ddcb4097134ff3c332f xmlns="5192ee0d-e524-4888-b581-1910cadcd210">
      <Terms xmlns="http://schemas.microsoft.com/office/infopath/2007/PartnerControls"/>
    </lcf76f155ced4ddcb4097134ff3c332f>
    <comment xmlns="5192ee0d-e524-4888-b581-1910cadcd21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B971F96850C604FA9DD4A6FAA1D7E94" ma:contentTypeVersion="13" ma:contentTypeDescription="Create a new document." ma:contentTypeScope="" ma:versionID="94bb0226509be2894c83196f814f5ace">
  <xsd:schema xmlns:xsd="http://www.w3.org/2001/XMLSchema" xmlns:xs="http://www.w3.org/2001/XMLSchema" xmlns:p="http://schemas.microsoft.com/office/2006/metadata/properties" xmlns:ns2="5192ee0d-e524-4888-b581-1910cadcd210" xmlns:ns3="525df02f-3aee-47af-b2f3-c2ea8bcae9a6" targetNamespace="http://schemas.microsoft.com/office/2006/metadata/properties" ma:root="true" ma:fieldsID="eb19b1b986ba2b37eb36a9dd005ffe1c" ns2:_="" ns3:_="">
    <xsd:import namespace="5192ee0d-e524-4888-b581-1910cadcd210"/>
    <xsd:import namespace="525df02f-3aee-47af-b2f3-c2ea8bcae9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element ref="ns2:MediaServiceOCR"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2ee0d-e524-4888-b581-1910cadcd2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element name="comment" ma:index="20"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25df02f-3aee-47af-b2f3-c2ea8bcae9a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f2df0d5-6bdf-4400-9605-4c2d2eede7e4}" ma:internalName="TaxCatchAll" ma:showField="CatchAllData" ma:web="525df02f-3aee-47af-b2f3-c2ea8bcae9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B4D1BC-3672-47C7-8E98-3D3B83A92BF9}">
  <ds:schemaRefs>
    <ds:schemaRef ds:uri="http://schemas.microsoft.com/office/2006/metadata/properties"/>
    <ds:schemaRef ds:uri="http://schemas.microsoft.com/office/infopath/2007/PartnerControls"/>
    <ds:schemaRef ds:uri="525df02f-3aee-47af-b2f3-c2ea8bcae9a6"/>
    <ds:schemaRef ds:uri="5192ee0d-e524-4888-b581-1910cadcd210"/>
  </ds:schemaRefs>
</ds:datastoreItem>
</file>

<file path=customXml/itemProps2.xml><?xml version="1.0" encoding="utf-8"?>
<ds:datastoreItem xmlns:ds="http://schemas.openxmlformats.org/officeDocument/2006/customXml" ds:itemID="{F7A1BB24-B868-43EF-95F7-238FE3A157D5}">
  <ds:schemaRefs>
    <ds:schemaRef ds:uri="http://schemas.microsoft.com/sharepoint/v3/contenttype/forms"/>
  </ds:schemaRefs>
</ds:datastoreItem>
</file>

<file path=customXml/itemProps3.xml><?xml version="1.0" encoding="utf-8"?>
<ds:datastoreItem xmlns:ds="http://schemas.openxmlformats.org/officeDocument/2006/customXml" ds:itemID="{0A0357D8-C495-42E3-A0C0-6723B236FB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92ee0d-e524-4888-b581-1910cadcd210"/>
    <ds:schemaRef ds:uri="525df02f-3aee-47af-b2f3-c2ea8bcae9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4379</TotalTime>
  <Words>2362</Words>
  <Application>Microsoft Macintosh PowerPoint</Application>
  <PresentationFormat>Custom</PresentationFormat>
  <Paragraphs>229</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맑은 고딕</vt:lpstr>
      <vt:lpstr>SamsungOne 400</vt:lpstr>
      <vt:lpstr>Samsung Sharp Sans Medium</vt:lpstr>
      <vt:lpstr>Arial</vt:lpstr>
      <vt:lpstr>SamsungOne 400C</vt:lpstr>
      <vt:lpstr>SamsungOne 700</vt:lpstr>
      <vt:lpstr>Samsung Sharp Sans</vt:lpstr>
      <vt:lpstr>Calibri</vt:lpstr>
      <vt:lpstr>Samsung Sharp Sans Bold</vt:lpstr>
      <vt:lpstr>Office Theme</vt:lpstr>
      <vt:lpstr>A Two-Stage Deep Learning Approach to Brain Tumor Classification and Segmentation in 2D MRI Images</vt:lpstr>
      <vt:lpstr>PowerPoint Presentation</vt:lpstr>
      <vt:lpstr>Problem &amp; Background</vt:lpstr>
      <vt:lpstr>Motivation &amp; Objective</vt:lpstr>
      <vt:lpstr>Proposed Solution: A Two-Stage Pipeline</vt:lpstr>
      <vt:lpstr>The BRISC2025 Dataset</vt:lpstr>
      <vt:lpstr>Data Preparation &amp; Preprocessing</vt:lpstr>
      <vt:lpstr>AI Models: Classification &amp; Segmentation</vt:lpstr>
      <vt:lpstr>System Workflow &amp; Architecture</vt:lpstr>
      <vt:lpstr>Evaluation Methodology</vt:lpstr>
      <vt:lpstr>Expected Results (Project Targets)</vt:lpstr>
      <vt:lpstr>User Interface &amp; Deployment</vt:lpstr>
      <vt:lpstr>Limitations &amp; Future Improvements</vt:lpstr>
      <vt:lpstr>Project Impact &amp;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Two-Stage Deep Learning Approach to Brain Tumor Classification and Segmentation in 2D MRI Images</dc:title>
  <dc:creator>Pi24, Team 24</dc:creator>
  <cp:lastModifiedBy>MARAM ALRADDADI</cp:lastModifiedBy>
  <cp:revision>3</cp:revision>
  <dcterms:created xsi:type="dcterms:W3CDTF">2026-09-06T11:02:16Z</dcterms:created>
  <dcterms:modified xsi:type="dcterms:W3CDTF">2026-09-06T13:47:02Z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0x010100EB971F96850C604FA9DD4A6FAA1D7E94</vt:lpwstr>
  </property>
</Properties>
</file>