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83" r:id="rId4"/>
  </p:sldMasterIdLst>
  <p:notesMasterIdLst>
    <p:notesMasterId r:id="rId28"/>
  </p:notesMasterIdLst>
  <p:sldIdLst>
    <p:sldId id="790" r:id="rId5"/>
    <p:sldId id="791" r:id="rId6"/>
    <p:sldId id="792" r:id="rId7"/>
    <p:sldId id="793" r:id="rId8"/>
    <p:sldId id="794" r:id="rId9"/>
    <p:sldId id="795" r:id="rId10"/>
    <p:sldId id="796" r:id="rId11"/>
    <p:sldId id="797" r:id="rId12"/>
    <p:sldId id="798" r:id="rId13"/>
    <p:sldId id="799" r:id="rId14"/>
    <p:sldId id="800" r:id="rId15"/>
    <p:sldId id="801" r:id="rId16"/>
    <p:sldId id="802" r:id="rId17"/>
    <p:sldId id="803" r:id="rId18"/>
    <p:sldId id="804" r:id="rId19"/>
    <p:sldId id="805" r:id="rId20"/>
    <p:sldId id="806" r:id="rId21"/>
    <p:sldId id="807" r:id="rId22"/>
    <p:sldId id="808" r:id="rId23"/>
    <p:sldId id="809" r:id="rId24"/>
    <p:sldId id="810" r:id="rId25"/>
    <p:sldId id="811" r:id="rId26"/>
    <p:sldId id="788" r:id="rId27"/>
  </p:sldIdLst>
  <p:sldSz cx="9902825" cy="6858000"/>
  <p:notesSz cx="6858000" cy="9144000"/>
  <p:embeddedFontLst>
    <p:embeddedFont>
      <p:font typeface="맑은 고딕" panose="020B0503020000020004" pitchFamily="34" charset="-127"/>
      <p:regular r:id="rId29"/>
      <p:bold r:id="rId30"/>
    </p:embeddedFont>
    <p:embeddedFont>
      <p:font typeface="Samsung Sharp Sans" pitchFamily="2" charset="77"/>
      <p:regular r:id="rId31"/>
      <p:bold r:id="rId32"/>
    </p:embeddedFont>
    <p:embeddedFont>
      <p:font typeface="Samsung Sharp Sans Bold"/>
      <p:bold r:id="rId33"/>
    </p:embeddedFont>
    <p:embeddedFont>
      <p:font typeface="Samsung Sharp Sans Medium"/>
      <p:bold r:id="rId34"/>
    </p:embeddedFont>
    <p:embeddedFont>
      <p:font typeface="SamsungOne 400" panose="020B0503030303020204" pitchFamily="34" charset="0"/>
      <p:regular r:id="rId35"/>
    </p:embeddedFont>
    <p:embeddedFont>
      <p:font typeface="SamsungOne 400C" panose="020B0506030303020204" pitchFamily="34" charset="0"/>
      <p:regular r:id="rId3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119" userDrawn="1">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3EB0"/>
    <a:srgbClr val="FFB546"/>
    <a:srgbClr val="FF4337"/>
    <a:srgbClr val="00B3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2" autoAdjust="0"/>
    <p:restoredTop sz="72205" autoAdjust="0"/>
  </p:normalViewPr>
  <p:slideViewPr>
    <p:cSldViewPr snapToGrid="0">
      <p:cViewPr>
        <p:scale>
          <a:sx n="116" d="100"/>
          <a:sy n="116" d="100"/>
        </p:scale>
        <p:origin x="1272" y="488"/>
      </p:cViewPr>
      <p:guideLst>
        <p:guide pos="3119"/>
        <p:guide orient="horz" pos="2160"/>
      </p:guideLst>
    </p:cSldViewPr>
  </p:slideViewPr>
  <p:notesTextViewPr>
    <p:cViewPr>
      <p:scale>
        <a:sx n="125" d="100"/>
        <a:sy n="125"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B57C17-E6FD-4AF5-A787-31E9CCE99A85}" type="datetimeFigureOut">
              <a:rPr lang="ko-KR" altLang="en-US" smtClean="0"/>
              <a:t>2026. 9. 8.</a:t>
            </a:fld>
            <a:endParaRPr lang="ko-KR" altLang="en-US" dirty="0"/>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59C55F-00F1-4985-9065-F2D92AE05D03}" type="slidenum">
              <a:rPr lang="ko-KR" altLang="en-US" smtClean="0"/>
              <a:t>‹#›</a:t>
            </a:fld>
            <a:endParaRPr lang="ko-KR" altLang="en-US" dirty="0"/>
          </a:p>
        </p:txBody>
      </p:sp>
    </p:spTree>
    <p:extLst>
      <p:ext uri="{BB962C8B-B14F-4D97-AF65-F5344CB8AC3E}">
        <p14:creationId xmlns:p14="http://schemas.microsoft.com/office/powerpoint/2010/main" val="9912534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[morning/afternoon]. We're Pi24, Team 24, and this is our Samsung Innovation Campus AI capstone project: a two-stage deep learning system for brain tumor classification and segmentation in 2D MRI images. Quick introductions of the team, then let's get into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we'll walk through the project, in five parts. First, the foundations — the problem, why AI helps here, our motivation, and the pipeline we're proposing. Second, the data we're working with. Third, the AI models themselves — we'll go through each one individually, plus how we're comparing them. Fourth, how it all fits together as a system and how we're evaluating it. And finally, the application, its limitations, and what this all means for the project as a whole.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Brain tumors need to be assessed quickly and accurately, and MRI is the standard tool doctors use to do that. For any scan, two things matter: what type of tumor is it, and where exactly is it located. Today, identifying the type and manually outlining the tumor region is done by hand, which takes time and depends on an expert being available. That's the gap we're trying to help close with deep learning.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why deep learning specifically? A few reasons. These models learn visual patterns straight from the pixels — we don't have to hand-write rules for what a tumor looks like. A trained model can also act as a fast, consistent second reader, which doesn't get tired or distracted the way a person might on their hundredth scan of the day. And because we're combining classification and segmentation in one pipeline, it mirrors how a radiologist actually works — first figuring out what they're looking at, then figuring out exactly where it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motivation was to keep this simple and understandable: one pipeline that both classifies the tumor type and localizes it. We picked the BRISC2025 dataset specifically because it gives us both labels and segmentation masks from a single, consistent source. Our objective: take one T1-weighted axial MRI image, predict one of four classes, and when a tumor is present, produce a mask. And to be clear up front — this is an educational, non-diagnostic prototype, not something meant to replace a doctor.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core idea at a high level. Stage one classifies the image into glioma, meningioma, pituitary tumor, or no tumor. Stage two only runs if a tumor was detected, and it segments exactly where the tumor is. We deliberately skip segmentation entirely for the no-tumor class — partly because it's unnecessary, and partly because our segmentation model is only trained on tumor-bearing images, so running it on a healthy scan wouldn't mean anything.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walk through exactly what happens to one image. It comes in, gets classified first. If the model says no tumor, we stop right there — that's the final answer. If it says tumor detected, that same image gets passed on to our segmentation stage, which outputs a tumor mask showing where the tumor actually is. So classification acts as a gate: segmentation only ever runs when there's something to segment.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We're using BRISC2025 from Kaggle, and for this phase of the project we're scoped to T1-weighted axial images only — coronal and sagittal views are a possible future extension. The dataset overall has just over fifteen thousand five hundred files in its manifest. Of that, six thousand images make up our classification set, and about forty-eight hundred tumor-bearing images make up our segmentation set, each with its own pixel-level mask.</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Breaking the classification set down by class: five thousand images for training, one thousand held out for testing, split across our four categories as shown here. One thing worth flagging — No Tumor is our smallest class, at about twenty-one percent of training data and fourteen percent of test data. That's exactly why we're not just tracking overall accuracy — macro-F1 and per-class recall matter here so we don't overlook the minority class.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starts from one manifest file, so class labels, imaging plane, and mask links all come from a single source of truth. From the training data, we carve out a stratified fifteen percent validation split, using a fixed random seed so it's reproducible across the team. We pad every image to a square before resizing, so we don't distort anatomy given the dataset's non-uniform image sizes. Classification images go to 224 by 224, segmentation images to 256 by 256, and pixel values are normalized to match what our pretrained backbones expect.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Augmentation is applied only to the training data — validation and test stay untouched, so our evaluation numbers stay honest. We use horizontal and vertical flips, rotation within a limited range since orientation still carries some diagnostic meaning, brightness and contrast adjustment for robustness to different scanners, and elastic deformation to simulate natural anatomical variation. All of this runs through Albumentations, which is important because it applies the exact same geometric transform to an image and its mask together — they never drift out of alignment.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modeling side, our team built and compared two different approaches for classification, plus one model for segmentation. For classification: EfficientNet-B0, a pretrained CNN we're using through transfer learning, and a custom CNN that we designed and built ourselves as a comparison baseline. For segmentation: U-Net with a pretrained ResNet34 encoder. Let's go through each of these one at a 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EfficientNet-B0 is a pretrained CNN that we've adapted for our four-class problem through transfer learning. We replaced its original output layer with a four-unit head for glioma, meningioma, pituitary, and no tumor. Training happens in two phases: first we freeze the pretrained backbone and only train the new head, then we unfreeze everything and fine-tune end-to-end at a lower learning rate. That two-phase approach protects the pretrained representations from being overwritten by early, noisy gradients. We use cross-entropy loss, mildly class-weighted, and pick the best checkpoint by validation macro-F1.</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Alongside EfficientNet-B0, we also built our own CNN from scratch, with no pretrained weights, as an experimental comparison model. It's trained and evaluated under exactly the same protocol as EfficientNet-B0 — same data splits, same metrics — so the comparison is fair. The point of this model is really a question: can a custom architecture, built in-house, compete with a transfer-learning approach on this specific task? We're being upfront that the architecture details are still being finalized by the team, and we'll report results once training and evaluation are complete.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segmentation we use U-Net, an encoder-decoder architecture, with a pretrained ResNet34 as the encoder. The encoder compresses the image down to figure out what's present, the decoder expands it back up to figure out where, and skip connections carry fine spatial detail across that compression so tumor boundaries don't get lost. Because tumor regions are usually a small fraction of the whole image, we use a combined Dice and Focal loss to handle that imbalance, and we select the best checkpoint by validation Dice score.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Since we have two classification models, here's how we're comparing them — and I want to be clear this is a methodology comparison, not a results comparison yet. EfficientNet-B0 starts from pretrained weights; our custom CNN starts from scratch. Both go through training, both get evaluated on the exact same thousand-image classification test set with the exact same metrics. Whichever model comes out ahead on validation macro-F1 is the one that gets selected for our final deployed pipeline.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Putting it all together: an MRI image comes in, and whichever classification model wins our comparison — EfficientNet-B0 or our custom CNN — classifies it first. If it's predicted as no tumor, we stop there and return that classification. If a tumor is predicted, the same image gets passed to U-Net, which generates a tumor mask, overlays it on the original image, and the whole thing gets served through a Gradio interface hosted on Hugging Face.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precise here: classification and segmentation are evaluated on their own separate held-out test sets, not one shared partition. Our two classification models are evaluated identically on the thousand-image classification test set — accuracy, per-class precision and recall, macro-F1, a confusion matrix, and a calibration check. U-Net is evaluated separately on the eight-hundred-sixty-image segmentation test set, using Dice, IoU, precision and recall. And to reiterate our scope: this evaluation is for T1-weighted axial images only, with coronal and sagittal reserved for future work.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want to be upfront: these are our project targets, not final results yet — we haven't completed training and testing, so these numbers describe what we're aiming for, not what we've already achieved. On the classification side, these targets apply to whichever model comes out ahead in our EfficientNet-B0 versus custom CNN comparison. We're targeting macro-F1 of at least 0.95 and overall accuracy of at least 95%, with no single class falling below 90% recall. For segmentation, we're targeting a Dice score of at least 0.80 and an IoU of at least 0.70.</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the user side, this will be simple: someone uploads a single MRI scan to our Gradio app. The system will return the predicted class along with confidence values, and if a tumor is predicted, it will also show the mask overlaid on the original scan. Our final prototype will be deployed through Gradio, hosted on Hugging Face, and we'll be explicit in the interface itself that this is a decision-support and educational tool, not something meant for clinical diagnosis.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limitations we want to be upfront about. First, the dataset gives us no patient identifier, so we can't guarantee a clean patient-level split — there's a chance of residual data leakage between train and test. Second, everything here is retrospective, tested on one curated dataset; real clinical use would require independent, prospective validation and regulatory approval. Looking ahead, we'd like to extend this to coronal and sagittal planes and test more broadly across different scanners and sites.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sum up: our project brings together tumor-type classification and tumor localization in one pipeline. The intended benefit is cutting down the time spent on manual tumor delineation and giving a consistent second opinion to support review — not replace it. And I want to be clear one more time: this is presented as a non-diagnostic, educational decision-support system. In short, our team built a simple two-stage system that's designed to answer both what the tumor is and where it is.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 we're happy to take any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5" name="슬라이드 번호 개체 틀 15">
            <a:extLst>
              <a:ext uri="{FF2B5EF4-FFF2-40B4-BE49-F238E27FC236}">
                <a16:creationId xmlns:a16="http://schemas.microsoft.com/office/drawing/2014/main" id="{CCEC8F59-794B-4743-A6D7-1BC9720006CB}"/>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56667998"/>
      </p:ext>
    </p:extLst>
  </p:cSld>
  <p:clrMapOvr>
    <a:masterClrMapping/>
  </p:clrMapOvr>
  <p:extLst>
    <p:ext uri="{DCECCB84-F9BA-43D5-87BE-67443E8EF086}">
      <p15:sldGuideLst xmlns:p15="http://schemas.microsoft.com/office/powerpoint/2012/main">
        <p15:guide id="2" pos="285">
          <p15:clr>
            <a:srgbClr val="FBAE40"/>
          </p15:clr>
        </p15:guide>
        <p15:guide id="3" pos="5955">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p:bg>
      <p:bgPr>
        <a:solidFill>
          <a:schemeClr val="bg1">
            <a:lumMod val="95000"/>
          </a:schemeClr>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6"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10" name="그림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
        <p:nvSpPr>
          <p:cNvPr id="7" name="직사각형 133">
            <a:extLst>
              <a:ext uri="{FF2B5EF4-FFF2-40B4-BE49-F238E27FC236}">
                <a16:creationId xmlns:a16="http://schemas.microsoft.com/office/drawing/2014/main" id="{DE8CAD59-3F29-4FBB-AE0A-697DDFD5E69E}"/>
              </a:ext>
            </a:extLst>
          </p:cNvPr>
          <p:cNvSpPr/>
          <p:nvPr userDrawn="1"/>
        </p:nvSpPr>
        <p:spPr>
          <a:xfrm>
            <a:off x="990000" y="4320000"/>
            <a:ext cx="5832526"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914400" latinLnBrk="1">
              <a:defRPr/>
            </a:pPr>
            <a:r>
              <a:rPr lang="en-US" altLang="ko-KR" sz="2400" baseline="0" dirty="0">
                <a:solidFill>
                  <a:srgbClr val="1428A0"/>
                </a:solidFill>
                <a:latin typeface="Samsung Sharp Sans" pitchFamily="2" charset="0"/>
                <a:ea typeface="Samsung Sharp Sans" pitchFamily="2" charset="0"/>
                <a:cs typeface="Samsung Sharp Sans" pitchFamily="2" charset="0"/>
              </a:rPr>
              <a:t>Artificial Intelligence Course</a:t>
            </a:r>
            <a:endParaRPr lang="ko-KR" altLang="en-US" sz="2400" dirty="0">
              <a:solidFill>
                <a:srgbClr val="1428A0"/>
              </a:solidFill>
              <a:latin typeface="Samsung Sharp Sans" pitchFamily="2" charset="0"/>
              <a:ea typeface="Samsung Sharp Sans" pitchFamily="2" charset="0"/>
              <a:cs typeface="Samsung Sharp Sans" pitchFamily="2" charset="0"/>
            </a:endParaRPr>
          </a:p>
        </p:txBody>
      </p:sp>
      <p:sp>
        <p:nvSpPr>
          <p:cNvPr id="8" name="직사각형 7">
            <a:extLst>
              <a:ext uri="{FF2B5EF4-FFF2-40B4-BE49-F238E27FC236}">
                <a16:creationId xmlns:a16="http://schemas.microsoft.com/office/drawing/2014/main" id="{86149771-D78D-40D7-8B97-564358008D8D}"/>
              </a:ext>
            </a:extLst>
          </p:cNvPr>
          <p:cNvSpPr/>
          <p:nvPr userDrawn="1"/>
        </p:nvSpPr>
        <p:spPr>
          <a:xfrm>
            <a:off x="724689" y="4320000"/>
            <a:ext cx="54000" cy="360000"/>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1" name="텍스트 개체 틀 18">
            <a:extLst>
              <a:ext uri="{FF2B5EF4-FFF2-40B4-BE49-F238E27FC236}">
                <a16:creationId xmlns:a16="http://schemas.microsoft.com/office/drawing/2014/main" id="{02AC410D-7805-4DA9-915F-991D726861C7}"/>
              </a:ext>
            </a:extLst>
          </p:cNvPr>
          <p:cNvSpPr>
            <a:spLocks noGrp="1"/>
          </p:cNvSpPr>
          <p:nvPr>
            <p:ph type="body" sz="quarter" idx="11" hasCustomPrompt="1"/>
          </p:nvPr>
        </p:nvSpPr>
        <p:spPr>
          <a:xfrm>
            <a:off x="720000" y="3551768"/>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
        <p:nvSpPr>
          <p:cNvPr id="12" name="제목 2">
            <a:extLst>
              <a:ext uri="{FF2B5EF4-FFF2-40B4-BE49-F238E27FC236}">
                <a16:creationId xmlns:a16="http://schemas.microsoft.com/office/drawing/2014/main" id="{44AF0917-EEBC-44C5-8BA6-F1CA2AFA4B1E}"/>
              </a:ext>
            </a:extLst>
          </p:cNvPr>
          <p:cNvSpPr>
            <a:spLocks noGrp="1"/>
          </p:cNvSpPr>
          <p:nvPr>
            <p:ph type="title" hasCustomPrompt="1"/>
          </p:nvPr>
        </p:nvSpPr>
        <p:spPr>
          <a:xfrm>
            <a:off x="720000" y="1710000"/>
            <a:ext cx="5221019" cy="14773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8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Tree>
    <p:extLst>
      <p:ext uri="{BB962C8B-B14F-4D97-AF65-F5344CB8AC3E}">
        <p14:creationId xmlns:p14="http://schemas.microsoft.com/office/powerpoint/2010/main" val="3032291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직사각형 133">
            <a:extLst>
              <a:ext uri="{FF2B5EF4-FFF2-40B4-BE49-F238E27FC236}">
                <a16:creationId xmlns:a16="http://schemas.microsoft.com/office/drawing/2014/main" id="{7A4BCBFF-5289-45FE-BA09-DFF42AF8A347}"/>
              </a:ext>
            </a:extLst>
          </p:cNvPr>
          <p:cNvSpPr/>
          <p:nvPr userDrawn="1"/>
        </p:nvSpPr>
        <p:spPr>
          <a:xfrm>
            <a:off x="990000" y="4157757"/>
            <a:ext cx="3563339" cy="3231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p>
            <a:pPr defTabSz="457200">
              <a:defRPr/>
            </a:pPr>
            <a:r>
              <a:rPr lang="en-US" altLang="ko-KR" sz="2100" dirty="0">
                <a:solidFill>
                  <a:srgbClr val="1428A0"/>
                </a:solidFill>
                <a:latin typeface="Samsung Sharp Sans" pitchFamily="2" charset="0"/>
                <a:ea typeface="Samsung Sharp Sans" pitchFamily="2" charset="0"/>
                <a:cs typeface="Samsung Sharp Sans" pitchFamily="2" charset="0"/>
              </a:rPr>
              <a:t>AI Course</a:t>
            </a:r>
            <a:endParaRPr lang="ko-KR" altLang="en-US" sz="2100" dirty="0">
              <a:solidFill>
                <a:srgbClr val="1428A0"/>
              </a:solidFill>
              <a:latin typeface="Samsung Sharp Sans" pitchFamily="2" charset="0"/>
              <a:ea typeface="Samsung Sharp Sans" pitchFamily="2" charset="0"/>
              <a:cs typeface="Samsung Sharp Sans" pitchFamily="2" charset="0"/>
            </a:endParaRPr>
          </a:p>
        </p:txBody>
      </p:sp>
      <p:sp>
        <p:nvSpPr>
          <p:cNvPr id="9" name="직사각형 8">
            <a:extLst>
              <a:ext uri="{FF2B5EF4-FFF2-40B4-BE49-F238E27FC236}">
                <a16:creationId xmlns:a16="http://schemas.microsoft.com/office/drawing/2014/main" id="{4AA6CFBD-D9B3-4245-A68B-1D7EC1CB6F07}"/>
              </a:ext>
            </a:extLst>
          </p:cNvPr>
          <p:cNvSpPr/>
          <p:nvPr userDrawn="1"/>
        </p:nvSpPr>
        <p:spPr>
          <a:xfrm>
            <a:off x="720000" y="2095275"/>
            <a:ext cx="60008" cy="1759369"/>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10" name="직사각형 9">
            <a:extLst>
              <a:ext uri="{FF2B5EF4-FFF2-40B4-BE49-F238E27FC236}">
                <a16:creationId xmlns:a16="http://schemas.microsoft.com/office/drawing/2014/main" id="{1B2EB59A-603F-4715-ABA1-D9DF69D44512}"/>
              </a:ext>
            </a:extLst>
          </p:cNvPr>
          <p:cNvSpPr/>
          <p:nvPr userDrawn="1"/>
        </p:nvSpPr>
        <p:spPr>
          <a:xfrm>
            <a:off x="720000" y="4157757"/>
            <a:ext cx="60008" cy="323165"/>
          </a:xfrm>
          <a:prstGeom prst="rect">
            <a:avLst/>
          </a:prstGeom>
          <a:solidFill>
            <a:srgbClr val="14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ko-KR" altLang="en-US" dirty="0">
              <a:solidFill>
                <a:prstClr val="white"/>
              </a:solidFill>
              <a:latin typeface="Calibri" panose="020F0502020204030204"/>
              <a:ea typeface="맑은 고딕" panose="020B0503020000020004" pitchFamily="50" charset="-127"/>
            </a:endParaRPr>
          </a:p>
        </p:txBody>
      </p:sp>
      <p:sp>
        <p:nvSpPr>
          <p:cNvPr id="3" name="제목 2">
            <a:extLst>
              <a:ext uri="{FF2B5EF4-FFF2-40B4-BE49-F238E27FC236}">
                <a16:creationId xmlns:a16="http://schemas.microsoft.com/office/drawing/2014/main" id="{CF6BC111-C555-4B09-8375-33C4F4C2FBB5}"/>
              </a:ext>
            </a:extLst>
          </p:cNvPr>
          <p:cNvSpPr>
            <a:spLocks noGrp="1"/>
          </p:cNvSpPr>
          <p:nvPr>
            <p:ph type="title" hasCustomPrompt="1"/>
          </p:nvPr>
        </p:nvSpPr>
        <p:spPr>
          <a:xfrm>
            <a:off x="990000" y="2095275"/>
            <a:ext cx="5221019" cy="135421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defRPr lang="ko-KR" altLang="en-US" sz="4400">
                <a:solidFill>
                  <a:schemeClr val="tx1"/>
                </a:solidFill>
                <a:latin typeface="Samsung Sharp Sans" pitchFamily="2" charset="0"/>
                <a:ea typeface="Samsung Sharp Sans" pitchFamily="2" charset="0"/>
                <a:cs typeface="Samsung Sharp Sans" pitchFamily="2" charset="0"/>
              </a:defRPr>
            </a:lvl1pPr>
          </a:lstStyle>
          <a:p>
            <a:pPr marL="0" lvl="0" defTabSz="457200" latinLnBrk="0"/>
            <a:r>
              <a:rPr lang="en-US" altLang="ko-KR" dirty="0"/>
              <a:t>Project</a:t>
            </a:r>
            <a:r>
              <a:rPr lang="ko-KR" altLang="en-US" dirty="0"/>
              <a:t> </a:t>
            </a:r>
            <a:br>
              <a:rPr lang="en-US" altLang="ko-KR" dirty="0"/>
            </a:br>
            <a:r>
              <a:rPr lang="en-US" altLang="ko-KR" dirty="0"/>
              <a:t>Name</a:t>
            </a:r>
            <a:endParaRPr lang="ko-KR" altLang="en-US" dirty="0"/>
          </a:p>
        </p:txBody>
      </p:sp>
      <p:sp>
        <p:nvSpPr>
          <p:cNvPr id="17" name="텍스트 개체 틀 18">
            <a:extLst>
              <a:ext uri="{FF2B5EF4-FFF2-40B4-BE49-F238E27FC236}">
                <a16:creationId xmlns:a16="http://schemas.microsoft.com/office/drawing/2014/main" id="{CBEAE583-0BAA-455B-9555-B00A4FE8B1C9}"/>
              </a:ext>
            </a:extLst>
          </p:cNvPr>
          <p:cNvSpPr>
            <a:spLocks noGrp="1"/>
          </p:cNvSpPr>
          <p:nvPr>
            <p:ph type="body" sz="quarter" idx="11" hasCustomPrompt="1"/>
          </p:nvPr>
        </p:nvSpPr>
        <p:spPr>
          <a:xfrm>
            <a:off x="990000" y="3577645"/>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800" dirty="0">
                <a:solidFill>
                  <a:schemeClr val="bg1">
                    <a:lumMod val="50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Team Name</a:t>
            </a:r>
            <a:endParaRPr lang="ko-KR" altLang="en-US" dirty="0"/>
          </a:p>
        </p:txBody>
      </p:sp>
    </p:spTree>
    <p:extLst>
      <p:ext uri="{BB962C8B-B14F-4D97-AF65-F5344CB8AC3E}">
        <p14:creationId xmlns:p14="http://schemas.microsoft.com/office/powerpoint/2010/main" val="690312953"/>
      </p:ext>
    </p:extLst>
  </p:cSld>
  <p:clrMapOvr>
    <a:masterClrMapping/>
  </p:clrMapOvr>
  <p:extLst>
    <p:ext uri="{DCECCB84-F9BA-43D5-87BE-67443E8EF086}">
      <p15:sldGuideLst xmlns:p15="http://schemas.microsoft.com/office/powerpoint/2012/main">
        <p15:guide id="1" orient="horz" pos="2614" userDrawn="1">
          <p15:clr>
            <a:srgbClr val="FBAE40"/>
          </p15:clr>
        </p15:guide>
        <p15:guide id="2" pos="443" userDrawn="1">
          <p15:clr>
            <a:srgbClr val="FBAE40"/>
          </p15:clr>
        </p15:guide>
        <p15:guide id="3" pos="5955">
          <p15:clr>
            <a:srgbClr val="FBAE40"/>
          </p15:clr>
        </p15:guide>
        <p15:guide id="4" pos="60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3" name="제목 2">
            <a:extLst>
              <a:ext uri="{FF2B5EF4-FFF2-40B4-BE49-F238E27FC236}">
                <a16:creationId xmlns:a16="http://schemas.microsoft.com/office/drawing/2014/main" id="{4625E1FE-2B04-4D8E-A51A-6B9CEC7B3790}"/>
              </a:ext>
            </a:extLst>
          </p:cNvPr>
          <p:cNvSpPr>
            <a:spLocks noGrp="1"/>
          </p:cNvSpPr>
          <p:nvPr>
            <p:ph type="title" hasCustomPrompt="1"/>
          </p:nvPr>
        </p:nvSpPr>
        <p:spPr>
          <a:xfrm>
            <a:off x="449468" y="1440000"/>
            <a:ext cx="8541187" cy="4924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a:lnSpc>
                <a:spcPct val="100000"/>
              </a:lnSpc>
              <a:spcBef>
                <a:spcPts val="0"/>
              </a:spcBef>
              <a:defRPr lang="ko-KR" altLang="en-US" sz="3200">
                <a:solidFill>
                  <a:schemeClr val="tx1">
                    <a:lumMod val="95000"/>
                    <a:lumOff val="5000"/>
                  </a:schemeClr>
                </a:solidFill>
                <a:latin typeface="Samsung Sharp Sans" pitchFamily="2" charset="0"/>
                <a:ea typeface="Samsung Sharp Sans" pitchFamily="2" charset="0"/>
                <a:cs typeface="Samsung Sharp Sans" pitchFamily="2" charset="0"/>
              </a:defRPr>
            </a:lvl1pPr>
          </a:lstStyle>
          <a:p>
            <a:pPr marL="0" lvl="0" defTabSz="457050" latinLnBrk="0"/>
            <a:r>
              <a:rPr lang="en-US" altLang="ko-KR" dirty="0"/>
              <a:t>Slide Title</a:t>
            </a:r>
            <a:endParaRPr lang="ko-KR" altLang="en-US" dirty="0"/>
          </a:p>
        </p:txBody>
      </p:sp>
      <p:sp>
        <p:nvSpPr>
          <p:cNvPr id="19" name="텍스트 개체 틀 18">
            <a:extLst>
              <a:ext uri="{FF2B5EF4-FFF2-40B4-BE49-F238E27FC236}">
                <a16:creationId xmlns:a16="http://schemas.microsoft.com/office/drawing/2014/main" id="{DFEC8C6A-D95C-4B3C-9803-6F9071BF0C29}"/>
              </a:ext>
            </a:extLst>
          </p:cNvPr>
          <p:cNvSpPr>
            <a:spLocks noGrp="1"/>
          </p:cNvSpPr>
          <p:nvPr>
            <p:ph type="body" sz="quarter" idx="10" hasCustomPrompt="1"/>
          </p:nvPr>
        </p:nvSpPr>
        <p:spPr>
          <a:xfrm>
            <a:off x="449468" y="450000"/>
            <a:ext cx="323896" cy="27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No</a:t>
            </a:r>
            <a:endParaRPr lang="ko-KR" altLang="en-US" dirty="0"/>
          </a:p>
        </p:txBody>
      </p:sp>
      <p:sp>
        <p:nvSpPr>
          <p:cNvPr id="20" name="텍스트 개체 틀 18">
            <a:extLst>
              <a:ext uri="{FF2B5EF4-FFF2-40B4-BE49-F238E27FC236}">
                <a16:creationId xmlns:a16="http://schemas.microsoft.com/office/drawing/2014/main" id="{6DA22BCA-E7E2-4377-AD8E-AC1336C3DB31}"/>
              </a:ext>
            </a:extLst>
          </p:cNvPr>
          <p:cNvSpPr>
            <a:spLocks noGrp="1"/>
          </p:cNvSpPr>
          <p:nvPr>
            <p:ph type="body" sz="quarter" idx="11" hasCustomPrompt="1"/>
          </p:nvPr>
        </p:nvSpPr>
        <p:spPr>
          <a:xfrm>
            <a:off x="790000" y="450001"/>
            <a:ext cx="6837808"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799" dirty="0">
                <a:solidFill>
                  <a:schemeClr val="bg1"/>
                </a:solidFill>
                <a:latin typeface="Samsung Sharp Sans Bold" pitchFamily="2" charset="0"/>
                <a:ea typeface="Samsung Sharp Sans Bold" pitchFamily="2" charset="0"/>
                <a:cs typeface="Samsung Sharp Sans Bold" pitchFamily="2" charset="0"/>
              </a:defRPr>
            </a:lvl1pPr>
          </a:lstStyle>
          <a:p>
            <a:pPr marL="0" lvl="0" defTabSz="457050" latinLnBrk="0"/>
            <a:r>
              <a:rPr lang="en-US" altLang="ko-KR" dirty="0"/>
              <a:t>Subtitle</a:t>
            </a:r>
            <a:endParaRPr lang="ko-KR" altLang="en-US" dirty="0"/>
          </a:p>
        </p:txBody>
      </p:sp>
      <p:sp>
        <p:nvSpPr>
          <p:cNvPr id="21" name="텍스트 개체 틀 18">
            <a:extLst>
              <a:ext uri="{FF2B5EF4-FFF2-40B4-BE49-F238E27FC236}">
                <a16:creationId xmlns:a16="http://schemas.microsoft.com/office/drawing/2014/main" id="{7647BD6A-5F13-45AE-859C-AF2BA0A739E6}"/>
              </a:ext>
            </a:extLst>
          </p:cNvPr>
          <p:cNvSpPr>
            <a:spLocks noGrp="1"/>
          </p:cNvSpPr>
          <p:nvPr>
            <p:ph type="body" sz="quarter" idx="12" hasCustomPrompt="1"/>
          </p:nvPr>
        </p:nvSpPr>
        <p:spPr>
          <a:xfrm>
            <a:off x="9112825" y="480779"/>
            <a:ext cx="340625" cy="246221"/>
          </a:xfrm>
          <a:prstGeom prst="rect">
            <a:avLst/>
          </a:prstGeom>
        </p:spPr>
        <p:txBody>
          <a:bodyPr wrap="square" lIns="0" tIns="0" rIns="0" bIns="0">
            <a:spAutoFit/>
          </a:bodyPr>
          <a:lstStyle>
            <a:lvl1pPr marL="0" indent="0" algn="r">
              <a:lnSpc>
                <a:spcPct val="100000"/>
              </a:lnSpc>
              <a:spcBef>
                <a:spcPts val="0"/>
              </a:spcBef>
              <a:buNone/>
              <a:defRPr lang="ko-KR" altLang="en-US" sz="1600" dirty="0">
                <a:solidFill>
                  <a:schemeClr val="bg1">
                    <a:lumMod val="85000"/>
                  </a:schemeClr>
                </a:solidFill>
                <a:latin typeface="Samsung Sharp Sans Bold" pitchFamily="2" charset="0"/>
                <a:ea typeface="Samsung Sharp Sans Bold" pitchFamily="2" charset="0"/>
                <a:cs typeface="Samsung Sharp Sans Bold" pitchFamily="2" charset="0"/>
              </a:defRPr>
            </a:lvl1pPr>
          </a:lstStyle>
          <a:p>
            <a:pPr marL="0" lvl="0" algn="r" defTabSz="457063" latinLnBrk="0"/>
            <a:r>
              <a:rPr lang="en-US" altLang="ko-KR" dirty="0"/>
              <a:t>00</a:t>
            </a:r>
            <a:endParaRPr lang="ko-KR" altLang="en-US" dirty="0"/>
          </a:p>
        </p:txBody>
      </p:sp>
      <p:sp>
        <p:nvSpPr>
          <p:cNvPr id="23" name="텍스트 개체 틀 18">
            <a:extLst>
              <a:ext uri="{FF2B5EF4-FFF2-40B4-BE49-F238E27FC236}">
                <a16:creationId xmlns:a16="http://schemas.microsoft.com/office/drawing/2014/main" id="{3A9667F7-80AD-4A7A-8543-285975B06BE3}"/>
              </a:ext>
            </a:extLst>
          </p:cNvPr>
          <p:cNvSpPr>
            <a:spLocks noGrp="1"/>
          </p:cNvSpPr>
          <p:nvPr>
            <p:ph type="body" sz="quarter" idx="13" hasCustomPrompt="1"/>
          </p:nvPr>
        </p:nvSpPr>
        <p:spPr>
          <a:xfrm>
            <a:off x="8740667" y="480779"/>
            <a:ext cx="467850" cy="2462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lvl1pPr marL="0" indent="0">
              <a:lnSpc>
                <a:spcPct val="100000"/>
              </a:lnSpc>
              <a:spcBef>
                <a:spcPts val="0"/>
              </a:spcBef>
              <a:buNone/>
              <a:defRPr lang="ko-KR" altLang="en-US" sz="1600" dirty="0">
                <a:solidFill>
                  <a:schemeClr val="bg1">
                    <a:lumMod val="85000"/>
                  </a:schemeClr>
                </a:solidFill>
                <a:latin typeface="Samsung Sharp Sans Medium" pitchFamily="2" charset="0"/>
                <a:ea typeface="Samsung Sharp Sans Medium" pitchFamily="2" charset="0"/>
                <a:cs typeface="Samsung Sharp Sans Medium" pitchFamily="2" charset="0"/>
              </a:defRPr>
            </a:lvl1pPr>
          </a:lstStyle>
          <a:p>
            <a:pPr marL="0" lvl="0" defTabSz="457050" latinLnBrk="0"/>
            <a:r>
              <a:rPr lang="en-US" altLang="ko-KR" dirty="0"/>
              <a:t>UNIT</a:t>
            </a:r>
            <a:endParaRPr lang="ko-KR" altLang="en-US" dirty="0"/>
          </a:p>
        </p:txBody>
      </p:sp>
      <p:sp>
        <p:nvSpPr>
          <p:cNvPr id="16" name="텍스트 개체 틀 7">
            <a:extLst>
              <a:ext uri="{FF2B5EF4-FFF2-40B4-BE49-F238E27FC236}">
                <a16:creationId xmlns:a16="http://schemas.microsoft.com/office/drawing/2014/main" id="{B6D584F0-F100-4FB4-B935-0E81DB1D3B51}"/>
              </a:ext>
            </a:extLst>
          </p:cNvPr>
          <p:cNvSpPr>
            <a:spLocks noGrp="1"/>
          </p:cNvSpPr>
          <p:nvPr>
            <p:ph type="body" sz="quarter" idx="15" hasCustomPrompt="1"/>
          </p:nvPr>
        </p:nvSpPr>
        <p:spPr>
          <a:xfrm>
            <a:off x="522288" y="2221661"/>
            <a:ext cx="8055439" cy="914400"/>
          </a:xfrm>
          <a:prstGeom prst="rect">
            <a:avLst/>
          </a:prstGeom>
        </p:spPr>
        <p:txBody>
          <a:bodyPr lIns="0" tIns="0" rIns="0" bIns="0"/>
          <a:lstStyle>
            <a:lvl1pPr marL="177747" indent="-177747">
              <a:lnSpc>
                <a:spcPts val="1800"/>
              </a:lnSpc>
              <a:buSzPct val="105000"/>
              <a:buFontTx/>
              <a:buBlip>
                <a:blip r:embed="rId3"/>
              </a:buBlip>
              <a:defRPr kumimoji="1" lang="en-US" altLang="ko-KR" sz="1400" kern="120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1pPr>
            <a:lvl2pPr marL="360255" indent="-182508">
              <a:lnSpc>
                <a:spcPts val="1800"/>
              </a:lnSpc>
              <a:buSzPct val="80000"/>
              <a:buFontTx/>
              <a:buBlip>
                <a:blip r:embed="rId4"/>
              </a:buBlip>
              <a:tabLst>
                <a:tab pos="447541" algn="l"/>
              </a:tabLst>
              <a:defRPr lang="en-US" altLang="ko-KR" sz="1300" kern="1200" dirty="0" smtClean="0">
                <a:solidFill>
                  <a:prstClr val="black">
                    <a:lumMod val="85000"/>
                    <a:lumOff val="15000"/>
                  </a:prstClr>
                </a:solidFill>
                <a:latin typeface="SamsungOne 400" panose="020B0503030303020204" pitchFamily="34" charset="0"/>
                <a:ea typeface="SamsungOne 400" panose="020B0503030303020204" pitchFamily="34" charset="0"/>
                <a:cs typeface="+mn-cs"/>
              </a:defRPr>
            </a:lvl2pPr>
          </a:lstStyle>
          <a:p>
            <a:pPr lvl="0"/>
            <a:r>
              <a:rPr lang="en-US" altLang="ko-KR" dirty="0"/>
              <a:t>Level1</a:t>
            </a:r>
          </a:p>
          <a:p>
            <a:pPr lvl="1"/>
            <a:r>
              <a:rPr lang="en-US" altLang="ko-KR" dirty="0"/>
              <a:t>Level2</a:t>
            </a:r>
          </a:p>
          <a:p>
            <a:pPr lvl="1"/>
            <a:endParaRPr lang="en-US" altLang="ko-KR" dirty="0"/>
          </a:p>
          <a:p>
            <a:pPr marL="628461" lvl="1" indent="-207901" algn="l" defTabSz="843830" rtl="0" eaLnBrk="1" latinLnBrk="1" hangingPunct="1">
              <a:lnSpc>
                <a:spcPct val="90000"/>
              </a:lnSpc>
              <a:spcBef>
                <a:spcPts val="462"/>
              </a:spcBef>
              <a:buSzPct val="90000"/>
              <a:buFontTx/>
              <a:buBlip>
                <a:blip r:embed="rId5"/>
              </a:buBlip>
            </a:pPr>
            <a:endParaRPr lang="en-US" altLang="ko-KR" dirty="0"/>
          </a:p>
          <a:p>
            <a:pPr lvl="1"/>
            <a:endParaRPr lang="ko-KR" altLang="en-US" dirty="0"/>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Pi24 – Brain Tumor Capstone</a:t>
            </a:r>
          </a:p>
        </p:txBody>
      </p:sp>
    </p:spTree>
    <p:extLst>
      <p:ext uri="{BB962C8B-B14F-4D97-AF65-F5344CB8AC3E}">
        <p14:creationId xmlns:p14="http://schemas.microsoft.com/office/powerpoint/2010/main" val="3102046736"/>
      </p:ext>
    </p:extLst>
  </p:cSld>
  <p:clrMapOvr>
    <a:masterClrMapping/>
  </p:clrMapOvr>
  <p:extLst>
    <p:ext uri="{DCECCB84-F9BA-43D5-87BE-67443E8EF086}">
      <p15:sldGuideLst xmlns:p15="http://schemas.microsoft.com/office/powerpoint/2012/main">
        <p15:guide id="1" orient="horz" pos="902" userDrawn="1">
          <p15:clr>
            <a:srgbClr val="FBAE40"/>
          </p15:clr>
        </p15:guide>
        <p15:guide id="2" pos="285">
          <p15:clr>
            <a:srgbClr val="FBAE40"/>
          </p15:clr>
        </p15:guide>
        <p15:guide id="3" pos="5955">
          <p15:clr>
            <a:srgbClr val="FBAE40"/>
          </p15:clr>
        </p15:guide>
        <p15:guide id="4" pos="32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able of Contents">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17" name="슬라이드 번호 개체 틀 15">
            <a:extLst>
              <a:ext uri="{FF2B5EF4-FFF2-40B4-BE49-F238E27FC236}">
                <a16:creationId xmlns:a16="http://schemas.microsoft.com/office/drawing/2014/main" id="{D63EAE99-E447-4D3D-BFEE-6F01BCEB93C6}"/>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434159522"/>
      </p:ext>
    </p:extLst>
  </p:cSld>
  <p:clrMapOvr>
    <a:masterClrMapping/>
  </p:clrMapOvr>
  <p:extLst>
    <p:ext uri="{DCECCB84-F9BA-43D5-87BE-67443E8EF086}">
      <p15:sldGuideLst xmlns:p15="http://schemas.microsoft.com/office/powerpoint/2012/main">
        <p15:guide id="1" orient="horz" pos="902">
          <p15:clr>
            <a:srgbClr val="FBAE40"/>
          </p15:clr>
        </p15:guide>
        <p15:guide id="2" pos="285">
          <p15:clr>
            <a:srgbClr val="FBAE40"/>
          </p15:clr>
        </p15:guide>
        <p15:guide id="3" pos="5955">
          <p15:clr>
            <a:srgbClr val="FBAE40"/>
          </p15:clr>
        </p15:guide>
        <p15:guide id="4" pos="32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able of Contents2">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88"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Tree>
    <p:extLst>
      <p:ext uri="{BB962C8B-B14F-4D97-AF65-F5344CB8AC3E}">
        <p14:creationId xmlns:p14="http://schemas.microsoft.com/office/powerpoint/2010/main" val="1779621428"/>
      </p:ext>
    </p:extLst>
  </p:cSld>
  <p:clrMapOvr>
    <a:masterClrMapping/>
  </p:clrMapOvr>
  <p:extLst>
    <p:ext uri="{DCECCB84-F9BA-43D5-87BE-67443E8EF086}">
      <p15:sldGuideLst xmlns:p15="http://schemas.microsoft.com/office/powerpoint/2012/main">
        <p15:guide id="1" orient="horz" pos="2614">
          <p15:clr>
            <a:srgbClr val="FBAE40"/>
          </p15:clr>
        </p15:guide>
        <p15:guide id="2" pos="443">
          <p15:clr>
            <a:srgbClr val="FBAE40"/>
          </p15:clr>
        </p15:guide>
        <p15:guide id="3" pos="5955">
          <p15:clr>
            <a:srgbClr val="FBAE40"/>
          </p15:clr>
        </p15:guide>
        <p15:guide id="4" pos="60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able of Contents">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cxnSp>
        <p:nvCxnSpPr>
          <p:cNvPr id="12" name="직선 연결선 11">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4"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sp>
        <p:nvSpPr>
          <p:cNvPr id="7" name="슬라이드 번호 개체 틀 15">
            <a:extLst>
              <a:ext uri="{FF2B5EF4-FFF2-40B4-BE49-F238E27FC236}">
                <a16:creationId xmlns:a16="http://schemas.microsoft.com/office/drawing/2014/main" id="{E75758B0-2429-4331-898E-5EEED60D4280}"/>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3942502544"/>
      </p:ext>
    </p:extLst>
  </p:cSld>
  <p:clrMapOvr>
    <a:masterClrMapping/>
  </p:clrMapOvr>
  <p:extLst>
    <p:ext uri="{DCECCB84-F9BA-43D5-87BE-67443E8EF086}">
      <p15:sldGuideLst xmlns:p15="http://schemas.microsoft.com/office/powerpoint/2012/main">
        <p15:guide id="1" orient="horz" pos="2160">
          <p15:clr>
            <a:srgbClr val="FBAE40"/>
          </p15:clr>
        </p15:guide>
        <p15:guide id="2" pos="5955">
          <p15:clr>
            <a:srgbClr val="FBAE40"/>
          </p15:clr>
        </p15:guide>
        <p15:guide id="3" pos="285">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ody">
    <p:spTree>
      <p:nvGrpSpPr>
        <p:cNvPr id="1" name=""/>
        <p:cNvGrpSpPr/>
        <p:nvPr/>
      </p:nvGrpSpPr>
      <p:grpSpPr>
        <a:xfrm>
          <a:off x="0" y="0"/>
          <a:ext cx="0" cy="0"/>
          <a:chOff x="0" y="0"/>
          <a:chExt cx="0" cy="0"/>
        </a:xfrm>
      </p:grpSpPr>
      <p:cxnSp>
        <p:nvCxnSpPr>
          <p:cNvPr id="10" name="직선 연결선 9">
            <a:extLst>
              <a:ext uri="{FF2B5EF4-FFF2-40B4-BE49-F238E27FC236}">
                <a16:creationId xmlns:a16="http://schemas.microsoft.com/office/drawing/2014/main" id="{107951CE-0A5B-4EC7-B663-290867B6A3B2}"/>
              </a:ext>
            </a:extLst>
          </p:cNvPr>
          <p:cNvCxnSpPr/>
          <p:nvPr userDrawn="1"/>
        </p:nvCxnSpPr>
        <p:spPr>
          <a:xfrm>
            <a:off x="449468" y="6424935"/>
            <a:ext cx="90007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6" name="슬라이드 번호 개체 틀 15">
            <a:extLst>
              <a:ext uri="{FF2B5EF4-FFF2-40B4-BE49-F238E27FC236}">
                <a16:creationId xmlns:a16="http://schemas.microsoft.com/office/drawing/2014/main" id="{DB8B1220-1660-457F-B990-656A8230EA54}"/>
              </a:ext>
            </a:extLst>
          </p:cNvPr>
          <p:cNvSpPr txBox="1">
            <a:spLocks/>
          </p:cNvSpPr>
          <p:nvPr userDrawn="1"/>
        </p:nvSpPr>
        <p:spPr>
          <a:xfrm>
            <a:off x="8836343" y="6498001"/>
            <a:ext cx="613839"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r" defTabSz="914094" rtl="0" eaLnBrk="1" fontAlgn="auto" latinLnBrk="1" hangingPunct="1">
              <a:lnSpc>
                <a:spcPct val="100000"/>
              </a:lnSpc>
              <a:spcBef>
                <a:spcPts val="0"/>
              </a:spcBef>
              <a:spcAft>
                <a:spcPts val="0"/>
              </a:spcAft>
              <a:buClrTx/>
              <a:buSzTx/>
              <a:buFontTx/>
              <a:buNone/>
              <a:tabLst/>
              <a:defRPr/>
            </a:pPr>
            <a:fld id="{43977B04-C971-4466-AB79-612C9E649B30}" type="slidenum">
              <a:rPr lang="en-US" altLang="ko-KR" sz="900" smtClean="0">
                <a:solidFill>
                  <a:schemeClr val="bg1">
                    <a:lumMod val="50000"/>
                  </a:schemeClr>
                </a:solidFill>
                <a:latin typeface="SamsungOne 400" panose="020B0503030303020204" pitchFamily="34" charset="0"/>
                <a:ea typeface="SamsungOne 400" panose="020B0503030303020204" pitchFamily="34" charset="0"/>
              </a:rPr>
              <a:pPr marL="0" marR="0" lvl="0" indent="0" algn="r" defTabSz="914094" rtl="0" eaLnBrk="1" fontAlgn="auto" latinLnBrk="1" hangingPunct="1">
                <a:lnSpc>
                  <a:spcPct val="100000"/>
                </a:lnSpc>
                <a:spcBef>
                  <a:spcPts val="0"/>
                </a:spcBef>
                <a:spcAft>
                  <a:spcPts val="0"/>
                </a:spcAft>
                <a:buClrTx/>
                <a:buSzTx/>
                <a:buFontTx/>
                <a:buNone/>
                <a:tabLst/>
                <a:defRPr/>
              </a:pPr>
              <a:t>‹#›</a:t>
            </a:fld>
            <a:endParaRPr lang="en-US" altLang="ko-KR" sz="900" dirty="0">
              <a:solidFill>
                <a:schemeClr val="bg1">
                  <a:lumMod val="50000"/>
                </a:schemeClr>
              </a:solidFill>
              <a:latin typeface="SamsungOne 400" panose="020B0503030303020204" pitchFamily="34" charset="0"/>
              <a:ea typeface="SamsungOne 400" panose="020B0503030303020204" pitchFamily="34" charset="0"/>
              <a:cs typeface="Arial Unicode MS" panose="020B0604020202020204" pitchFamily="50" charset="-127"/>
            </a:endParaRPr>
          </a:p>
        </p:txBody>
      </p:sp>
      <p:sp>
        <p:nvSpPr>
          <p:cNvPr id="18" name="직사각형 7">
            <a:extLst>
              <a:ext uri="{FF2B5EF4-FFF2-40B4-BE49-F238E27FC236}">
                <a16:creationId xmlns:a16="http://schemas.microsoft.com/office/drawing/2014/main" id="{AA07D337-B9C3-4E5E-811E-AEFBB17ADEF5}"/>
              </a:ext>
            </a:extLst>
          </p:cNvPr>
          <p:cNvSpPr/>
          <p:nvPr userDrawn="1"/>
        </p:nvSpPr>
        <p:spPr>
          <a:xfrm>
            <a:off x="449468" y="6498001"/>
            <a:ext cx="2888788"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algn="l"/>
            <a:r>
              <a:rPr lang="en-US" altLang="ko-KR" sz="1100" b="0" dirty="0">
                <a:solidFill>
                  <a:schemeClr val="bg1">
                    <a:lumMod val="50000"/>
                  </a:schemeClr>
                </a:solidFill>
                <a:latin typeface="Samsung Sharp Sans Bold" pitchFamily="2" charset="0"/>
                <a:ea typeface="Samsung Sharp Sans Bold" pitchFamily="2" charset="0"/>
                <a:cs typeface="Samsung Sharp Sans Bold" pitchFamily="2" charset="0"/>
              </a:rPr>
              <a:t>Samsung Innovation Campus</a:t>
            </a:r>
          </a:p>
        </p:txBody>
      </p:sp>
      <p:cxnSp>
        <p:nvCxnSpPr>
          <p:cNvPr id="7" name="직선 연결선 6"/>
          <p:cNvCxnSpPr/>
          <p:nvPr userDrawn="1"/>
        </p:nvCxnSpPr>
        <p:spPr>
          <a:xfrm>
            <a:off x="449468" y="900000"/>
            <a:ext cx="9000714" cy="0"/>
          </a:xfrm>
          <a:prstGeom prst="line">
            <a:avLst/>
          </a:prstGeom>
          <a:ln w="15875">
            <a:solidFill>
              <a:srgbClr val="0924A5"/>
            </a:solidFill>
          </a:ln>
        </p:spPr>
        <p:style>
          <a:lnRef idx="1">
            <a:schemeClr val="accent1"/>
          </a:lnRef>
          <a:fillRef idx="0">
            <a:schemeClr val="accent1"/>
          </a:fillRef>
          <a:effectRef idx="0">
            <a:schemeClr val="accent1"/>
          </a:effectRef>
          <a:fontRef idx="minor">
            <a:schemeClr val="tx1"/>
          </a:fontRef>
        </p:style>
      </p:cxnSp>
      <p:sp>
        <p:nvSpPr>
          <p:cNvPr id="9" name="슬라이드 번호 개체 틀 15">
            <a:extLst>
              <a:ext uri="{FF2B5EF4-FFF2-40B4-BE49-F238E27FC236}">
                <a16:creationId xmlns:a16="http://schemas.microsoft.com/office/drawing/2014/main" id="{C5960DC7-D671-485D-92B0-FEED6CE658A3}"/>
              </a:ext>
            </a:extLst>
          </p:cNvPr>
          <p:cNvSpPr txBox="1">
            <a:spLocks/>
          </p:cNvSpPr>
          <p:nvPr userDrawn="1"/>
        </p:nvSpPr>
        <p:spPr>
          <a:xfrm>
            <a:off x="6846858" y="6498001"/>
            <a:ext cx="2349501" cy="1384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scene3d>
              <a:camera prst="orthographicFront"/>
              <a:lightRig rig="threePt" dir="t"/>
            </a:scene3d>
            <a:sp3d>
              <a:bevelT w="0" h="6350"/>
            </a:sp3d>
          </a:bodyPr>
          <a:lstStyle>
            <a:defPPr>
              <a:defRPr lang="ko-KR"/>
            </a:defPPr>
            <a:lvl1pPr algn="r">
              <a:defRPr sz="900">
                <a:solidFill>
                  <a:schemeClr val="tx1">
                    <a:lumMod val="50000"/>
                    <a:lumOff val="50000"/>
                  </a:schemeClr>
                </a:solidFill>
                <a:latin typeface="SamsungOne 300" panose="020B0303030303020204" pitchFamily="34" charset="0"/>
                <a:ea typeface="SamsungOne 300" panose="020B0303030303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lvl="0" defTabSz="914094" latinLnBrk="1">
              <a:defRPr/>
            </a:pPr>
            <a:r>
              <a:rPr lang="en-US" altLang="ko-KR" sz="900" dirty="0">
                <a:solidFill>
                  <a:schemeClr val="bg1">
                    <a:lumMod val="50000"/>
                  </a:schemeClr>
                </a:solidFill>
                <a:latin typeface="Samsung Sharp Sans Medium" pitchFamily="2" charset="0"/>
                <a:ea typeface="Samsung Sharp Sans Medium" pitchFamily="2" charset="0"/>
                <a:cs typeface="Samsung Sharp Sans Medium" pitchFamily="2" charset="0"/>
              </a:rPr>
              <a:t>Project Name</a:t>
            </a:r>
          </a:p>
        </p:txBody>
      </p:sp>
    </p:spTree>
    <p:extLst>
      <p:ext uri="{BB962C8B-B14F-4D97-AF65-F5344CB8AC3E}">
        <p14:creationId xmlns:p14="http://schemas.microsoft.com/office/powerpoint/2010/main" val="1343950608"/>
      </p:ext>
    </p:extLst>
  </p:cSld>
  <p:clrMapOvr>
    <a:masterClrMapping/>
  </p:clrMapOvr>
  <p:extLst>
    <p:ext uri="{DCECCB84-F9BA-43D5-87BE-67443E8EF086}">
      <p15:sldGuideLst xmlns:p15="http://schemas.microsoft.com/office/powerpoint/2012/main">
        <p15:guide id="1" orient="horz" pos="2160">
          <p15:clr>
            <a:srgbClr val="FBAE40"/>
          </p15:clr>
        </p15:guide>
        <p15:guide id="2" pos="285">
          <p15:clr>
            <a:srgbClr val="FBAE40"/>
          </p15:clr>
        </p15:guide>
        <p15:guide id="3" pos="595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last">
    <p:spTree>
      <p:nvGrpSpPr>
        <p:cNvPr id="1" name=""/>
        <p:cNvGrpSpPr/>
        <p:nvPr/>
      </p:nvGrpSpPr>
      <p:grpSpPr>
        <a:xfrm>
          <a:off x="0" y="0"/>
          <a:ext cx="0" cy="0"/>
          <a:chOff x="0" y="0"/>
          <a:chExt cx="0" cy="0"/>
        </a:xfrm>
      </p:grpSpPr>
      <p:pic>
        <p:nvPicPr>
          <p:cNvPr id="6" name="그림 2">
            <a:extLst>
              <a:ext uri="{FF2B5EF4-FFF2-40B4-BE49-F238E27FC236}">
                <a16:creationId xmlns:a16="http://schemas.microsoft.com/office/drawing/2014/main" id="{C441AFAB-5BBF-465C-B7A8-FED86E62617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4395"/>
            <a:ext cx="9899651" cy="6853605"/>
          </a:xfrm>
          <a:prstGeom prst="rect">
            <a:avLst/>
          </a:prstGeom>
        </p:spPr>
      </p:pic>
      <p:sp>
        <p:nvSpPr>
          <p:cNvPr id="2" name="직사각형 1"/>
          <p:cNvSpPr/>
          <p:nvPr userDrawn="1"/>
        </p:nvSpPr>
        <p:spPr>
          <a:xfrm>
            <a:off x="2" y="0"/>
            <a:ext cx="9899651" cy="6858000"/>
          </a:xfrm>
          <a:prstGeom prst="rect">
            <a:avLst/>
          </a:prstGeom>
          <a:solidFill>
            <a:srgbClr val="1428A0">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959" dirty="0"/>
          </a:p>
        </p:txBody>
      </p:sp>
      <p:sp>
        <p:nvSpPr>
          <p:cNvPr id="7" name="직사각형 6">
            <a:extLst>
              <a:ext uri="{FF2B5EF4-FFF2-40B4-BE49-F238E27FC236}">
                <a16:creationId xmlns:a16="http://schemas.microsoft.com/office/drawing/2014/main" id="{782B242C-8600-47F0-98D5-6EA512C41BF2}"/>
              </a:ext>
            </a:extLst>
          </p:cNvPr>
          <p:cNvSpPr/>
          <p:nvPr userDrawn="1"/>
        </p:nvSpPr>
        <p:spPr>
          <a:xfrm>
            <a:off x="449468" y="5677032"/>
            <a:ext cx="9000714" cy="73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 panose="020B0503030303020204" pitchFamily="34" charset="0"/>
                <a:cs typeface="+mn-cs"/>
              </a:rPr>
              <a:t>ⓒ</a:t>
            </a: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2025 SAMSUNG. All rights reserved.</a:t>
            </a:r>
          </a:p>
          <a:p>
            <a:pPr marL="0" marR="0" lvl="0" indent="0" algn="l" defTabSz="914126" rtl="0" eaLnBrk="1" fontAlgn="auto" latinLnBrk="1" hangingPunct="1">
              <a:lnSpc>
                <a:spcPct val="100000"/>
              </a:lnSpc>
              <a:spcBef>
                <a:spcPts val="6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Samsung Electronics Corporate Citizenship Office holds the copyright of book.</a:t>
            </a:r>
          </a:p>
          <a:p>
            <a:pPr marL="0" marR="0" lvl="0" indent="0" algn="l" defTabSz="914126" rtl="0" eaLnBrk="1" fontAlgn="auto" latinLnBrk="1" hangingPunct="1">
              <a:lnSpc>
                <a:spcPct val="100000"/>
              </a:lnSpc>
              <a:spcBef>
                <a:spcPts val="30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This book is a literary property protected by copyright law so reprint and reproduction without permission are prohibited. </a:t>
            </a:r>
          </a:p>
          <a:p>
            <a:pPr marL="0" marR="0" lvl="0" indent="0" algn="l" defTabSz="914126"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SamsungOne 400C" panose="020B0506030303020204" pitchFamily="34" charset="0"/>
                <a:ea typeface="SamsungOne 400C" panose="020B0506030303020204" pitchFamily="34" charset="0"/>
                <a:cs typeface="+mn-cs"/>
              </a:rPr>
              <a:t>To use this book other than the curriculum of Samsung Innovation Campus or to use the entire or part of this book, you must receive written consent from copyright holder.</a:t>
            </a:r>
          </a:p>
        </p:txBody>
      </p:sp>
      <p:pic>
        <p:nvPicPr>
          <p:cNvPr id="10" name="그림 3">
            <a:extLst>
              <a:ext uri="{FF2B5EF4-FFF2-40B4-BE49-F238E27FC236}">
                <a16:creationId xmlns:a16="http://schemas.microsoft.com/office/drawing/2014/main" id="{A977D3D7-ABF1-4BDD-B1E5-CCA79CC8184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1822" y="3022951"/>
            <a:ext cx="2476006" cy="812098"/>
          </a:xfrm>
          <a:prstGeom prst="rect">
            <a:avLst/>
          </a:prstGeom>
        </p:spPr>
      </p:pic>
      <p:sp>
        <p:nvSpPr>
          <p:cNvPr id="9"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90568"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chemeClr val="bg1"/>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spTree>
    <p:extLst>
      <p:ext uri="{BB962C8B-B14F-4D97-AF65-F5344CB8AC3E}">
        <p14:creationId xmlns:p14="http://schemas.microsoft.com/office/powerpoint/2010/main" val="12278341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19"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1_Body">
    <p:bg>
      <p:bgPr>
        <a:solidFill>
          <a:schemeClr val="bg1">
            <a:lumMod val="95000"/>
          </a:schemeClr>
        </a:solidFill>
        <a:effectLst/>
      </p:bgPr>
    </p:bg>
    <p:spTree>
      <p:nvGrpSpPr>
        <p:cNvPr id="1" name=""/>
        <p:cNvGrpSpPr/>
        <p:nvPr/>
      </p:nvGrpSpPr>
      <p:grpSpPr>
        <a:xfrm>
          <a:off x="0" y="0"/>
          <a:ext cx="0" cy="0"/>
          <a:chOff x="0" y="0"/>
          <a:chExt cx="0" cy="0"/>
        </a:xfrm>
      </p:grpSpPr>
      <p:pic>
        <p:nvPicPr>
          <p:cNvPr id="3" name="그림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902825" cy="6858000"/>
          </a:xfrm>
          <a:prstGeom prst="rect">
            <a:avLst/>
          </a:prstGeom>
        </p:spPr>
      </p:pic>
      <p:sp>
        <p:nvSpPr>
          <p:cNvPr id="5" name="Freeform 5">
            <a:extLst>
              <a:ext uri="{FF2B5EF4-FFF2-40B4-BE49-F238E27FC236}">
                <a16:creationId xmlns:a16="http://schemas.microsoft.com/office/drawing/2014/main" id="{0D8AEED9-5E8F-4A4F-8427-AE314BEC60F8}"/>
              </a:ext>
            </a:extLst>
          </p:cNvPr>
          <p:cNvSpPr>
            <a:spLocks noChangeAspect="1" noEditPoints="1"/>
          </p:cNvSpPr>
          <p:nvPr userDrawn="1"/>
        </p:nvSpPr>
        <p:spPr bwMode="auto">
          <a:xfrm>
            <a:off x="449468" y="450000"/>
            <a:ext cx="1282022" cy="198000"/>
          </a:xfrm>
          <a:custGeom>
            <a:avLst/>
            <a:gdLst>
              <a:gd name="T0" fmla="*/ 82 w 2179"/>
              <a:gd name="T1" fmla="*/ 74 h 334"/>
              <a:gd name="T2" fmla="*/ 140 w 2179"/>
              <a:gd name="T3" fmla="*/ 82 h 334"/>
              <a:gd name="T4" fmla="*/ 218 w 2179"/>
              <a:gd name="T5" fmla="*/ 101 h 334"/>
              <a:gd name="T6" fmla="*/ 112 w 2179"/>
              <a:gd name="T7" fmla="*/ 0 h 334"/>
              <a:gd name="T8" fmla="*/ 4 w 2179"/>
              <a:gd name="T9" fmla="*/ 112 h 334"/>
              <a:gd name="T10" fmla="*/ 145 w 2179"/>
              <a:gd name="T11" fmla="*/ 257 h 334"/>
              <a:gd name="T12" fmla="*/ 84 w 2179"/>
              <a:gd name="T13" fmla="*/ 250 h 334"/>
              <a:gd name="T14" fmla="*/ 0 w 2179"/>
              <a:gd name="T15" fmla="*/ 220 h 334"/>
              <a:gd name="T16" fmla="*/ 113 w 2179"/>
              <a:gd name="T17" fmla="*/ 334 h 334"/>
              <a:gd name="T18" fmla="*/ 223 w 2179"/>
              <a:gd name="T19" fmla="*/ 212 h 334"/>
              <a:gd name="T20" fmla="*/ 1096 w 2179"/>
              <a:gd name="T21" fmla="*/ 91 h 334"/>
              <a:gd name="T22" fmla="*/ 1124 w 2179"/>
              <a:gd name="T23" fmla="*/ 54 h 334"/>
              <a:gd name="T24" fmla="*/ 1152 w 2179"/>
              <a:gd name="T25" fmla="*/ 102 h 334"/>
              <a:gd name="T26" fmla="*/ 1229 w 2179"/>
              <a:gd name="T27" fmla="*/ 80 h 334"/>
              <a:gd name="T28" fmla="*/ 1017 w 2179"/>
              <a:gd name="T29" fmla="*/ 71 h 334"/>
              <a:gd name="T30" fmla="*/ 1157 w 2179"/>
              <a:gd name="T31" fmla="*/ 233 h 334"/>
              <a:gd name="T32" fmla="*/ 1128 w 2179"/>
              <a:gd name="T33" fmla="*/ 277 h 334"/>
              <a:gd name="T34" fmla="*/ 1097 w 2179"/>
              <a:gd name="T35" fmla="*/ 219 h 334"/>
              <a:gd name="T36" fmla="*/ 1014 w 2179"/>
              <a:gd name="T37" fmla="*/ 243 h 334"/>
              <a:gd name="T38" fmla="*/ 1235 w 2179"/>
              <a:gd name="T39" fmla="*/ 262 h 334"/>
              <a:gd name="T40" fmla="*/ 1096 w 2179"/>
              <a:gd name="T41" fmla="*/ 91 h 334"/>
              <a:gd name="T42" fmla="*/ 1730 w 2179"/>
              <a:gd name="T43" fmla="*/ 10 h 334"/>
              <a:gd name="T44" fmla="*/ 1614 w 2179"/>
              <a:gd name="T45" fmla="*/ 319 h 334"/>
              <a:gd name="T46" fmla="*/ 1686 w 2179"/>
              <a:gd name="T47" fmla="*/ 60 h 334"/>
              <a:gd name="T48" fmla="*/ 1876 w 2179"/>
              <a:gd name="T49" fmla="*/ 319 h 334"/>
              <a:gd name="T50" fmla="*/ 1799 w 2179"/>
              <a:gd name="T51" fmla="*/ 10 h 334"/>
              <a:gd name="T52" fmla="*/ 333 w 2179"/>
              <a:gd name="T53" fmla="*/ 10 h 334"/>
              <a:gd name="T54" fmla="*/ 360 w 2179"/>
              <a:gd name="T55" fmla="*/ 322 h 334"/>
              <a:gd name="T56" fmla="*/ 446 w 2179"/>
              <a:gd name="T57" fmla="*/ 322 h 334"/>
              <a:gd name="T58" fmla="*/ 472 w 2179"/>
              <a:gd name="T59" fmla="*/ 10 h 334"/>
              <a:gd name="T60" fmla="*/ 804 w 2179"/>
              <a:gd name="T61" fmla="*/ 10 h 334"/>
              <a:gd name="T62" fmla="*/ 725 w 2179"/>
              <a:gd name="T63" fmla="*/ 10 h 334"/>
              <a:gd name="T64" fmla="*/ 592 w 2179"/>
              <a:gd name="T65" fmla="*/ 322 h 334"/>
              <a:gd name="T66" fmla="*/ 671 w 2179"/>
              <a:gd name="T67" fmla="*/ 33 h 334"/>
              <a:gd name="T68" fmla="*/ 804 w 2179"/>
              <a:gd name="T69" fmla="*/ 322 h 334"/>
              <a:gd name="T70" fmla="*/ 860 w 2179"/>
              <a:gd name="T71" fmla="*/ 322 h 334"/>
              <a:gd name="T72" fmla="*/ 931 w 2179"/>
              <a:gd name="T73" fmla="*/ 10 h 334"/>
              <a:gd name="T74" fmla="*/ 1528 w 2179"/>
              <a:gd name="T75" fmla="*/ 10 h 334"/>
              <a:gd name="T76" fmla="*/ 1449 w 2179"/>
              <a:gd name="T77" fmla="*/ 241 h 334"/>
              <a:gd name="T78" fmla="*/ 1418 w 2179"/>
              <a:gd name="T79" fmla="*/ 275 h 334"/>
              <a:gd name="T80" fmla="*/ 1388 w 2179"/>
              <a:gd name="T81" fmla="*/ 241 h 334"/>
              <a:gd name="T82" fmla="*/ 1309 w 2179"/>
              <a:gd name="T83" fmla="*/ 10 h 334"/>
              <a:gd name="T84" fmla="*/ 1310 w 2179"/>
              <a:gd name="T85" fmla="*/ 254 h 334"/>
              <a:gd name="T86" fmla="*/ 1527 w 2179"/>
              <a:gd name="T87" fmla="*/ 254 h 334"/>
              <a:gd name="T88" fmla="*/ 1528 w 2179"/>
              <a:gd name="T89" fmla="*/ 10 h 334"/>
              <a:gd name="T90" fmla="*/ 2069 w 2179"/>
              <a:gd name="T91" fmla="*/ 192 h 334"/>
              <a:gd name="T92" fmla="*/ 2101 w 2179"/>
              <a:gd name="T93" fmla="*/ 237 h 334"/>
              <a:gd name="T94" fmla="*/ 2068 w 2179"/>
              <a:gd name="T95" fmla="*/ 272 h 334"/>
              <a:gd name="T96" fmla="*/ 2035 w 2179"/>
              <a:gd name="T97" fmla="*/ 237 h 334"/>
              <a:gd name="T98" fmla="*/ 2037 w 2179"/>
              <a:gd name="T99" fmla="*/ 80 h 334"/>
              <a:gd name="T100" fmla="*/ 2099 w 2179"/>
              <a:gd name="T101" fmla="*/ 80 h 334"/>
              <a:gd name="T102" fmla="*/ 2100 w 2179"/>
              <a:gd name="T103" fmla="*/ 110 h 334"/>
              <a:gd name="T104" fmla="*/ 2178 w 2179"/>
              <a:gd name="T105" fmla="*/ 99 h 334"/>
              <a:gd name="T106" fmla="*/ 2068 w 2179"/>
              <a:gd name="T107" fmla="*/ 2 h 334"/>
              <a:gd name="T108" fmla="*/ 1958 w 2179"/>
              <a:gd name="T109" fmla="*/ 99 h 334"/>
              <a:gd name="T110" fmla="*/ 1959 w 2179"/>
              <a:gd name="T111" fmla="*/ 251 h 334"/>
              <a:gd name="T112" fmla="*/ 2178 w 2179"/>
              <a:gd name="T113" fmla="*/ 251 h 334"/>
              <a:gd name="T114" fmla="*/ 2179 w 2179"/>
              <a:gd name="T115" fmla="*/ 147 h 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179" h="334">
                <a:moveTo>
                  <a:pt x="83" y="91"/>
                </a:moveTo>
                <a:cubicBezTo>
                  <a:pt x="81" y="84"/>
                  <a:pt x="82" y="78"/>
                  <a:pt x="82" y="74"/>
                </a:cubicBezTo>
                <a:cubicBezTo>
                  <a:pt x="84" y="64"/>
                  <a:pt x="91" y="53"/>
                  <a:pt x="111" y="53"/>
                </a:cubicBezTo>
                <a:cubicBezTo>
                  <a:pt x="129" y="53"/>
                  <a:pt x="140" y="65"/>
                  <a:pt x="140" y="82"/>
                </a:cubicBezTo>
                <a:cubicBezTo>
                  <a:pt x="140" y="101"/>
                  <a:pt x="140" y="101"/>
                  <a:pt x="140" y="101"/>
                </a:cubicBezTo>
                <a:cubicBezTo>
                  <a:pt x="218" y="101"/>
                  <a:pt x="218" y="101"/>
                  <a:pt x="218" y="101"/>
                </a:cubicBezTo>
                <a:cubicBezTo>
                  <a:pt x="218" y="79"/>
                  <a:pt x="218" y="79"/>
                  <a:pt x="218" y="79"/>
                </a:cubicBezTo>
                <a:cubicBezTo>
                  <a:pt x="218" y="11"/>
                  <a:pt x="156" y="0"/>
                  <a:pt x="112" y="0"/>
                </a:cubicBezTo>
                <a:cubicBezTo>
                  <a:pt x="57" y="0"/>
                  <a:pt x="12" y="19"/>
                  <a:pt x="4" y="70"/>
                </a:cubicBezTo>
                <a:cubicBezTo>
                  <a:pt x="1" y="84"/>
                  <a:pt x="1" y="96"/>
                  <a:pt x="4" y="112"/>
                </a:cubicBezTo>
                <a:cubicBezTo>
                  <a:pt x="18" y="175"/>
                  <a:pt x="128" y="194"/>
                  <a:pt x="145" y="234"/>
                </a:cubicBezTo>
                <a:cubicBezTo>
                  <a:pt x="148" y="241"/>
                  <a:pt x="147" y="251"/>
                  <a:pt x="145" y="257"/>
                </a:cubicBezTo>
                <a:cubicBezTo>
                  <a:pt x="143" y="267"/>
                  <a:pt x="136" y="278"/>
                  <a:pt x="115" y="278"/>
                </a:cubicBezTo>
                <a:cubicBezTo>
                  <a:pt x="95" y="278"/>
                  <a:pt x="84" y="267"/>
                  <a:pt x="84" y="250"/>
                </a:cubicBezTo>
                <a:cubicBezTo>
                  <a:pt x="83" y="220"/>
                  <a:pt x="83" y="220"/>
                  <a:pt x="83" y="220"/>
                </a:cubicBezTo>
                <a:cubicBezTo>
                  <a:pt x="0" y="220"/>
                  <a:pt x="0" y="220"/>
                  <a:pt x="0" y="220"/>
                </a:cubicBezTo>
                <a:cubicBezTo>
                  <a:pt x="0" y="244"/>
                  <a:pt x="0" y="244"/>
                  <a:pt x="0" y="244"/>
                </a:cubicBezTo>
                <a:cubicBezTo>
                  <a:pt x="0" y="313"/>
                  <a:pt x="55" y="334"/>
                  <a:pt x="113" y="334"/>
                </a:cubicBezTo>
                <a:cubicBezTo>
                  <a:pt x="169" y="334"/>
                  <a:pt x="216" y="315"/>
                  <a:pt x="223" y="263"/>
                </a:cubicBezTo>
                <a:cubicBezTo>
                  <a:pt x="227" y="236"/>
                  <a:pt x="224" y="218"/>
                  <a:pt x="223" y="212"/>
                </a:cubicBezTo>
                <a:cubicBezTo>
                  <a:pt x="210" y="146"/>
                  <a:pt x="92" y="127"/>
                  <a:pt x="83" y="91"/>
                </a:cubicBezTo>
                <a:moveTo>
                  <a:pt x="1096" y="91"/>
                </a:moveTo>
                <a:cubicBezTo>
                  <a:pt x="1094" y="85"/>
                  <a:pt x="1095" y="79"/>
                  <a:pt x="1096" y="75"/>
                </a:cubicBezTo>
                <a:cubicBezTo>
                  <a:pt x="1098" y="65"/>
                  <a:pt x="1104" y="54"/>
                  <a:pt x="1124" y="54"/>
                </a:cubicBezTo>
                <a:cubicBezTo>
                  <a:pt x="1142" y="54"/>
                  <a:pt x="1152" y="66"/>
                  <a:pt x="1152" y="82"/>
                </a:cubicBezTo>
                <a:cubicBezTo>
                  <a:pt x="1152" y="102"/>
                  <a:pt x="1152" y="102"/>
                  <a:pt x="1152" y="102"/>
                </a:cubicBezTo>
                <a:cubicBezTo>
                  <a:pt x="1229" y="102"/>
                  <a:pt x="1229" y="102"/>
                  <a:pt x="1229" y="102"/>
                </a:cubicBezTo>
                <a:cubicBezTo>
                  <a:pt x="1229" y="80"/>
                  <a:pt x="1229" y="80"/>
                  <a:pt x="1229" y="80"/>
                </a:cubicBezTo>
                <a:cubicBezTo>
                  <a:pt x="1229" y="13"/>
                  <a:pt x="1169" y="2"/>
                  <a:pt x="1125" y="2"/>
                </a:cubicBezTo>
                <a:cubicBezTo>
                  <a:pt x="1070" y="2"/>
                  <a:pt x="1026" y="20"/>
                  <a:pt x="1017" y="71"/>
                </a:cubicBezTo>
                <a:cubicBezTo>
                  <a:pt x="1015" y="84"/>
                  <a:pt x="1015" y="97"/>
                  <a:pt x="1018" y="112"/>
                </a:cubicBezTo>
                <a:cubicBezTo>
                  <a:pt x="1032" y="175"/>
                  <a:pt x="1141" y="193"/>
                  <a:pt x="1157" y="233"/>
                </a:cubicBezTo>
                <a:cubicBezTo>
                  <a:pt x="1160" y="241"/>
                  <a:pt x="1159" y="250"/>
                  <a:pt x="1158" y="256"/>
                </a:cubicBezTo>
                <a:cubicBezTo>
                  <a:pt x="1155" y="267"/>
                  <a:pt x="1148" y="277"/>
                  <a:pt x="1128" y="277"/>
                </a:cubicBezTo>
                <a:cubicBezTo>
                  <a:pt x="1108" y="277"/>
                  <a:pt x="1097" y="266"/>
                  <a:pt x="1097" y="249"/>
                </a:cubicBezTo>
                <a:cubicBezTo>
                  <a:pt x="1097" y="219"/>
                  <a:pt x="1097" y="219"/>
                  <a:pt x="1097" y="219"/>
                </a:cubicBezTo>
                <a:cubicBezTo>
                  <a:pt x="1014" y="219"/>
                  <a:pt x="1014" y="219"/>
                  <a:pt x="1014" y="219"/>
                </a:cubicBezTo>
                <a:cubicBezTo>
                  <a:pt x="1014" y="243"/>
                  <a:pt x="1014" y="243"/>
                  <a:pt x="1014" y="243"/>
                </a:cubicBezTo>
                <a:cubicBezTo>
                  <a:pt x="1014" y="312"/>
                  <a:pt x="1068" y="332"/>
                  <a:pt x="1126" y="332"/>
                </a:cubicBezTo>
                <a:cubicBezTo>
                  <a:pt x="1182" y="332"/>
                  <a:pt x="1228" y="313"/>
                  <a:pt x="1235" y="262"/>
                </a:cubicBezTo>
                <a:cubicBezTo>
                  <a:pt x="1238" y="235"/>
                  <a:pt x="1236" y="218"/>
                  <a:pt x="1234" y="211"/>
                </a:cubicBezTo>
                <a:cubicBezTo>
                  <a:pt x="1221" y="147"/>
                  <a:pt x="1105" y="127"/>
                  <a:pt x="1096" y="91"/>
                </a:cubicBezTo>
                <a:moveTo>
                  <a:pt x="1803" y="261"/>
                </a:moveTo>
                <a:cubicBezTo>
                  <a:pt x="1730" y="10"/>
                  <a:pt x="1730" y="10"/>
                  <a:pt x="1730" y="10"/>
                </a:cubicBezTo>
                <a:cubicBezTo>
                  <a:pt x="1614" y="10"/>
                  <a:pt x="1614" y="10"/>
                  <a:pt x="1614" y="10"/>
                </a:cubicBezTo>
                <a:cubicBezTo>
                  <a:pt x="1614" y="319"/>
                  <a:pt x="1614" y="319"/>
                  <a:pt x="1614" y="319"/>
                </a:cubicBezTo>
                <a:cubicBezTo>
                  <a:pt x="1691" y="319"/>
                  <a:pt x="1691" y="319"/>
                  <a:pt x="1691" y="319"/>
                </a:cubicBezTo>
                <a:cubicBezTo>
                  <a:pt x="1686" y="60"/>
                  <a:pt x="1686" y="60"/>
                  <a:pt x="1686" y="60"/>
                </a:cubicBezTo>
                <a:cubicBezTo>
                  <a:pt x="1765" y="319"/>
                  <a:pt x="1765" y="319"/>
                  <a:pt x="1765" y="319"/>
                </a:cubicBezTo>
                <a:cubicBezTo>
                  <a:pt x="1876" y="319"/>
                  <a:pt x="1876" y="319"/>
                  <a:pt x="1876" y="319"/>
                </a:cubicBezTo>
                <a:cubicBezTo>
                  <a:pt x="1876" y="10"/>
                  <a:pt x="1876" y="10"/>
                  <a:pt x="1876" y="10"/>
                </a:cubicBezTo>
                <a:cubicBezTo>
                  <a:pt x="1799" y="10"/>
                  <a:pt x="1799" y="10"/>
                  <a:pt x="1799" y="10"/>
                </a:cubicBezTo>
                <a:lnTo>
                  <a:pt x="1803" y="261"/>
                </a:lnTo>
                <a:close/>
                <a:moveTo>
                  <a:pt x="333" y="10"/>
                </a:moveTo>
                <a:cubicBezTo>
                  <a:pt x="276" y="322"/>
                  <a:pt x="276" y="322"/>
                  <a:pt x="276" y="322"/>
                </a:cubicBezTo>
                <a:cubicBezTo>
                  <a:pt x="360" y="322"/>
                  <a:pt x="360" y="322"/>
                  <a:pt x="360" y="322"/>
                </a:cubicBezTo>
                <a:cubicBezTo>
                  <a:pt x="403" y="33"/>
                  <a:pt x="403" y="33"/>
                  <a:pt x="403" y="33"/>
                </a:cubicBezTo>
                <a:cubicBezTo>
                  <a:pt x="446" y="322"/>
                  <a:pt x="446" y="322"/>
                  <a:pt x="446" y="322"/>
                </a:cubicBezTo>
                <a:cubicBezTo>
                  <a:pt x="529" y="322"/>
                  <a:pt x="529" y="322"/>
                  <a:pt x="529" y="322"/>
                </a:cubicBezTo>
                <a:cubicBezTo>
                  <a:pt x="472" y="10"/>
                  <a:pt x="472" y="10"/>
                  <a:pt x="472" y="10"/>
                </a:cubicBezTo>
                <a:lnTo>
                  <a:pt x="333" y="10"/>
                </a:lnTo>
                <a:close/>
                <a:moveTo>
                  <a:pt x="804" y="10"/>
                </a:moveTo>
                <a:cubicBezTo>
                  <a:pt x="765" y="254"/>
                  <a:pt x="765" y="254"/>
                  <a:pt x="765" y="254"/>
                </a:cubicBezTo>
                <a:cubicBezTo>
                  <a:pt x="725" y="10"/>
                  <a:pt x="725" y="10"/>
                  <a:pt x="725" y="10"/>
                </a:cubicBezTo>
                <a:cubicBezTo>
                  <a:pt x="598" y="10"/>
                  <a:pt x="598" y="10"/>
                  <a:pt x="598" y="10"/>
                </a:cubicBezTo>
                <a:cubicBezTo>
                  <a:pt x="592" y="322"/>
                  <a:pt x="592" y="322"/>
                  <a:pt x="592" y="322"/>
                </a:cubicBezTo>
                <a:cubicBezTo>
                  <a:pt x="669" y="322"/>
                  <a:pt x="669" y="322"/>
                  <a:pt x="669" y="322"/>
                </a:cubicBezTo>
                <a:cubicBezTo>
                  <a:pt x="671" y="33"/>
                  <a:pt x="671" y="33"/>
                  <a:pt x="671" y="33"/>
                </a:cubicBezTo>
                <a:cubicBezTo>
                  <a:pt x="725" y="322"/>
                  <a:pt x="725" y="322"/>
                  <a:pt x="725" y="322"/>
                </a:cubicBezTo>
                <a:cubicBezTo>
                  <a:pt x="804" y="322"/>
                  <a:pt x="804" y="322"/>
                  <a:pt x="804" y="322"/>
                </a:cubicBezTo>
                <a:cubicBezTo>
                  <a:pt x="858" y="33"/>
                  <a:pt x="858" y="33"/>
                  <a:pt x="858" y="33"/>
                </a:cubicBezTo>
                <a:cubicBezTo>
                  <a:pt x="860" y="322"/>
                  <a:pt x="860" y="322"/>
                  <a:pt x="860" y="322"/>
                </a:cubicBezTo>
                <a:cubicBezTo>
                  <a:pt x="938" y="322"/>
                  <a:pt x="938" y="322"/>
                  <a:pt x="938" y="322"/>
                </a:cubicBezTo>
                <a:cubicBezTo>
                  <a:pt x="931" y="10"/>
                  <a:pt x="931" y="10"/>
                  <a:pt x="931" y="10"/>
                </a:cubicBezTo>
                <a:lnTo>
                  <a:pt x="804" y="10"/>
                </a:lnTo>
                <a:close/>
                <a:moveTo>
                  <a:pt x="1528" y="10"/>
                </a:moveTo>
                <a:cubicBezTo>
                  <a:pt x="1449" y="10"/>
                  <a:pt x="1449" y="10"/>
                  <a:pt x="1449" y="10"/>
                </a:cubicBezTo>
                <a:cubicBezTo>
                  <a:pt x="1449" y="241"/>
                  <a:pt x="1449" y="241"/>
                  <a:pt x="1449" y="241"/>
                </a:cubicBezTo>
                <a:cubicBezTo>
                  <a:pt x="1449" y="245"/>
                  <a:pt x="1449" y="249"/>
                  <a:pt x="1448" y="253"/>
                </a:cubicBezTo>
                <a:cubicBezTo>
                  <a:pt x="1447" y="260"/>
                  <a:pt x="1440" y="275"/>
                  <a:pt x="1418" y="275"/>
                </a:cubicBezTo>
                <a:cubicBezTo>
                  <a:pt x="1397" y="275"/>
                  <a:pt x="1390" y="260"/>
                  <a:pt x="1389" y="253"/>
                </a:cubicBezTo>
                <a:cubicBezTo>
                  <a:pt x="1388" y="249"/>
                  <a:pt x="1388" y="245"/>
                  <a:pt x="1388" y="241"/>
                </a:cubicBezTo>
                <a:cubicBezTo>
                  <a:pt x="1388" y="10"/>
                  <a:pt x="1388" y="10"/>
                  <a:pt x="1388" y="10"/>
                </a:cubicBezTo>
                <a:cubicBezTo>
                  <a:pt x="1309" y="10"/>
                  <a:pt x="1309" y="10"/>
                  <a:pt x="1309" y="10"/>
                </a:cubicBezTo>
                <a:cubicBezTo>
                  <a:pt x="1309" y="234"/>
                  <a:pt x="1309" y="234"/>
                  <a:pt x="1309" y="234"/>
                </a:cubicBezTo>
                <a:cubicBezTo>
                  <a:pt x="1309" y="239"/>
                  <a:pt x="1309" y="251"/>
                  <a:pt x="1310" y="254"/>
                </a:cubicBezTo>
                <a:cubicBezTo>
                  <a:pt x="1315" y="312"/>
                  <a:pt x="1361" y="331"/>
                  <a:pt x="1418" y="331"/>
                </a:cubicBezTo>
                <a:cubicBezTo>
                  <a:pt x="1476" y="331"/>
                  <a:pt x="1522" y="312"/>
                  <a:pt x="1527" y="254"/>
                </a:cubicBezTo>
                <a:cubicBezTo>
                  <a:pt x="1528" y="251"/>
                  <a:pt x="1528" y="239"/>
                  <a:pt x="1528" y="234"/>
                </a:cubicBezTo>
                <a:lnTo>
                  <a:pt x="1528" y="10"/>
                </a:lnTo>
                <a:close/>
                <a:moveTo>
                  <a:pt x="2069" y="147"/>
                </a:moveTo>
                <a:cubicBezTo>
                  <a:pt x="2069" y="192"/>
                  <a:pt x="2069" y="192"/>
                  <a:pt x="2069" y="192"/>
                </a:cubicBezTo>
                <a:cubicBezTo>
                  <a:pt x="2101" y="192"/>
                  <a:pt x="2101" y="192"/>
                  <a:pt x="2101" y="192"/>
                </a:cubicBezTo>
                <a:cubicBezTo>
                  <a:pt x="2101" y="237"/>
                  <a:pt x="2101" y="237"/>
                  <a:pt x="2101" y="237"/>
                </a:cubicBezTo>
                <a:cubicBezTo>
                  <a:pt x="2101" y="241"/>
                  <a:pt x="2101" y="246"/>
                  <a:pt x="2100" y="249"/>
                </a:cubicBezTo>
                <a:cubicBezTo>
                  <a:pt x="2099" y="258"/>
                  <a:pt x="2091" y="272"/>
                  <a:pt x="2068" y="272"/>
                </a:cubicBezTo>
                <a:cubicBezTo>
                  <a:pt x="2045" y="272"/>
                  <a:pt x="2038" y="258"/>
                  <a:pt x="2036" y="249"/>
                </a:cubicBezTo>
                <a:cubicBezTo>
                  <a:pt x="2036" y="246"/>
                  <a:pt x="2035" y="241"/>
                  <a:pt x="2035" y="237"/>
                </a:cubicBezTo>
                <a:cubicBezTo>
                  <a:pt x="2035" y="95"/>
                  <a:pt x="2035" y="95"/>
                  <a:pt x="2035" y="95"/>
                </a:cubicBezTo>
                <a:cubicBezTo>
                  <a:pt x="2035" y="90"/>
                  <a:pt x="2036" y="85"/>
                  <a:pt x="2037" y="80"/>
                </a:cubicBezTo>
                <a:cubicBezTo>
                  <a:pt x="2038" y="73"/>
                  <a:pt x="2045" y="58"/>
                  <a:pt x="2068" y="58"/>
                </a:cubicBezTo>
                <a:cubicBezTo>
                  <a:pt x="2092" y="58"/>
                  <a:pt x="2098" y="74"/>
                  <a:pt x="2099" y="80"/>
                </a:cubicBezTo>
                <a:cubicBezTo>
                  <a:pt x="2100" y="85"/>
                  <a:pt x="2100" y="92"/>
                  <a:pt x="2100" y="92"/>
                </a:cubicBezTo>
                <a:cubicBezTo>
                  <a:pt x="2100" y="110"/>
                  <a:pt x="2100" y="110"/>
                  <a:pt x="2100" y="110"/>
                </a:cubicBezTo>
                <a:cubicBezTo>
                  <a:pt x="2178" y="110"/>
                  <a:pt x="2178" y="110"/>
                  <a:pt x="2178" y="110"/>
                </a:cubicBezTo>
                <a:cubicBezTo>
                  <a:pt x="2178" y="99"/>
                  <a:pt x="2178" y="99"/>
                  <a:pt x="2178" y="99"/>
                </a:cubicBezTo>
                <a:cubicBezTo>
                  <a:pt x="2178" y="99"/>
                  <a:pt x="2179" y="89"/>
                  <a:pt x="2178" y="79"/>
                </a:cubicBezTo>
                <a:cubicBezTo>
                  <a:pt x="2172" y="20"/>
                  <a:pt x="2124" y="2"/>
                  <a:pt x="2068" y="2"/>
                </a:cubicBezTo>
                <a:cubicBezTo>
                  <a:pt x="2013" y="2"/>
                  <a:pt x="1966" y="21"/>
                  <a:pt x="1959" y="79"/>
                </a:cubicBezTo>
                <a:cubicBezTo>
                  <a:pt x="1958" y="84"/>
                  <a:pt x="1958" y="94"/>
                  <a:pt x="1958" y="99"/>
                </a:cubicBezTo>
                <a:cubicBezTo>
                  <a:pt x="1958" y="230"/>
                  <a:pt x="1958" y="230"/>
                  <a:pt x="1958" y="230"/>
                </a:cubicBezTo>
                <a:cubicBezTo>
                  <a:pt x="1958" y="236"/>
                  <a:pt x="1958" y="241"/>
                  <a:pt x="1959" y="251"/>
                </a:cubicBezTo>
                <a:cubicBezTo>
                  <a:pt x="1964" y="308"/>
                  <a:pt x="2013" y="328"/>
                  <a:pt x="2068" y="328"/>
                </a:cubicBezTo>
                <a:cubicBezTo>
                  <a:pt x="2124" y="328"/>
                  <a:pt x="2173" y="308"/>
                  <a:pt x="2178" y="251"/>
                </a:cubicBezTo>
                <a:cubicBezTo>
                  <a:pt x="2179" y="241"/>
                  <a:pt x="2179" y="236"/>
                  <a:pt x="2179" y="230"/>
                </a:cubicBezTo>
                <a:cubicBezTo>
                  <a:pt x="2179" y="147"/>
                  <a:pt x="2179" y="147"/>
                  <a:pt x="2179" y="147"/>
                </a:cubicBezTo>
                <a:lnTo>
                  <a:pt x="2069" y="147"/>
                </a:lnTo>
                <a:close/>
              </a:path>
            </a:pathLst>
          </a:custGeom>
          <a:solidFill>
            <a:srgbClr val="0924A5"/>
          </a:solidFill>
          <a:ln>
            <a:noFill/>
          </a:ln>
        </p:spPr>
        <p:txBody>
          <a:bodyPr vert="horz" wrap="square" lIns="91411" tIns="45705" rIns="91411" bIns="45705" numCol="1" anchor="t" anchorCtr="0" compatLnSpc="1">
            <a:prstTxWarp prst="textNoShape">
              <a:avLst/>
            </a:prstTxWarp>
            <a:scene3d>
              <a:camera prst="orthographicFront"/>
              <a:lightRig rig="threePt" dir="t"/>
            </a:scene3d>
            <a:sp3d>
              <a:bevelT w="0" h="6350"/>
            </a:sp3d>
          </a:bodyPr>
          <a:lstStyle/>
          <a:p>
            <a:pPr marL="0" marR="0" lvl="0" indent="0" algn="l" defTabSz="914126" rtl="0" eaLnBrk="1" fontAlgn="auto" latinLnBrk="1" hangingPunct="1">
              <a:lnSpc>
                <a:spcPct val="100000"/>
              </a:lnSpc>
              <a:spcBef>
                <a:spcPts val="0"/>
              </a:spcBef>
              <a:spcAft>
                <a:spcPts val="0"/>
              </a:spcAft>
              <a:buClrTx/>
              <a:buSzTx/>
              <a:buFontTx/>
              <a:buNone/>
              <a:tabLst/>
              <a:defRPr/>
            </a:pPr>
            <a:endParaRPr lang="ko-KR" altLang="en-US" sz="1959" noProof="0" dirty="0"/>
          </a:p>
        </p:txBody>
      </p:sp>
      <p:pic>
        <p:nvPicPr>
          <p:cNvPr id="8" name="그림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65631" y="6141164"/>
            <a:ext cx="1371564" cy="450000"/>
          </a:xfrm>
          <a:prstGeom prst="rect">
            <a:avLst/>
          </a:prstGeom>
        </p:spPr>
      </p:pic>
    </p:spTree>
    <p:extLst>
      <p:ext uri="{BB962C8B-B14F-4D97-AF65-F5344CB8AC3E}">
        <p14:creationId xmlns:p14="http://schemas.microsoft.com/office/powerpoint/2010/main" val="1814442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7928821"/>
      </p:ext>
    </p:extLst>
  </p:cSld>
  <p:clrMap bg1="lt1" tx1="dk1" bg2="lt2" tx2="dk2" accent1="accent1" accent2="accent2" accent3="accent3" accent4="accent4" accent5="accent5" accent6="accent6" hlink="hlink" folHlink="folHlink"/>
  <p:sldLayoutIdLst>
    <p:sldLayoutId id="2147483684" r:id="rId1"/>
    <p:sldLayoutId id="2147483691" r:id="rId2"/>
    <p:sldLayoutId id="2147483685" r:id="rId3"/>
    <p:sldLayoutId id="2147483687" r:id="rId4"/>
    <p:sldLayoutId id="2147483694" r:id="rId5"/>
    <p:sldLayoutId id="2147483693" r:id="rId6"/>
    <p:sldLayoutId id="2147483686" r:id="rId7"/>
    <p:sldLayoutId id="2147483688" r:id="rId8"/>
    <p:sldLayoutId id="2147483689" r:id="rId9"/>
    <p:sldLayoutId id="2147483690" r:id="rId10"/>
  </p:sldLayoutIdLst>
  <p:txStyles>
    <p:titleStyle>
      <a:lvl1pPr algn="l" defTabSz="914126" rtl="0" eaLnBrk="1" latinLnBrk="1"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1"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1"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1"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1"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1" hangingPunct="1">
        <a:defRPr sz="1799" kern="1200">
          <a:solidFill>
            <a:schemeClr val="tx1"/>
          </a:solidFill>
          <a:latin typeface="+mn-lt"/>
          <a:ea typeface="+mn-ea"/>
          <a:cs typeface="+mn-cs"/>
        </a:defRPr>
      </a:lvl1pPr>
      <a:lvl2pPr marL="457063" algn="l" defTabSz="914126" rtl="0" eaLnBrk="1" latinLnBrk="1" hangingPunct="1">
        <a:defRPr sz="1799" kern="1200">
          <a:solidFill>
            <a:schemeClr val="tx1"/>
          </a:solidFill>
          <a:latin typeface="+mn-lt"/>
          <a:ea typeface="+mn-ea"/>
          <a:cs typeface="+mn-cs"/>
        </a:defRPr>
      </a:lvl2pPr>
      <a:lvl3pPr marL="914126" algn="l" defTabSz="914126" rtl="0" eaLnBrk="1" latinLnBrk="1" hangingPunct="1">
        <a:defRPr sz="1799" kern="1200">
          <a:solidFill>
            <a:schemeClr val="tx1"/>
          </a:solidFill>
          <a:latin typeface="+mn-lt"/>
          <a:ea typeface="+mn-ea"/>
          <a:cs typeface="+mn-cs"/>
        </a:defRPr>
      </a:lvl3pPr>
      <a:lvl4pPr marL="1371189" algn="l" defTabSz="914126" rtl="0" eaLnBrk="1" latinLnBrk="1" hangingPunct="1">
        <a:defRPr sz="1799" kern="1200">
          <a:solidFill>
            <a:schemeClr val="tx1"/>
          </a:solidFill>
          <a:latin typeface="+mn-lt"/>
          <a:ea typeface="+mn-ea"/>
          <a:cs typeface="+mn-cs"/>
        </a:defRPr>
      </a:lvl4pPr>
      <a:lvl5pPr marL="1828251" algn="l" defTabSz="914126" rtl="0" eaLnBrk="1" latinLnBrk="1" hangingPunct="1">
        <a:defRPr sz="1799" kern="1200">
          <a:solidFill>
            <a:schemeClr val="tx1"/>
          </a:solidFill>
          <a:latin typeface="+mn-lt"/>
          <a:ea typeface="+mn-ea"/>
          <a:cs typeface="+mn-cs"/>
        </a:defRPr>
      </a:lvl5pPr>
      <a:lvl6pPr marL="2285314" algn="l" defTabSz="914126" rtl="0" eaLnBrk="1" latinLnBrk="1" hangingPunct="1">
        <a:defRPr sz="1799" kern="1200">
          <a:solidFill>
            <a:schemeClr val="tx1"/>
          </a:solidFill>
          <a:latin typeface="+mn-lt"/>
          <a:ea typeface="+mn-ea"/>
          <a:cs typeface="+mn-cs"/>
        </a:defRPr>
      </a:lvl6pPr>
      <a:lvl7pPr marL="2742377" algn="l" defTabSz="914126" rtl="0" eaLnBrk="1" latinLnBrk="1" hangingPunct="1">
        <a:defRPr sz="1799" kern="1200">
          <a:solidFill>
            <a:schemeClr val="tx1"/>
          </a:solidFill>
          <a:latin typeface="+mn-lt"/>
          <a:ea typeface="+mn-ea"/>
          <a:cs typeface="+mn-cs"/>
        </a:defRPr>
      </a:lvl7pPr>
      <a:lvl8pPr marL="3199440" algn="l" defTabSz="914126" rtl="0" eaLnBrk="1" latinLnBrk="1" hangingPunct="1">
        <a:defRPr sz="1799" kern="1200">
          <a:solidFill>
            <a:schemeClr val="tx1"/>
          </a:solidFill>
          <a:latin typeface="+mn-lt"/>
          <a:ea typeface="+mn-ea"/>
          <a:cs typeface="+mn-cs"/>
        </a:defRPr>
      </a:lvl8pPr>
      <a:lvl9pPr marL="3656503" algn="l" defTabSz="914126" rtl="0" eaLnBrk="1" latinLnBrk="1"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bg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102" name="titlebg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 name="titlebg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 name="titlebg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 name="titlebg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6" name="titlebg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 name="titlebg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 name="titlebg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9" name="titlebg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0" name="titlebg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 name="titlebg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 name="titlebg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3" name="titlebg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4" name="titlebg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 name="titlebg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 name="titlebg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7" name="titlebg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8" name="titlebg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9" name="titlebg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0" name="titlebg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1" name="titlebg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2" name="titlebg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3" name="titlebg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4" name="titlebg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25" name="titlebg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26" name="titlecorner_e0_4"/>
          <p:cNvCxnSpPr/>
          <p:nvPr/>
        </p:nvCxnSpPr>
        <p:spPr>
          <a:xfrm flipH="1" flipV="1">
            <a:off x="71399" y="6549839"/>
            <a:ext cx="977456" cy="241505"/>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27" name="titlecorner_e0_1"/>
          <p:cNvCxnSpPr/>
          <p:nvPr/>
        </p:nvCxnSpPr>
        <p:spPr>
          <a:xfrm flipV="1">
            <a:off x="1048855" y="6490895"/>
            <a:ext cx="1684522" cy="300449"/>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28" name="titlecorner_e1_5"/>
          <p:cNvCxnSpPr/>
          <p:nvPr/>
        </p:nvCxnSpPr>
        <p:spPr>
          <a:xfrm>
            <a:off x="2733377" y="6490895"/>
            <a:ext cx="484086" cy="9161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29" name="titlecorner_e1_3"/>
          <p:cNvCxnSpPr/>
          <p:nvPr/>
        </p:nvCxnSpPr>
        <p:spPr>
          <a:xfrm flipV="1">
            <a:off x="2733377" y="5911355"/>
            <a:ext cx="506418" cy="579540"/>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30" name="titlecorner_e2_5"/>
          <p:cNvCxnSpPr/>
          <p:nvPr/>
        </p:nvCxnSpPr>
        <p:spPr>
          <a:xfrm flipH="1" flipV="1">
            <a:off x="3217463" y="6582514"/>
            <a:ext cx="956725" cy="22906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31" name="titlecorner_e2_6"/>
          <p:cNvCxnSpPr/>
          <p:nvPr/>
        </p:nvCxnSpPr>
        <p:spPr>
          <a:xfrm flipV="1">
            <a:off x="4174188" y="6445934"/>
            <a:ext cx="946856" cy="365640"/>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32" name="titlecorner_e3_5"/>
          <p:cNvCxnSpPr/>
          <p:nvPr/>
        </p:nvCxnSpPr>
        <p:spPr>
          <a:xfrm flipH="1">
            <a:off x="3217463" y="5911355"/>
            <a:ext cx="22332" cy="67115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33" name="titlecorner_e4_1"/>
          <p:cNvCxnSpPr/>
          <p:nvPr/>
        </p:nvCxnSpPr>
        <p:spPr>
          <a:xfrm flipV="1">
            <a:off x="71399" y="6490895"/>
            <a:ext cx="2661978" cy="5894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34" name="titlecorner_e6_5"/>
          <p:cNvCxnSpPr/>
          <p:nvPr/>
        </p:nvCxnSpPr>
        <p:spPr>
          <a:xfrm flipH="1">
            <a:off x="3217463" y="6445934"/>
            <a:ext cx="1903581" cy="13658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135" name="titlecorner_n0"/>
          <p:cNvSpPr/>
          <p:nvPr/>
        </p:nvSpPr>
        <p:spPr>
          <a:xfrm>
            <a:off x="1041855" y="6784344"/>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6" name="titlecorner_n1"/>
          <p:cNvSpPr/>
          <p:nvPr/>
        </p:nvSpPr>
        <p:spPr>
          <a:xfrm>
            <a:off x="2723377" y="6480895"/>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7" name="titlecorner_n2"/>
          <p:cNvSpPr/>
          <p:nvPr/>
        </p:nvSpPr>
        <p:spPr>
          <a:xfrm>
            <a:off x="4161188" y="6798574"/>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8" name="titlecorner_n3"/>
          <p:cNvSpPr/>
          <p:nvPr/>
        </p:nvSpPr>
        <p:spPr>
          <a:xfrm>
            <a:off x="3232795" y="5904355"/>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9" name="titlecorner_n4"/>
          <p:cNvSpPr/>
          <p:nvPr/>
        </p:nvSpPr>
        <p:spPr>
          <a:xfrm>
            <a:off x="61399" y="6539839"/>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40" name="titlecorner_n5"/>
          <p:cNvSpPr/>
          <p:nvPr/>
        </p:nvSpPr>
        <p:spPr>
          <a:xfrm>
            <a:off x="3204463" y="6569514"/>
            <a:ext cx="26000" cy="26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41" name="titlecorner_n6"/>
          <p:cNvSpPr/>
          <p:nvPr/>
        </p:nvSpPr>
        <p:spPr>
          <a:xfrm>
            <a:off x="5114044" y="6438934"/>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42" name="eyebrow"/>
          <p:cNvSpPr txBox="1"/>
          <p:nvPr/>
        </p:nvSpPr>
        <p:spPr>
          <a:xfrm>
            <a:off x="700000" y="1000000"/>
            <a:ext cx="5000000" cy="320000"/>
          </a:xfrm>
          <a:prstGeom prst="rect">
            <a:avLst/>
          </a:prstGeom>
          <a:noFill/>
          <a:ln>
            <a:noFill/>
          </a:ln>
        </p:spPr>
        <p:txBody>
          <a:bodyPr wrap="square" lIns="0" tIns="0" rIns="0" bIns="0" anchor="t">
            <a:noAutofit/>
          </a:bodyPr>
          <a:lstStyle/>
          <a:p>
            <a:pPr algn="l"/>
            <a:r>
              <a:rPr lang="en-US" sz="1100" b="1" i="0" dirty="0">
                <a:solidFill>
                  <a:srgbClr val="22D3EE"/>
                </a:solidFill>
                <a:latin typeface="Calibri"/>
                <a:ea typeface="Calibri"/>
                <a:cs typeface="Calibri"/>
              </a:rPr>
              <a:t>SAMSUNG INNOVATION CAMPUS · AI CAPSTONE PROJECT</a:t>
            </a:r>
          </a:p>
        </p:txBody>
      </p:sp>
      <p:sp>
        <p:nvSpPr>
          <p:cNvPr id="143" name="titletext"/>
          <p:cNvSpPr txBox="1"/>
          <p:nvPr/>
        </p:nvSpPr>
        <p:spPr>
          <a:xfrm>
            <a:off x="700000" y="1450000"/>
            <a:ext cx="5350000" cy="1900000"/>
          </a:xfrm>
          <a:prstGeom prst="rect">
            <a:avLst/>
          </a:prstGeom>
          <a:noFill/>
          <a:ln>
            <a:noFill/>
          </a:ln>
        </p:spPr>
        <p:txBody>
          <a:bodyPr wrap="square" lIns="0" tIns="0" rIns="0" bIns="0" anchor="t">
            <a:noAutofit/>
          </a:bodyPr>
          <a:lstStyle/>
          <a:p>
            <a:pPr algn="l">
              <a:spcAft>
                <a:spcPts val="300"/>
              </a:spcAft>
            </a:pPr>
            <a:r>
              <a:rPr lang="en-US" sz="3000" b="1" i="0" dirty="0">
                <a:solidFill>
                  <a:srgbClr val="F5F7FF"/>
                </a:solidFill>
                <a:latin typeface="Calibri"/>
                <a:ea typeface="Calibri"/>
                <a:cs typeface="Calibri"/>
              </a:rPr>
              <a:t>A Two-Stage Deep Learning</a:t>
            </a:r>
          </a:p>
          <a:p>
            <a:pPr algn="l">
              <a:spcAft>
                <a:spcPts val="300"/>
              </a:spcAft>
            </a:pPr>
            <a:r>
              <a:rPr lang="en-US" sz="3000" b="1" i="0" dirty="0">
                <a:solidFill>
                  <a:srgbClr val="F5F7FF"/>
                </a:solidFill>
                <a:latin typeface="Calibri"/>
                <a:ea typeface="Calibri"/>
                <a:cs typeface="Calibri"/>
              </a:rPr>
              <a:t>Approach to Brain Tumor</a:t>
            </a:r>
          </a:p>
          <a:p>
            <a:pPr algn="l">
              <a:spcAft>
                <a:spcPts val="300"/>
              </a:spcAft>
            </a:pPr>
            <a:r>
              <a:rPr lang="en-US" sz="3000" b="1" i="0" dirty="0">
                <a:solidFill>
                  <a:srgbClr val="F5F7FF"/>
                </a:solidFill>
                <a:latin typeface="Calibri"/>
                <a:ea typeface="Calibri"/>
                <a:cs typeface="Calibri"/>
              </a:rPr>
              <a:t>Classification &amp; Segmentation</a:t>
            </a:r>
          </a:p>
        </p:txBody>
      </p:sp>
      <p:sp>
        <p:nvSpPr>
          <p:cNvPr id="144" name="subtitle"/>
          <p:cNvSpPr txBox="1"/>
          <p:nvPr/>
        </p:nvSpPr>
        <p:spPr>
          <a:xfrm>
            <a:off x="700000" y="3350000"/>
            <a:ext cx="5200000" cy="400000"/>
          </a:xfrm>
          <a:prstGeom prst="rect">
            <a:avLst/>
          </a:prstGeom>
          <a:noFill/>
          <a:ln>
            <a:noFill/>
          </a:ln>
        </p:spPr>
        <p:txBody>
          <a:bodyPr wrap="square" lIns="0" tIns="0" rIns="0" bIns="0" anchor="t">
            <a:noAutofit/>
          </a:bodyPr>
          <a:lstStyle/>
          <a:p>
            <a:pPr algn="l"/>
            <a:r>
              <a:rPr lang="en-US" sz="1800" b="0" i="1" dirty="0">
                <a:solidFill>
                  <a:srgbClr val="67E8F9"/>
                </a:solidFill>
                <a:latin typeface="Calibri"/>
                <a:ea typeface="Calibri"/>
                <a:cs typeface="Calibri"/>
              </a:rPr>
              <a:t>in 2D MRI Images</a:t>
            </a:r>
          </a:p>
        </p:txBody>
      </p:sp>
      <p:sp>
        <p:nvSpPr>
          <p:cNvPr id="145" name="titlediv"/>
          <p:cNvSpPr/>
          <p:nvPr/>
        </p:nvSpPr>
        <p:spPr>
          <a:xfrm>
            <a:off x="700000" y="3900000"/>
            <a:ext cx="2600000" cy="14000"/>
          </a:xfrm>
          <a:prstGeom prst="rect">
            <a:avLst/>
          </a:prstGeom>
          <a:gradFill>
            <a:gsLst>
              <a:gs pos="0">
                <a:srgbClr val="22D3EE">
                  <a:alpha val="100000"/>
                </a:srgbClr>
              </a:gs>
              <a:gs pos="100000">
                <a:srgbClr val="8B5CF6">
                  <a:alpha val="100000"/>
                </a:srgbClr>
              </a:gs>
            </a:gsLst>
            <a:lin ang="0" scaled="1"/>
          </a:gradFill>
          <a:ln>
            <a:noFill/>
          </a:ln>
        </p:spPr>
        <p:txBody>
          <a:bodyPr/>
          <a:lstStyle/>
          <a:p>
            <a:endParaRPr lang="en-US"/>
          </a:p>
        </p:txBody>
      </p:sp>
      <p:sp>
        <p:nvSpPr>
          <p:cNvPr id="146" name="team"/>
          <p:cNvSpPr txBox="1"/>
          <p:nvPr/>
        </p:nvSpPr>
        <p:spPr>
          <a:xfrm>
            <a:off x="700000" y="4150000"/>
            <a:ext cx="5200000" cy="700000"/>
          </a:xfrm>
          <a:prstGeom prst="rect">
            <a:avLst/>
          </a:prstGeom>
          <a:noFill/>
          <a:ln>
            <a:noFill/>
          </a:ln>
        </p:spPr>
        <p:txBody>
          <a:bodyPr wrap="square" lIns="0" tIns="0" rIns="0" bIns="0" anchor="t">
            <a:noAutofit/>
          </a:bodyPr>
          <a:lstStyle/>
          <a:p>
            <a:pPr algn="l">
              <a:spcAft>
                <a:spcPts val="300"/>
              </a:spcAft>
            </a:pPr>
            <a:r>
              <a:rPr lang="en-US" sz="1500" b="1" i="0" dirty="0">
                <a:solidFill>
                  <a:srgbClr val="F5F7FF"/>
                </a:solidFill>
                <a:latin typeface="Calibri"/>
                <a:ea typeface="Calibri"/>
                <a:cs typeface="Calibri"/>
              </a:rPr>
              <a:t>Pi24, Team 24</a:t>
            </a:r>
          </a:p>
          <a:p>
            <a:pPr>
              <a:spcAft>
                <a:spcPts val="300"/>
              </a:spcAft>
            </a:pPr>
            <a:r>
              <a:rPr lang="en-US" sz="1200" dirty="0">
                <a:solidFill>
                  <a:srgbClr val="8891B0"/>
                </a:solidFill>
                <a:latin typeface="Calibri"/>
                <a:ea typeface="Calibri"/>
                <a:cs typeface="Calibri"/>
              </a:rPr>
              <a:t>Haya Saleh </a:t>
            </a:r>
            <a:r>
              <a:rPr lang="en-US" sz="1200" dirty="0" err="1">
                <a:solidFill>
                  <a:srgbClr val="8891B0"/>
                </a:solidFill>
                <a:latin typeface="Calibri"/>
                <a:ea typeface="Calibri"/>
                <a:cs typeface="Calibri"/>
              </a:rPr>
              <a:t>Algarni</a:t>
            </a:r>
            <a:r>
              <a:rPr lang="en-US" sz="1200" dirty="0">
                <a:solidFill>
                  <a:srgbClr val="8891B0"/>
                </a:solidFill>
                <a:latin typeface="Calibri"/>
                <a:ea typeface="Calibri"/>
                <a:cs typeface="Calibri"/>
              </a:rPr>
              <a:t>  · Maram </a:t>
            </a:r>
            <a:r>
              <a:rPr lang="en-US" sz="1200" dirty="0" err="1">
                <a:solidFill>
                  <a:srgbClr val="8891B0"/>
                </a:solidFill>
                <a:latin typeface="Calibri"/>
                <a:ea typeface="Calibri"/>
                <a:cs typeface="Calibri"/>
              </a:rPr>
              <a:t>Alraddadi</a:t>
            </a:r>
            <a:r>
              <a:rPr lang="en-US" sz="1200" dirty="0">
                <a:solidFill>
                  <a:srgbClr val="8891B0"/>
                </a:solidFill>
                <a:latin typeface="Calibri"/>
                <a:ea typeface="Calibri"/>
                <a:cs typeface="Calibri"/>
              </a:rPr>
              <a:t> · Muslim </a:t>
            </a:r>
            <a:r>
              <a:rPr lang="en-US" sz="1200" dirty="0" err="1">
                <a:solidFill>
                  <a:srgbClr val="8891B0"/>
                </a:solidFill>
                <a:latin typeface="Calibri"/>
                <a:ea typeface="Calibri"/>
                <a:cs typeface="Calibri"/>
              </a:rPr>
              <a:t>Alhammad</a:t>
            </a:r>
            <a:r>
              <a:rPr lang="en-US" sz="1200" dirty="0">
                <a:solidFill>
                  <a:srgbClr val="8891B0"/>
                </a:solidFill>
                <a:latin typeface="Calibri"/>
                <a:ea typeface="Calibri"/>
                <a:cs typeface="Calibri"/>
              </a:rPr>
              <a:t> ·  Raed </a:t>
            </a:r>
            <a:r>
              <a:rPr lang="en-US" sz="1200" dirty="0" err="1">
                <a:solidFill>
                  <a:srgbClr val="8891B0"/>
                </a:solidFill>
                <a:latin typeface="Calibri"/>
                <a:ea typeface="Calibri"/>
                <a:cs typeface="Calibri"/>
              </a:rPr>
              <a:t>Almjally</a:t>
            </a:r>
            <a:endParaRPr lang="en-US" sz="1200" dirty="0">
              <a:solidFill>
                <a:srgbClr val="8891B0"/>
              </a:solidFill>
              <a:latin typeface="Calibri"/>
              <a:ea typeface="Calibri"/>
              <a:cs typeface="Calibri"/>
            </a:endParaRPr>
          </a:p>
        </p:txBody>
      </p:sp>
      <p:sp>
        <p:nvSpPr>
          <p:cNvPr id="147" name="tagline"/>
          <p:cNvSpPr txBox="1"/>
          <p:nvPr/>
        </p:nvSpPr>
        <p:spPr>
          <a:xfrm>
            <a:off x="700000" y="4950000"/>
            <a:ext cx="5200000" cy="400000"/>
          </a:xfrm>
          <a:prstGeom prst="rect">
            <a:avLst/>
          </a:prstGeom>
          <a:noFill/>
          <a:ln>
            <a:noFill/>
          </a:ln>
        </p:spPr>
        <p:txBody>
          <a:bodyPr wrap="square" lIns="0" tIns="0" rIns="0" bIns="0" anchor="t">
            <a:noAutofit/>
          </a:bodyPr>
          <a:lstStyle/>
          <a:p>
            <a:pPr algn="l"/>
            <a:r>
              <a:rPr lang="en-US" sz="1050" b="0" i="1" dirty="0">
                <a:solidFill>
                  <a:srgbClr val="C4B5FD"/>
                </a:solidFill>
                <a:latin typeface="Calibri"/>
                <a:ea typeface="Calibri"/>
                <a:cs typeface="Calibri"/>
              </a:rPr>
              <a:t>Non-diagnostic · Educational Decision-Support Prototype</a:t>
            </a:r>
          </a:p>
        </p:txBody>
      </p:sp>
      <p:sp>
        <p:nvSpPr>
          <p:cNvPr id="148" name="titlemri_bg"/>
          <p:cNvSpPr/>
          <p:nvPr/>
        </p:nvSpPr>
        <p:spPr>
          <a:xfrm>
            <a:off x="6350000" y="1150000"/>
            <a:ext cx="3050000" cy="3050000"/>
          </a:xfrm>
          <a:prstGeom prst="roundRect">
            <a:avLst>
              <a:gd name="adj" fmla="val 6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9" name="titlemri_border"/>
          <p:cNvSpPr/>
          <p:nvPr/>
        </p:nvSpPr>
        <p:spPr>
          <a:xfrm>
            <a:off x="6350000" y="1150000"/>
            <a:ext cx="3050000" cy="3050000"/>
          </a:xfrm>
          <a:prstGeom prst="roundRect">
            <a:avLst>
              <a:gd name="adj" fmla="val 6000"/>
            </a:avLst>
          </a:prstGeom>
          <a:no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cxnSp>
        <p:nvCxnSpPr>
          <p:cNvPr id="150" name="titlemri_ck1"/>
          <p:cNvCxnSpPr/>
          <p:nvPr/>
        </p:nvCxnSpPr>
        <p:spPr>
          <a:xfrm>
            <a:off x="6487250" y="12872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1" name="titlemri_ck2"/>
          <p:cNvCxnSpPr/>
          <p:nvPr/>
        </p:nvCxnSpPr>
        <p:spPr>
          <a:xfrm>
            <a:off x="6487250" y="1287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2" name="titlemri_ck1"/>
          <p:cNvCxnSpPr/>
          <p:nvPr/>
        </p:nvCxnSpPr>
        <p:spPr>
          <a:xfrm flipH="1">
            <a:off x="8988250" y="12872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3" name="titlemri_ck2"/>
          <p:cNvCxnSpPr/>
          <p:nvPr/>
        </p:nvCxnSpPr>
        <p:spPr>
          <a:xfrm>
            <a:off x="9262750" y="1287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4" name="titlemri_ck1"/>
          <p:cNvCxnSpPr/>
          <p:nvPr/>
        </p:nvCxnSpPr>
        <p:spPr>
          <a:xfrm>
            <a:off x="6487250" y="40627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5" name="titlemri_ck2"/>
          <p:cNvCxnSpPr/>
          <p:nvPr/>
        </p:nvCxnSpPr>
        <p:spPr>
          <a:xfrm flipV="1">
            <a:off x="6487250" y="3788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6" name="titlemri_ck1"/>
          <p:cNvCxnSpPr/>
          <p:nvPr/>
        </p:nvCxnSpPr>
        <p:spPr>
          <a:xfrm flipH="1">
            <a:off x="8988250" y="40627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7" name="titlemri_ck2"/>
          <p:cNvCxnSpPr/>
          <p:nvPr/>
        </p:nvCxnSpPr>
        <p:spPr>
          <a:xfrm flipV="1">
            <a:off x="9262750" y="3788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sp>
        <p:nvSpPr>
          <p:cNvPr id="158" name="titlemri_brain"/>
          <p:cNvSpPr/>
          <p:nvPr/>
        </p:nvSpPr>
        <p:spPr>
          <a:xfrm>
            <a:off x="6929500" y="1546500"/>
            <a:ext cx="1891000" cy="151280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3000"/>
            </a:srgbClr>
          </a:solidFill>
          <a:ln w="15875">
            <a:solidFill>
              <a:srgbClr val="67E8F9">
                <a:alpha val="60000"/>
              </a:srgbClr>
            </a:solidFill>
          </a:ln>
        </p:spPr>
        <p:txBody>
          <a:bodyPr/>
          <a:lstStyle/>
          <a:p>
            <a:endParaRPr lang="en-US"/>
          </a:p>
        </p:txBody>
      </p:sp>
      <p:sp>
        <p:nvSpPr>
          <p:cNvPr id="159" name="titlemri_fissure"/>
          <p:cNvSpPr/>
          <p:nvPr/>
        </p:nvSpPr>
        <p:spPr>
          <a:xfrm>
            <a:off x="6929500" y="1546500"/>
            <a:ext cx="1891000" cy="1512800"/>
          </a:xfrm>
          <a:custGeom>
            <a:avLst/>
            <a:gdLst/>
            <a:ahLst/>
            <a:cxnLst/>
            <a:rect l="0" t="0" r="0" b="0"/>
            <a:pathLst>
              <a:path w="1000" h="1000">
                <a:moveTo>
                  <a:pt x="500" y="90"/>
                </a:moveTo>
                <a:cubicBezTo>
                  <a:pt x="530" y="250"/>
                  <a:pt x="470" y="420"/>
                  <a:pt x="500" y="560"/>
                </a:cubicBezTo>
                <a:cubicBezTo>
                  <a:pt x="515" y="630"/>
                  <a:pt x="495" y="690"/>
                  <a:pt x="500" y="740"/>
                </a:cubicBezTo>
              </a:path>
            </a:pathLst>
          </a:custGeom>
          <a:noFill/>
          <a:ln w="9525">
            <a:solidFill>
              <a:srgbClr val="67E8F9">
                <a:alpha val="30000"/>
              </a:srgbClr>
            </a:solidFill>
          </a:ln>
        </p:spPr>
        <p:txBody>
          <a:bodyPr/>
          <a:lstStyle/>
          <a:p>
            <a:endParaRPr lang="en-US"/>
          </a:p>
        </p:txBody>
      </p:sp>
      <p:sp>
        <p:nvSpPr>
          <p:cNvPr id="160" name="titlemri_brain2"/>
          <p:cNvSpPr/>
          <p:nvPr/>
        </p:nvSpPr>
        <p:spPr>
          <a:xfrm>
            <a:off x="7080780" y="1697780"/>
            <a:ext cx="1588440" cy="1270752"/>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noFill/>
          <a:ln w="15875">
            <a:solidFill>
              <a:srgbClr val="C4B5FD">
                <a:alpha val="22000"/>
              </a:srgbClr>
            </a:solidFill>
          </a:ln>
        </p:spPr>
        <p:txBody>
          <a:bodyPr/>
          <a:lstStyle/>
          <a:p>
            <a:endParaRPr lang="en-US"/>
          </a:p>
        </p:txBody>
      </p:sp>
      <p:sp>
        <p:nvSpPr>
          <p:cNvPr id="161" name="titlemri_tumorglow0"/>
          <p:cNvSpPr/>
          <p:nvPr/>
        </p:nvSpPr>
        <p:spPr>
          <a:xfrm>
            <a:off x="7911920" y="2112900"/>
            <a:ext cx="380000" cy="380000"/>
          </a:xfrm>
          <a:prstGeom prst="ellipse">
            <a:avLst/>
          </a:prstGeom>
          <a:solidFill>
            <a:srgbClr val="FF4D6D">
              <a:alpha val="1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2" name="titlemri_tumorglow1"/>
          <p:cNvSpPr/>
          <p:nvPr/>
        </p:nvSpPr>
        <p:spPr>
          <a:xfrm>
            <a:off x="7961920" y="2162900"/>
            <a:ext cx="280000" cy="280000"/>
          </a:xfrm>
          <a:prstGeom prst="ellipse">
            <a:avLst/>
          </a:prstGeom>
          <a:solidFill>
            <a:srgbClr val="FF4D6D">
              <a:alpha val="18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3" name="titlemri_tumorglow2"/>
          <p:cNvSpPr/>
          <p:nvPr/>
        </p:nvSpPr>
        <p:spPr>
          <a:xfrm>
            <a:off x="8006920" y="2207900"/>
            <a:ext cx="190000" cy="190000"/>
          </a:xfrm>
          <a:prstGeom prst="ellipse">
            <a:avLst/>
          </a:prstGeom>
          <a:solidFill>
            <a:srgbClr val="FF4D6D">
              <a:alpha val="3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4" name="titlemri_tumorglow3"/>
          <p:cNvSpPr/>
          <p:nvPr/>
        </p:nvSpPr>
        <p:spPr>
          <a:xfrm>
            <a:off x="8046920" y="2247900"/>
            <a:ext cx="110000" cy="110000"/>
          </a:xfrm>
          <a:prstGeom prst="ellipse">
            <a:avLst/>
          </a:prstGeom>
          <a:solidFill>
            <a:srgbClr val="FF4D6D">
              <a:alpha val="55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5" name="titlemri_tumorcore"/>
          <p:cNvSpPr/>
          <p:nvPr/>
        </p:nvSpPr>
        <p:spPr>
          <a:xfrm>
            <a:off x="8069920" y="2270900"/>
            <a:ext cx="64000" cy="64000"/>
          </a:xfrm>
          <a:prstGeom prst="ellipse">
            <a:avLst/>
          </a:prstGeom>
          <a:solidFill>
            <a:srgbClr val="FF4D6D">
              <a:alpha val="95000"/>
            </a:srgbClr>
          </a:solidFill>
          <a:ln>
            <a:noFill/>
          </a:ln>
          <a:effectLst>
            <a:glow rad="45000">
              <a:srgbClr val="FF4D6D">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166" name="titlemri_scanline"/>
          <p:cNvCxnSpPr/>
          <p:nvPr/>
        </p:nvCxnSpPr>
        <p:spPr>
          <a:xfrm>
            <a:off x="6533000" y="3041000"/>
            <a:ext cx="2684000" cy="1"/>
          </a:xfrm>
          <a:prstGeom prst="line">
            <a:avLst/>
          </a:prstGeom>
          <a:ln w="12700">
            <a:solidFill>
              <a:srgbClr val="22D3EE">
                <a:alpha val="55000"/>
              </a:srgbClr>
            </a:solidFill>
          </a:ln>
          <a:effectLst>
            <a:glow rad="45000">
              <a:srgbClr val="22D3EE">
                <a:alpha val="55000"/>
              </a:srgbClr>
            </a:glow>
          </a:effectLst>
        </p:spPr>
        <p:style>
          <a:lnRef idx="1">
            <a:schemeClr val="accent1"/>
          </a:lnRef>
          <a:fillRef idx="0">
            <a:schemeClr val="accent1"/>
          </a:fillRef>
          <a:effectRef idx="0">
            <a:schemeClr val="accent1"/>
          </a:effectRef>
          <a:fontRef idx="minor">
            <a:schemeClr val="tx1"/>
          </a:fontRef>
        </p:style>
      </p:cxnSp>
      <p:cxnSp>
        <p:nvCxnSpPr>
          <p:cNvPr id="167" name="titlemri_edge0_2"/>
          <p:cNvCxnSpPr/>
          <p:nvPr/>
        </p:nvCxnSpPr>
        <p:spPr>
          <a:xfrm flipH="1" flipV="1">
            <a:off x="6760820" y="1380673"/>
            <a:ext cx="24108" cy="297034"/>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168" name="titlemri_edge1_3"/>
          <p:cNvCxnSpPr/>
          <p:nvPr/>
        </p:nvCxnSpPr>
        <p:spPr>
          <a:xfrm flipH="1" flipV="1">
            <a:off x="6752824" y="3847361"/>
            <a:ext cx="1044359" cy="65553"/>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169" name="titlemri_edge4_0"/>
          <p:cNvCxnSpPr/>
          <p:nvPr/>
        </p:nvCxnSpPr>
        <p:spPr>
          <a:xfrm flipH="1">
            <a:off x="6784928" y="1607991"/>
            <a:ext cx="2189731" cy="69716"/>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sp>
        <p:nvSpPr>
          <p:cNvPr id="170" name="titlemri_node0"/>
          <p:cNvSpPr/>
          <p:nvPr/>
        </p:nvSpPr>
        <p:spPr>
          <a:xfrm>
            <a:off x="6774928" y="1667707"/>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1" name="titlemri_node1"/>
          <p:cNvSpPr/>
          <p:nvPr/>
        </p:nvSpPr>
        <p:spPr>
          <a:xfrm>
            <a:off x="7787183" y="3902914"/>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2" name="titlemri_node2"/>
          <p:cNvSpPr/>
          <p:nvPr/>
        </p:nvSpPr>
        <p:spPr>
          <a:xfrm>
            <a:off x="6750820" y="1370673"/>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3" name="titlemri_node3"/>
          <p:cNvSpPr/>
          <p:nvPr/>
        </p:nvSpPr>
        <p:spPr>
          <a:xfrm>
            <a:off x="6742824" y="3837361"/>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4" name="titlemri_node4"/>
          <p:cNvSpPr/>
          <p:nvPr/>
        </p:nvSpPr>
        <p:spPr>
          <a:xfrm>
            <a:off x="8964659" y="1597991"/>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5" name="titlemricap"/>
          <p:cNvSpPr txBox="1"/>
          <p:nvPr/>
        </p:nvSpPr>
        <p:spPr>
          <a:xfrm>
            <a:off x="6350000" y="4320000"/>
            <a:ext cx="3050000" cy="300000"/>
          </a:xfrm>
          <a:prstGeom prst="rect">
            <a:avLst/>
          </a:prstGeom>
          <a:noFill/>
          <a:ln>
            <a:noFill/>
          </a:ln>
        </p:spPr>
        <p:txBody>
          <a:bodyPr wrap="square" lIns="0" tIns="0" rIns="0" bIns="0" anchor="t">
            <a:noAutofit/>
          </a:bodyPr>
          <a:lstStyle/>
          <a:p>
            <a:pPr algn="ctr"/>
            <a:r>
              <a:rPr lang="en-US" sz="850" b="0" i="1" dirty="0">
                <a:solidFill>
                  <a:srgbClr val="8891B0"/>
                </a:solidFill>
                <a:latin typeface="Calibri"/>
                <a:ea typeface="Calibri"/>
                <a:cs typeface="Calibri"/>
              </a:rPr>
              <a:t>Simulated MRI · Illustrative, not a real scan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agendabg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302" name="agendabg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3" name="agendabg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4" name="agendabg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5" name="agendabg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6" name="agendabg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7" name="agendabg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8" name="agendabg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09" name="agendabg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0" name="agendabg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1" name="agendabg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2" name="agendabg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3" name="agendabg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4" name="agendabg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5" name="agendabg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6" name="agendabg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7" name="agendabg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8" name="agendabg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19" name="agendabg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20" name="agendabg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21" name="agendabg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22" name="agendabg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23" name="agendabg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324" name="agendabg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325" name="agendabg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326" name="agendacorner_e0_4"/>
          <p:cNvCxnSpPr/>
          <p:nvPr/>
        </p:nvCxnSpPr>
        <p:spPr>
          <a:xfrm flipH="1">
            <a:off x="8761478" y="5926325"/>
            <a:ext cx="320922" cy="380860"/>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327" name="agendacorner_e0_1"/>
          <p:cNvCxnSpPr/>
          <p:nvPr/>
        </p:nvCxnSpPr>
        <p:spPr>
          <a:xfrm>
            <a:off x="9082400" y="5926325"/>
            <a:ext cx="28545" cy="51054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328" name="agendacorner_e1_2"/>
          <p:cNvCxnSpPr/>
          <p:nvPr/>
        </p:nvCxnSpPr>
        <p:spPr>
          <a:xfrm>
            <a:off x="9110945" y="6436873"/>
            <a:ext cx="135472" cy="24019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329" name="agendacorner_e1_4"/>
          <p:cNvCxnSpPr/>
          <p:nvPr/>
        </p:nvCxnSpPr>
        <p:spPr>
          <a:xfrm flipH="1" flipV="1">
            <a:off x="8761478" y="6307185"/>
            <a:ext cx="349467" cy="12968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330" name="agendacorner_e2_3"/>
          <p:cNvCxnSpPr/>
          <p:nvPr/>
        </p:nvCxnSpPr>
        <p:spPr>
          <a:xfrm flipV="1">
            <a:off x="9246417" y="6332453"/>
            <a:ext cx="389867" cy="34461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331" name="agendacorner_e3_1"/>
          <p:cNvCxnSpPr/>
          <p:nvPr/>
        </p:nvCxnSpPr>
        <p:spPr>
          <a:xfrm flipH="1">
            <a:off x="9110945" y="6332453"/>
            <a:ext cx="525339" cy="104420"/>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sp>
        <p:nvSpPr>
          <p:cNvPr id="332" name="agendacorner_n0"/>
          <p:cNvSpPr/>
          <p:nvPr/>
        </p:nvSpPr>
        <p:spPr>
          <a:xfrm>
            <a:off x="9075400" y="5919325"/>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33" name="agendacorner_n1"/>
          <p:cNvSpPr/>
          <p:nvPr/>
        </p:nvSpPr>
        <p:spPr>
          <a:xfrm>
            <a:off x="9100945" y="6426873"/>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34" name="agendacorner_n2"/>
          <p:cNvSpPr/>
          <p:nvPr/>
        </p:nvSpPr>
        <p:spPr>
          <a:xfrm>
            <a:off x="9233417" y="6664071"/>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35" name="agendacorner_n3"/>
          <p:cNvSpPr/>
          <p:nvPr/>
        </p:nvSpPr>
        <p:spPr>
          <a:xfrm>
            <a:off x="9629284" y="6325453"/>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36" name="agendacorner_n4"/>
          <p:cNvSpPr/>
          <p:nvPr/>
        </p:nvSpPr>
        <p:spPr>
          <a:xfrm>
            <a:off x="8751478" y="6297185"/>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37" name="agendatitle"/>
          <p:cNvSpPr txBox="1"/>
          <p:nvPr/>
        </p:nvSpPr>
        <p:spPr>
          <a:xfrm>
            <a:off x="480000" y="350000"/>
            <a:ext cx="4000000" cy="500000"/>
          </a:xfrm>
          <a:prstGeom prst="rect">
            <a:avLst/>
          </a:prstGeom>
          <a:noFill/>
          <a:ln>
            <a:noFill/>
          </a:ln>
        </p:spPr>
        <p:txBody>
          <a:bodyPr wrap="square" lIns="0" tIns="0" rIns="0" bIns="0" anchor="t">
            <a:noAutofit/>
          </a:bodyPr>
          <a:lstStyle/>
          <a:p>
            <a:pPr algn="l"/>
            <a:r>
              <a:rPr lang="en-US" sz="2600" b="1" i="0" dirty="0">
                <a:solidFill>
                  <a:srgbClr val="F5F7FF"/>
                </a:solidFill>
                <a:latin typeface="Calibri"/>
                <a:ea typeface="Calibri"/>
                <a:cs typeface="Calibri"/>
              </a:rPr>
              <a:t>Agenda</a:t>
            </a:r>
          </a:p>
        </p:txBody>
      </p:sp>
      <p:cxnSp>
        <p:nvCxnSpPr>
          <p:cNvPr id="338" name="agendarule"/>
          <p:cNvCxnSpPr/>
          <p:nvPr/>
        </p:nvCxnSpPr>
        <p:spPr>
          <a:xfrm>
            <a:off x="480000" y="90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grpSp>
        <p:nvGrpSpPr>
          <p:cNvPr id="201" name="Group 201"/>
          <p:cNvGrpSpPr/>
          <p:nvPr/>
        </p:nvGrpSpPr>
        <p:grpSpPr>
          <a:xfrm>
            <a:off x="710836" y="1550000"/>
            <a:ext cx="4300000" cy="1535000"/>
            <a:chOff x="0" y="0"/>
            <a:chExt cx="4300000" cy="1535000"/>
          </a:xfrm>
        </p:grpSpPr>
        <p:sp>
          <p:nvSpPr>
            <p:cNvPr id="202" name="title"/>
            <p:cNvSpPr/>
            <p:nvPr/>
          </p:nvSpPr>
          <p:spPr>
            <a:xfrm>
              <a:off x="182880" y="1173"/>
              <a:ext cx="401712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spcAft>
                  <a:spcPts val="250"/>
                </a:spcAft>
              </a:pPr>
              <a:r>
                <a:rPr lang="en-US" altLang="ko-KR" dirty="0">
                  <a:solidFill>
                    <a:srgbClr val="F5F7FF"/>
                  </a:solidFill>
                  <a:latin typeface="Calibri"/>
                  <a:cs typeface="Calibri"/>
                </a:rPr>
                <a:t>1. Foundations</a:t>
              </a:r>
            </a:p>
          </p:txBody>
        </p:sp>
        <p:sp>
          <p:nvSpPr>
            <p:cNvPr id="203" name="bar"/>
            <p:cNvSpPr/>
            <p:nvPr/>
          </p:nvSpPr>
          <p:spPr>
            <a:xfrm>
              <a:off x="0" y="0"/>
              <a:ext cx="36000" cy="252000"/>
            </a:xfrm>
            <a:prstGeom prst="rect">
              <a:avLst/>
            </a:prstGeom>
            <a:solidFill>
              <a:srgbClr val="22D3E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4" name="items"/>
            <p:cNvSpPr/>
            <p:nvPr/>
          </p:nvSpPr>
          <p:spPr>
            <a:xfrm>
              <a:off x="979496" y="416763"/>
              <a:ext cx="3220504" cy="1118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noAutofit/>
            </a:bodyPr>
            <a:lstStyle/>
            <a:p>
              <a:pPr>
                <a:spcAft>
                  <a:spcPts val="250"/>
                </a:spcAft>
              </a:pPr>
              <a:r>
                <a:rPr lang="en-US" altLang="ko-KR" sz="1150" dirty="0">
                  <a:solidFill>
                    <a:srgbClr val="22D3EE"/>
                  </a:solidFill>
                  <a:latin typeface="Calibri"/>
                  <a:cs typeface="Calibri"/>
                </a:rPr>
                <a:t>1.1  Problem &amp; Background</a:t>
              </a:r>
            </a:p>
            <a:p>
              <a:pPr>
                <a:spcAft>
                  <a:spcPts val="250"/>
                </a:spcAft>
              </a:pPr>
              <a:r>
                <a:rPr lang="en-US" altLang="ko-KR" sz="1150" dirty="0">
                  <a:solidFill>
                    <a:srgbClr val="AAB3D6"/>
                  </a:solidFill>
                  <a:latin typeface="Calibri"/>
                  <a:cs typeface="Calibri"/>
                </a:rPr>
                <a:t>1.2  Why AI for Brain MRI?</a:t>
              </a:r>
            </a:p>
            <a:p>
              <a:pPr>
                <a:spcAft>
                  <a:spcPts val="250"/>
                </a:spcAft>
              </a:pPr>
              <a:r>
                <a:rPr lang="en-US" altLang="ko-KR" sz="1150" dirty="0">
                  <a:solidFill>
                    <a:srgbClr val="AAB3D6"/>
                  </a:solidFill>
                  <a:latin typeface="Calibri"/>
                  <a:cs typeface="Calibri"/>
                </a:rPr>
                <a:t>1.3  Motivation &amp; Objective</a:t>
              </a:r>
            </a:p>
            <a:p>
              <a:pPr>
                <a:spcAft>
                  <a:spcPts val="250"/>
                </a:spcAft>
              </a:pPr>
              <a:r>
                <a:rPr lang="en-US" altLang="ko-KR" sz="1150" dirty="0">
                  <a:solidFill>
                    <a:srgbClr val="AAB3D6"/>
                  </a:solidFill>
                  <a:latin typeface="Calibri"/>
                  <a:cs typeface="Calibri"/>
                </a:rPr>
                <a:t>1.4  Proposed Solution</a:t>
              </a:r>
            </a:p>
            <a:p>
              <a:pPr>
                <a:spcAft>
                  <a:spcPts val="250"/>
                </a:spcAft>
              </a:pPr>
              <a:r>
                <a:rPr lang="en-US" altLang="ko-KR" sz="1150" dirty="0">
                  <a:solidFill>
                    <a:srgbClr val="AAB3D6"/>
                  </a:solidFill>
                  <a:latin typeface="Calibri"/>
                  <a:cs typeface="Calibri"/>
                </a:rPr>
                <a:t>1.5  Two-Stage Pipeline Explained</a:t>
              </a:r>
            </a:p>
          </p:txBody>
        </p:sp>
      </p:grpSp>
      <p:grpSp>
        <p:nvGrpSpPr>
          <p:cNvPr id="205" name="Group 205"/>
          <p:cNvGrpSpPr/>
          <p:nvPr/>
        </p:nvGrpSpPr>
        <p:grpSpPr>
          <a:xfrm>
            <a:off x="710836" y="3195000"/>
            <a:ext cx="4300000" cy="1320000"/>
            <a:chOff x="0" y="0"/>
            <a:chExt cx="4300000" cy="1320000"/>
          </a:xfrm>
        </p:grpSpPr>
        <p:sp>
          <p:nvSpPr>
            <p:cNvPr id="206" name="title"/>
            <p:cNvSpPr/>
            <p:nvPr/>
          </p:nvSpPr>
          <p:spPr>
            <a:xfrm>
              <a:off x="182880" y="1173"/>
              <a:ext cx="401712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spcAft>
                  <a:spcPts val="250"/>
                </a:spcAft>
              </a:pPr>
              <a:r>
                <a:rPr lang="en-US" altLang="ko-KR" dirty="0">
                  <a:solidFill>
                    <a:srgbClr val="F5F7FF"/>
                  </a:solidFill>
                  <a:latin typeface="Calibri"/>
                  <a:cs typeface="Calibri"/>
                </a:rPr>
                <a:t>2. Data</a:t>
              </a:r>
            </a:p>
          </p:txBody>
        </p:sp>
        <p:sp>
          <p:nvSpPr>
            <p:cNvPr id="207" name="bar"/>
            <p:cNvSpPr/>
            <p:nvPr/>
          </p:nvSpPr>
          <p:spPr>
            <a:xfrm>
              <a:off x="0" y="0"/>
              <a:ext cx="36000" cy="252000"/>
            </a:xfrm>
            <a:prstGeom prst="rect">
              <a:avLst/>
            </a:prstGeom>
            <a:solidFill>
              <a:srgbClr val="22D3E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8" name="items"/>
            <p:cNvSpPr/>
            <p:nvPr/>
          </p:nvSpPr>
          <p:spPr>
            <a:xfrm>
              <a:off x="979496" y="416763"/>
              <a:ext cx="3220504" cy="903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noAutofit/>
            </a:bodyPr>
            <a:lstStyle/>
            <a:p>
              <a:pPr>
                <a:spcAft>
                  <a:spcPts val="250"/>
                </a:spcAft>
              </a:pPr>
              <a:r>
                <a:rPr lang="en-US" altLang="ko-KR" sz="1150" dirty="0">
                  <a:solidFill>
                    <a:srgbClr val="22D3EE"/>
                  </a:solidFill>
                  <a:latin typeface="Calibri"/>
                  <a:cs typeface="Calibri"/>
                </a:rPr>
                <a:t>2.1  BRISC2025 Dataset</a:t>
              </a:r>
            </a:p>
            <a:p>
              <a:pPr>
                <a:spcAft>
                  <a:spcPts val="250"/>
                </a:spcAft>
              </a:pPr>
              <a:r>
                <a:rPr lang="en-US" altLang="ko-KR" sz="1150" dirty="0">
                  <a:solidFill>
                    <a:srgbClr val="AAB3D6"/>
                  </a:solidFill>
                  <a:latin typeface="Calibri"/>
                  <a:cs typeface="Calibri"/>
                </a:rPr>
                <a:t>2.2  Dataset Distribution</a:t>
              </a:r>
            </a:p>
            <a:p>
              <a:pPr>
                <a:spcAft>
                  <a:spcPts val="250"/>
                </a:spcAft>
              </a:pPr>
              <a:r>
                <a:rPr lang="en-US" altLang="ko-KR" sz="1150" dirty="0">
                  <a:solidFill>
                    <a:srgbClr val="AAB3D6"/>
                  </a:solidFill>
                  <a:latin typeface="Calibri"/>
                  <a:cs typeface="Calibri"/>
                </a:rPr>
                <a:t>2.3  Data Preparation &amp; Preprocessing</a:t>
              </a:r>
            </a:p>
            <a:p>
              <a:pPr>
                <a:spcAft>
                  <a:spcPts val="250"/>
                </a:spcAft>
              </a:pPr>
              <a:r>
                <a:rPr lang="en-US" altLang="ko-KR" sz="1150" dirty="0">
                  <a:solidFill>
                    <a:srgbClr val="AAB3D6"/>
                  </a:solidFill>
                  <a:latin typeface="Calibri"/>
                  <a:cs typeface="Calibri"/>
                </a:rPr>
                <a:t>2.4  Data Augmentation</a:t>
              </a:r>
            </a:p>
          </p:txBody>
        </p:sp>
      </p:grpSp>
      <p:grpSp>
        <p:nvGrpSpPr>
          <p:cNvPr id="209" name="Group 209"/>
          <p:cNvGrpSpPr/>
          <p:nvPr/>
        </p:nvGrpSpPr>
        <p:grpSpPr>
          <a:xfrm>
            <a:off x="710836" y="4625000"/>
            <a:ext cx="4300000" cy="1535000"/>
            <a:chOff x="0" y="0"/>
            <a:chExt cx="4300000" cy="1535000"/>
          </a:xfrm>
        </p:grpSpPr>
        <p:sp>
          <p:nvSpPr>
            <p:cNvPr id="210" name="title"/>
            <p:cNvSpPr/>
            <p:nvPr/>
          </p:nvSpPr>
          <p:spPr>
            <a:xfrm>
              <a:off x="182880" y="1173"/>
              <a:ext cx="401712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spcAft>
                  <a:spcPts val="250"/>
                </a:spcAft>
              </a:pPr>
              <a:r>
                <a:rPr lang="en-US" altLang="ko-KR" dirty="0">
                  <a:solidFill>
                    <a:srgbClr val="F5F7FF"/>
                  </a:solidFill>
                  <a:latin typeface="Calibri"/>
                  <a:cs typeface="Calibri"/>
                </a:rPr>
                <a:t>3. AI Models</a:t>
              </a:r>
            </a:p>
          </p:txBody>
        </p:sp>
        <p:sp>
          <p:nvSpPr>
            <p:cNvPr id="211" name="bar"/>
            <p:cNvSpPr/>
            <p:nvPr/>
          </p:nvSpPr>
          <p:spPr>
            <a:xfrm>
              <a:off x="0" y="0"/>
              <a:ext cx="36000" cy="252000"/>
            </a:xfrm>
            <a:prstGeom prst="rect">
              <a:avLst/>
            </a:prstGeom>
            <a:solidFill>
              <a:srgbClr val="22D3E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2" name="items"/>
            <p:cNvSpPr/>
            <p:nvPr/>
          </p:nvSpPr>
          <p:spPr>
            <a:xfrm>
              <a:off x="979496" y="416763"/>
              <a:ext cx="3220504" cy="1118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noAutofit/>
            </a:bodyPr>
            <a:lstStyle/>
            <a:p>
              <a:pPr>
                <a:spcAft>
                  <a:spcPts val="250"/>
                </a:spcAft>
              </a:pPr>
              <a:r>
                <a:rPr lang="en-US" altLang="ko-KR" sz="1150" dirty="0">
                  <a:solidFill>
                    <a:srgbClr val="22D3EE"/>
                  </a:solidFill>
                  <a:latin typeface="Calibri"/>
                  <a:cs typeface="Calibri"/>
                </a:rPr>
                <a:t>3.1  AI Models Overview</a:t>
              </a:r>
            </a:p>
            <a:p>
              <a:pPr>
                <a:spcAft>
                  <a:spcPts val="250"/>
                </a:spcAft>
              </a:pPr>
              <a:r>
                <a:rPr lang="en-US" altLang="ko-KR" sz="1150" dirty="0">
                  <a:solidFill>
                    <a:srgbClr val="AAB3D6"/>
                  </a:solidFill>
                  <a:latin typeface="Calibri"/>
                  <a:cs typeface="Calibri"/>
                </a:rPr>
                <a:t>3.2  EfficientNet-B0 — Classification</a:t>
              </a:r>
            </a:p>
            <a:p>
              <a:pPr>
                <a:spcAft>
                  <a:spcPts val="250"/>
                </a:spcAft>
              </a:pPr>
              <a:r>
                <a:rPr lang="en-US" altLang="ko-KR" sz="1150" dirty="0">
                  <a:solidFill>
                    <a:srgbClr val="AAB3D6"/>
                  </a:solidFill>
                  <a:latin typeface="Calibri"/>
                  <a:cs typeface="Calibri"/>
                </a:rPr>
                <a:t>3.3  Custom CNN — Classification</a:t>
              </a:r>
            </a:p>
            <a:p>
              <a:pPr>
                <a:spcAft>
                  <a:spcPts val="250"/>
                </a:spcAft>
              </a:pPr>
              <a:r>
                <a:rPr lang="en-US" altLang="ko-KR" sz="1150" dirty="0">
                  <a:solidFill>
                    <a:srgbClr val="AAB3D6"/>
                  </a:solidFill>
                  <a:latin typeface="Calibri"/>
                  <a:cs typeface="Calibri"/>
                </a:rPr>
                <a:t>3.4  U-Net + ResNet34 — Segmentation</a:t>
              </a:r>
            </a:p>
            <a:p>
              <a:pPr>
                <a:spcAft>
                  <a:spcPts val="250"/>
                </a:spcAft>
              </a:pPr>
              <a:r>
                <a:rPr lang="en-US" altLang="ko-KR" sz="1150" dirty="0">
                  <a:solidFill>
                    <a:srgbClr val="AAB3D6"/>
                  </a:solidFill>
                  <a:latin typeface="Calibri"/>
                  <a:cs typeface="Calibri"/>
                </a:rPr>
                <a:t>3.5  Model Comparison &amp; Selection</a:t>
              </a:r>
            </a:p>
          </p:txBody>
        </p:sp>
      </p:grpSp>
      <p:grpSp>
        <p:nvGrpSpPr>
          <p:cNvPr id="213" name="Group 213"/>
          <p:cNvGrpSpPr/>
          <p:nvPr/>
        </p:nvGrpSpPr>
        <p:grpSpPr>
          <a:xfrm>
            <a:off x="5310836" y="2050000"/>
            <a:ext cx="4300000" cy="1105000"/>
            <a:chOff x="0" y="0"/>
            <a:chExt cx="4300000" cy="1105000"/>
          </a:xfrm>
        </p:grpSpPr>
        <p:sp>
          <p:nvSpPr>
            <p:cNvPr id="214" name="title"/>
            <p:cNvSpPr/>
            <p:nvPr/>
          </p:nvSpPr>
          <p:spPr>
            <a:xfrm>
              <a:off x="182880" y="1173"/>
              <a:ext cx="401712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spcAft>
                  <a:spcPts val="250"/>
                </a:spcAft>
              </a:pPr>
              <a:r>
                <a:rPr lang="en-US" altLang="ko-KR" dirty="0">
                  <a:solidFill>
                    <a:srgbClr val="F5F7FF"/>
                  </a:solidFill>
                  <a:latin typeface="Calibri"/>
                  <a:cs typeface="Calibri"/>
                </a:rPr>
                <a:t>4. System &amp; Evaluation</a:t>
              </a:r>
            </a:p>
          </p:txBody>
        </p:sp>
        <p:sp>
          <p:nvSpPr>
            <p:cNvPr id="215" name="bar"/>
            <p:cNvSpPr/>
            <p:nvPr/>
          </p:nvSpPr>
          <p:spPr>
            <a:xfrm>
              <a:off x="0" y="0"/>
              <a:ext cx="36000" cy="252000"/>
            </a:xfrm>
            <a:prstGeom prst="rect">
              <a:avLst/>
            </a:prstGeom>
            <a:solidFill>
              <a:srgbClr val="22D3E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16" name="items"/>
            <p:cNvSpPr/>
            <p:nvPr/>
          </p:nvSpPr>
          <p:spPr>
            <a:xfrm>
              <a:off x="979496" y="416763"/>
              <a:ext cx="3220504" cy="688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noAutofit/>
            </a:bodyPr>
            <a:lstStyle/>
            <a:p>
              <a:pPr>
                <a:spcAft>
                  <a:spcPts val="250"/>
                </a:spcAft>
              </a:pPr>
              <a:r>
                <a:rPr lang="en-US" altLang="ko-KR" sz="1150" dirty="0">
                  <a:solidFill>
                    <a:srgbClr val="22D3EE"/>
                  </a:solidFill>
                  <a:latin typeface="Calibri"/>
                  <a:cs typeface="Calibri"/>
                </a:rPr>
                <a:t>4.1  System Workflow &amp; Architecture</a:t>
              </a:r>
            </a:p>
            <a:p>
              <a:pPr>
                <a:spcAft>
                  <a:spcPts val="250"/>
                </a:spcAft>
              </a:pPr>
              <a:r>
                <a:rPr lang="en-US" altLang="ko-KR" sz="1150" dirty="0">
                  <a:solidFill>
                    <a:srgbClr val="AAB3D6"/>
                  </a:solidFill>
                  <a:latin typeface="Calibri"/>
                  <a:cs typeface="Calibri"/>
                </a:rPr>
                <a:t>4.2  Evaluation Methodology</a:t>
              </a:r>
            </a:p>
            <a:p>
              <a:pPr>
                <a:spcAft>
                  <a:spcPts val="250"/>
                </a:spcAft>
              </a:pPr>
              <a:r>
                <a:rPr lang="en-US" altLang="ko-KR" sz="1150" dirty="0">
                  <a:solidFill>
                    <a:srgbClr val="AAB3D6"/>
                  </a:solidFill>
                  <a:latin typeface="Calibri"/>
                  <a:cs typeface="Calibri"/>
                </a:rPr>
                <a:t>4.3  Expected Results (Targets)</a:t>
              </a:r>
            </a:p>
          </p:txBody>
        </p:sp>
      </p:grpSp>
      <p:grpSp>
        <p:nvGrpSpPr>
          <p:cNvPr id="221" name="Group 221"/>
          <p:cNvGrpSpPr/>
          <p:nvPr/>
        </p:nvGrpSpPr>
        <p:grpSpPr>
          <a:xfrm>
            <a:off x="5310836" y="4840000"/>
            <a:ext cx="4300000" cy="1320000"/>
            <a:chOff x="0" y="0"/>
            <a:chExt cx="4300000" cy="1320000"/>
          </a:xfrm>
        </p:grpSpPr>
        <p:sp>
          <p:nvSpPr>
            <p:cNvPr id="222" name="title"/>
            <p:cNvSpPr/>
            <p:nvPr/>
          </p:nvSpPr>
          <p:spPr>
            <a:xfrm>
              <a:off x="182880" y="1173"/>
              <a:ext cx="401712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spcAft>
                  <a:spcPts val="250"/>
                </a:spcAft>
              </a:pPr>
              <a:r>
                <a:rPr lang="en-US" altLang="ko-KR" dirty="0">
                  <a:solidFill>
                    <a:srgbClr val="F5F7FF"/>
                  </a:solidFill>
                  <a:latin typeface="Calibri"/>
                  <a:cs typeface="Calibri"/>
                </a:rPr>
                <a:t>5. Application &amp; Impact</a:t>
              </a:r>
            </a:p>
          </p:txBody>
        </p:sp>
        <p:sp>
          <p:nvSpPr>
            <p:cNvPr id="223" name="bar"/>
            <p:cNvSpPr/>
            <p:nvPr/>
          </p:nvSpPr>
          <p:spPr>
            <a:xfrm>
              <a:off x="0" y="0"/>
              <a:ext cx="36000" cy="252000"/>
            </a:xfrm>
            <a:prstGeom prst="rect">
              <a:avLst/>
            </a:prstGeom>
            <a:solidFill>
              <a:srgbClr val="22D3EE"/>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4" name="items"/>
            <p:cNvSpPr/>
            <p:nvPr/>
          </p:nvSpPr>
          <p:spPr>
            <a:xfrm>
              <a:off x="979496" y="416763"/>
              <a:ext cx="3220504" cy="903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t">
              <a:noAutofit/>
            </a:bodyPr>
            <a:lstStyle/>
            <a:p>
              <a:pPr>
                <a:spcAft>
                  <a:spcPts val="250"/>
                </a:spcAft>
              </a:pPr>
              <a:r>
                <a:rPr lang="en-US" altLang="ko-KR" sz="1150" dirty="0">
                  <a:solidFill>
                    <a:srgbClr val="22D3EE"/>
                  </a:solidFill>
                  <a:latin typeface="Calibri"/>
                  <a:cs typeface="Calibri"/>
                </a:rPr>
                <a:t>5.1  User Interface &amp; Deployment</a:t>
              </a:r>
            </a:p>
            <a:p>
              <a:pPr>
                <a:spcAft>
                  <a:spcPts val="250"/>
                </a:spcAft>
              </a:pPr>
              <a:r>
                <a:rPr lang="en-US" altLang="ko-KR" sz="1150" dirty="0">
                  <a:solidFill>
                    <a:srgbClr val="AAB3D6"/>
                  </a:solidFill>
                  <a:latin typeface="Calibri"/>
                  <a:cs typeface="Calibri"/>
                </a:rPr>
                <a:t>5.2  Limitations &amp; Future Work</a:t>
              </a:r>
            </a:p>
            <a:p>
              <a:pPr>
                <a:spcAft>
                  <a:spcPts val="250"/>
                </a:spcAft>
              </a:pPr>
              <a:r>
                <a:rPr lang="en-US" altLang="ko-KR" sz="1150" dirty="0">
                  <a:solidFill>
                    <a:srgbClr val="AAB3D6"/>
                  </a:solidFill>
                  <a:latin typeface="Calibri"/>
                  <a:cs typeface="Calibri"/>
                </a:rPr>
                <a:t>5.3  Project Impact &amp; Conclusion</a:t>
              </a:r>
            </a:p>
            <a:p>
              <a:pPr>
                <a:spcAft>
                  <a:spcPts val="250"/>
                </a:spcAft>
              </a:pPr>
              <a:r>
                <a:rPr lang="en-US" altLang="ko-KR" sz="1150" dirty="0">
                  <a:solidFill>
                    <a:srgbClr val="AAB3D6"/>
                  </a:solidFill>
                  <a:latin typeface="Calibri"/>
                  <a:cs typeface="Calibri"/>
                </a:rPr>
                <a:t>5.4  Thank You / Q&amp;A</a:t>
              </a:r>
            </a:p>
          </p:txBody>
        </p:sp>
      </p:grpSp>
      <p:cxnSp>
        <p:nvCxnSpPr>
          <p:cNvPr id="339" name="agenda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340" name="agendafoot"/>
          <p:cNvSpPr txBox="1"/>
          <p:nvPr/>
        </p:nvSpPr>
        <p:spPr>
          <a:xfrm>
            <a:off x="480000" y="6580000"/>
            <a:ext cx="4000000" cy="220000"/>
          </a:xfrm>
          <a:prstGeom prst="rect">
            <a:avLst/>
          </a:prstGeom>
          <a:noFill/>
          <a:ln>
            <a:noFill/>
          </a:ln>
        </p:spPr>
        <p:txBody>
          <a:bodyPr wrap="square" lIns="0" tIns="0" rIns="0" bIns="0" anchor="t">
            <a:noAutofit/>
          </a:bodyPr>
          <a:lstStyle/>
          <a:p>
            <a:pPr algn="l"/>
            <a:r>
              <a:rPr lang="en-US" sz="900" b="0" i="0" dirty="0">
                <a:solidFill>
                  <a:srgbClr val="8891B0"/>
                </a:solidFill>
                <a:latin typeface="Calibri"/>
                <a:ea typeface="Calibri"/>
                <a:cs typeface="Calibri"/>
              </a:rPr>
              <a:t>Pi24, Team 24 · AI Capstone Project</a:t>
            </a:r>
          </a:p>
        </p:txBody>
      </p:sp>
      <p:sp>
        <p:nvSpPr>
          <p:cNvPr id="341" name="agendafoot2"/>
          <p:cNvSpPr txBox="1"/>
          <p:nvPr/>
        </p:nvSpPr>
        <p:spPr>
          <a:xfrm>
            <a:off x="7420000" y="6580000"/>
            <a:ext cx="2000000" cy="220000"/>
          </a:xfrm>
          <a:prstGeom prst="rect">
            <a:avLst/>
          </a:prstGeom>
          <a:noFill/>
          <a:ln>
            <a:noFill/>
          </a:ln>
        </p:spPr>
        <p:txBody>
          <a:bodyPr wrap="square" lIns="0" tIns="0" rIns="0" bIns="0" anchor="t">
            <a:noAutofit/>
          </a:bodyPr>
          <a:lstStyle/>
          <a:p>
            <a:pPr algn="r"/>
            <a:r>
              <a:rPr lang="en-US" sz="900" b="0" i="0" dirty="0">
                <a:solidFill>
                  <a:srgbClr val="8891B0"/>
                </a:solidFill>
                <a:latin typeface="Calibri"/>
                <a:ea typeface="Calibri"/>
                <a:cs typeface="Calibri"/>
              </a:rPr>
              <a:t>Agenda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bg01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418" name="bg01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19" name="bg01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0" name="bg01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1" name="bg01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2" name="bg01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3" name="bg01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4" name="bg01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5" name="bg01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6" name="bg01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7" name="bg01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8" name="bg01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29" name="bg01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0" name="bg01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1" name="bg01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2" name="bg01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3" name="bg01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4" name="bg01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5" name="bg01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6" name="bg01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7" name="bg01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8" name="bg01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39" name="bg01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40" name="bg01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441" name="bg01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442" name="corner01_e0_1"/>
          <p:cNvCxnSpPr/>
          <p:nvPr/>
        </p:nvCxnSpPr>
        <p:spPr>
          <a:xfrm flipV="1">
            <a:off x="9665903" y="251951"/>
            <a:ext cx="91429" cy="207759"/>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443" name="corner01_e0_4"/>
          <p:cNvCxnSpPr/>
          <p:nvPr/>
        </p:nvCxnSpPr>
        <p:spPr>
          <a:xfrm flipH="1" flipV="1">
            <a:off x="9510895" y="260479"/>
            <a:ext cx="155008" cy="19923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444" name="corner01_e1_4"/>
          <p:cNvCxnSpPr/>
          <p:nvPr/>
        </p:nvCxnSpPr>
        <p:spPr>
          <a:xfrm flipH="1">
            <a:off x="9510895" y="251951"/>
            <a:ext cx="246437" cy="852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445" name="corner01_e2_3"/>
          <p:cNvCxnSpPr/>
          <p:nvPr/>
        </p:nvCxnSpPr>
        <p:spPr>
          <a:xfrm flipV="1">
            <a:off x="9046725" y="987250"/>
            <a:ext cx="536158" cy="3211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446" name="corner01_e2_0"/>
          <p:cNvCxnSpPr/>
          <p:nvPr/>
        </p:nvCxnSpPr>
        <p:spPr>
          <a:xfrm flipV="1">
            <a:off x="9046725" y="459710"/>
            <a:ext cx="619178" cy="55965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447" name="corner01_e3_0"/>
          <p:cNvCxnSpPr/>
          <p:nvPr/>
        </p:nvCxnSpPr>
        <p:spPr>
          <a:xfrm flipV="1">
            <a:off x="9582883" y="459710"/>
            <a:ext cx="83020" cy="52754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448" name="corner01_n0"/>
          <p:cNvSpPr/>
          <p:nvPr/>
        </p:nvSpPr>
        <p:spPr>
          <a:xfrm>
            <a:off x="9658903" y="452710"/>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49" name="corner01_n1"/>
          <p:cNvSpPr/>
          <p:nvPr/>
        </p:nvSpPr>
        <p:spPr>
          <a:xfrm>
            <a:off x="9747332" y="241951"/>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50" name="corner01_n2"/>
          <p:cNvSpPr/>
          <p:nvPr/>
        </p:nvSpPr>
        <p:spPr>
          <a:xfrm>
            <a:off x="9033725" y="1006364"/>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51" name="corner01_n3"/>
          <p:cNvSpPr/>
          <p:nvPr/>
        </p:nvSpPr>
        <p:spPr>
          <a:xfrm>
            <a:off x="9575883" y="980250"/>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52" name="corner01_n4"/>
          <p:cNvSpPr/>
          <p:nvPr/>
        </p:nvSpPr>
        <p:spPr>
          <a:xfrm>
            <a:off x="9500895" y="250479"/>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1.1</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FOUNDATIONS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01</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453"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5300000" cy="680000"/>
          </a:xfrm>
        </p:spPr>
        <p:txBody>
          <a:bodyPr>
            <a:normAutofit/>
          </a:bodyPr>
          <a:lstStyle/>
          <a:p>
            <a:r>
              <a:rPr lang="en-US" altLang="ko-KR" sz="3200" b="1" dirty="0">
                <a:solidFill>
                  <a:srgbClr val="FFFFFF"/>
                </a:solidFill>
                <a:latin typeface="Calibri"/>
                <a:cs typeface="Calibri"/>
              </a:rPr>
              <a:t>Problem &amp; Background</a:t>
            </a:r>
            <a:endParaRPr lang="ko-KR" altLang="en-US" sz="3200" dirty="0"/>
          </a:p>
        </p:txBody>
      </p:sp>
      <p:sp>
        <p:nvSpPr>
          <p:cNvPr id="7" name="Body"/>
          <p:cNvSpPr>
            <a:spLocks noGrp="1"/>
          </p:cNvSpPr>
          <p:nvPr>
            <p:ph type="body" sz="quarter" idx="15"/>
          </p:nvPr>
        </p:nvSpPr>
        <p:spPr>
          <a:xfrm>
            <a:off x="522288" y="1650000"/>
            <a:ext cx="5100000"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Brain tumors are abnormal tissue growths that require timely, accurate assessment.</a:t>
            </a:r>
          </a:p>
          <a:p>
            <a:pPr marL="228600" indent="-228600">
              <a:buClr>
                <a:srgbClr val="22D3EE"/>
              </a:buClr>
              <a:buFont typeface="Arial"/>
              <a:buChar char="▸"/>
            </a:pPr>
            <a:r>
              <a:rPr lang="en-US" altLang="ko-KR" dirty="0">
                <a:solidFill>
                  <a:srgbClr val="DCE2F5"/>
                </a:solidFill>
                <a:latin typeface="Calibri"/>
                <a:cs typeface="Calibri"/>
              </a:rPr>
              <a:t>MRI is widely used to visualize brain structure and tumor regions.</a:t>
            </a:r>
          </a:p>
          <a:p>
            <a:pPr marL="228600" indent="-228600">
              <a:buClr>
                <a:srgbClr val="22D3EE"/>
              </a:buClr>
              <a:buFont typeface="Arial"/>
              <a:buChar char="▸"/>
            </a:pPr>
            <a:r>
              <a:rPr lang="en-US" altLang="ko-KR" dirty="0">
                <a:solidFill>
                  <a:srgbClr val="DCE2F5"/>
                </a:solidFill>
                <a:latin typeface="Calibri"/>
                <a:cs typeface="Calibri"/>
              </a:rPr>
              <a:t>Two things matter most for every scan: the tumor type, and where it is located.</a:t>
            </a:r>
          </a:p>
          <a:p>
            <a:pPr marL="228600" indent="-228600">
              <a:buClr>
                <a:srgbClr val="22D3EE"/>
              </a:buClr>
              <a:buFont typeface="Arial"/>
              <a:buChar char="▸"/>
            </a:pPr>
            <a:r>
              <a:rPr lang="en-US" altLang="ko-KR" dirty="0">
                <a:solidFill>
                  <a:srgbClr val="DCE2F5"/>
                </a:solidFill>
                <a:latin typeface="Calibri"/>
                <a:cs typeface="Calibri"/>
              </a:rPr>
              <a:t>Manual identification and delineation of tumors is time-consuming — this motivates using deep learning to support the analysis.</a:t>
            </a:r>
          </a:p>
        </p:txBody>
      </p:sp>
      <p:sp>
        <p:nvSpPr>
          <p:cNvPr id="101" name="probcard1_bg0"/>
          <p:cNvSpPr/>
          <p:nvPr/>
        </p:nvSpPr>
        <p:spPr>
          <a:xfrm>
            <a:off x="480000" y="3970000"/>
            <a:ext cx="5000000" cy="9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02" name="probcard1_hdr0"/>
          <p:cNvSpPr txBox="1"/>
          <p:nvPr/>
        </p:nvSpPr>
        <p:spPr>
          <a:xfrm>
            <a:off x="880000" y="4042000"/>
            <a:ext cx="4200000" cy="25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WHAT is it?</a:t>
            </a:r>
          </a:p>
        </p:txBody>
      </p:sp>
      <p:sp>
        <p:nvSpPr>
          <p:cNvPr id="103" name="probcard1_sub0"/>
          <p:cNvSpPr txBox="1"/>
          <p:nvPr/>
        </p:nvSpPr>
        <p:spPr>
          <a:xfrm>
            <a:off x="880000" y="4276000"/>
            <a:ext cx="4200000" cy="576000"/>
          </a:xfrm>
          <a:prstGeom prst="rect">
            <a:avLst/>
          </a:prstGeom>
          <a:noFill/>
          <a:ln>
            <a:noFill/>
          </a:ln>
        </p:spPr>
        <p:txBody>
          <a:bodyPr wrap="square" lIns="0" tIns="0" rIns="0" bIns="0" anchor="t">
            <a:noAutofit/>
          </a:bodyPr>
          <a:lstStyle/>
          <a:p>
            <a:pPr algn="ctr">
              <a:spcAft>
                <a:spcPts val="300"/>
              </a:spcAft>
            </a:pPr>
            <a:r>
              <a:rPr lang="en-US" sz="1100" b="1" i="0" dirty="0">
                <a:solidFill>
                  <a:srgbClr val="E7EAF6"/>
                </a:solidFill>
                <a:latin typeface="Calibri"/>
                <a:ea typeface="Calibri"/>
                <a:cs typeface="Calibri"/>
              </a:rPr>
              <a:t>Tumor type</a:t>
            </a:r>
          </a:p>
          <a:p>
            <a:pPr algn="ctr">
              <a:spcAft>
                <a:spcPts val="300"/>
              </a:spcAft>
            </a:pPr>
            <a:r>
              <a:rPr lang="en-US" sz="1000" b="0" i="0" dirty="0">
                <a:solidFill>
                  <a:srgbClr val="8891B0"/>
                </a:solidFill>
                <a:latin typeface="Calibri"/>
                <a:ea typeface="Calibri"/>
                <a:cs typeface="Calibri"/>
              </a:rPr>
              <a:t>Glioma / Meningioma /</a:t>
            </a:r>
          </a:p>
          <a:p>
            <a:pPr algn="ctr">
              <a:spcAft>
                <a:spcPts val="300"/>
              </a:spcAft>
            </a:pPr>
            <a:r>
              <a:rPr lang="en-US" sz="1000" b="0" i="0" dirty="0">
                <a:solidFill>
                  <a:srgbClr val="8891B0"/>
                </a:solidFill>
                <a:latin typeface="Calibri"/>
                <a:ea typeface="Calibri"/>
                <a:cs typeface="Calibri"/>
              </a:rPr>
              <a:t>Pituitary / No Tumor</a:t>
            </a:r>
          </a:p>
        </p:txBody>
      </p:sp>
      <p:sp>
        <p:nvSpPr>
          <p:cNvPr id="104" name="probcard2_bg0"/>
          <p:cNvSpPr/>
          <p:nvPr/>
        </p:nvSpPr>
        <p:spPr>
          <a:xfrm>
            <a:off x="480000" y="4970000"/>
            <a:ext cx="5000000" cy="9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05" name="probcard2_hdr0"/>
          <p:cNvSpPr txBox="1"/>
          <p:nvPr/>
        </p:nvSpPr>
        <p:spPr>
          <a:xfrm>
            <a:off x="880000" y="5042000"/>
            <a:ext cx="4200000" cy="25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WHERE is it?</a:t>
            </a:r>
          </a:p>
        </p:txBody>
      </p:sp>
      <p:sp>
        <p:nvSpPr>
          <p:cNvPr id="106" name="probcard2_sub0"/>
          <p:cNvSpPr txBox="1"/>
          <p:nvPr/>
        </p:nvSpPr>
        <p:spPr>
          <a:xfrm>
            <a:off x="880000" y="5276000"/>
            <a:ext cx="4200000" cy="576000"/>
          </a:xfrm>
          <a:prstGeom prst="rect">
            <a:avLst/>
          </a:prstGeom>
          <a:noFill/>
          <a:ln>
            <a:noFill/>
          </a:ln>
        </p:spPr>
        <p:txBody>
          <a:bodyPr wrap="square" lIns="0" tIns="0" rIns="0" bIns="0" anchor="t">
            <a:noAutofit/>
          </a:bodyPr>
          <a:lstStyle/>
          <a:p>
            <a:pPr algn="ctr">
              <a:spcAft>
                <a:spcPts val="300"/>
              </a:spcAft>
            </a:pPr>
            <a:r>
              <a:rPr lang="en-US" sz="1100" b="1" i="0" dirty="0">
                <a:solidFill>
                  <a:srgbClr val="E7EAF6"/>
                </a:solidFill>
                <a:latin typeface="Calibri"/>
                <a:ea typeface="Calibri"/>
                <a:cs typeface="Calibri"/>
              </a:rPr>
              <a:t>Tumor location</a:t>
            </a:r>
          </a:p>
          <a:p>
            <a:pPr algn="ctr">
              <a:spcAft>
                <a:spcPts val="300"/>
              </a:spcAft>
            </a:pPr>
            <a:r>
              <a:rPr lang="en-US" sz="1000" b="0" i="0" dirty="0">
                <a:solidFill>
                  <a:srgbClr val="8891B0"/>
                </a:solidFill>
                <a:latin typeface="Calibri"/>
                <a:ea typeface="Calibri"/>
                <a:cs typeface="Calibri"/>
              </a:rPr>
              <a:t>Pixel-level region</a:t>
            </a:r>
          </a:p>
          <a:p>
            <a:pPr algn="ctr">
              <a:spcAft>
                <a:spcPts val="300"/>
              </a:spcAft>
            </a:pPr>
            <a:r>
              <a:rPr lang="en-US" sz="1000" b="0" i="0" dirty="0">
                <a:solidFill>
                  <a:srgbClr val="8891B0"/>
                </a:solidFill>
                <a:latin typeface="Calibri"/>
                <a:ea typeface="Calibri"/>
                <a:cs typeface="Calibri"/>
              </a:rPr>
              <a:t>within the scan</a:t>
            </a:r>
          </a:p>
        </p:txBody>
      </p:sp>
      <p:sp>
        <p:nvSpPr>
          <p:cNvPr id="107" name="probmri_bg"/>
          <p:cNvSpPr/>
          <p:nvPr/>
        </p:nvSpPr>
        <p:spPr>
          <a:xfrm>
            <a:off x="5930000" y="3270000"/>
            <a:ext cx="3400000" cy="3400000"/>
          </a:xfrm>
          <a:prstGeom prst="roundRect">
            <a:avLst>
              <a:gd name="adj" fmla="val 6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08" name="probmri_border"/>
          <p:cNvSpPr/>
          <p:nvPr/>
        </p:nvSpPr>
        <p:spPr>
          <a:xfrm>
            <a:off x="5930000" y="3270000"/>
            <a:ext cx="3400000" cy="3400000"/>
          </a:xfrm>
          <a:prstGeom prst="roundRect">
            <a:avLst>
              <a:gd name="adj" fmla="val 6000"/>
            </a:avLst>
          </a:prstGeom>
          <a:no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cxnSp>
        <p:nvCxnSpPr>
          <p:cNvPr id="109" name="probmri_ck1"/>
          <p:cNvCxnSpPr/>
          <p:nvPr/>
        </p:nvCxnSpPr>
        <p:spPr>
          <a:xfrm>
            <a:off x="6083000" y="3423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0" name="probmri_ck2"/>
          <p:cNvCxnSpPr/>
          <p:nvPr/>
        </p:nvCxnSpPr>
        <p:spPr>
          <a:xfrm>
            <a:off x="6083000" y="3423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1" name="probmri_ck1"/>
          <p:cNvCxnSpPr/>
          <p:nvPr/>
        </p:nvCxnSpPr>
        <p:spPr>
          <a:xfrm flipH="1">
            <a:off x="8871000" y="3423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2" name="probmri_ck2"/>
          <p:cNvCxnSpPr/>
          <p:nvPr/>
        </p:nvCxnSpPr>
        <p:spPr>
          <a:xfrm>
            <a:off x="9177000" y="3423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3" name="probmri_ck1"/>
          <p:cNvCxnSpPr/>
          <p:nvPr/>
        </p:nvCxnSpPr>
        <p:spPr>
          <a:xfrm>
            <a:off x="6083000" y="6517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4" name="probmri_ck2"/>
          <p:cNvCxnSpPr/>
          <p:nvPr/>
        </p:nvCxnSpPr>
        <p:spPr>
          <a:xfrm flipV="1">
            <a:off x="6083000" y="6211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5" name="probmri_ck1"/>
          <p:cNvCxnSpPr/>
          <p:nvPr/>
        </p:nvCxnSpPr>
        <p:spPr>
          <a:xfrm flipH="1">
            <a:off x="8871000" y="6517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16" name="probmri_ck2"/>
          <p:cNvCxnSpPr/>
          <p:nvPr/>
        </p:nvCxnSpPr>
        <p:spPr>
          <a:xfrm flipV="1">
            <a:off x="9177000" y="6211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sp>
        <p:nvSpPr>
          <p:cNvPr id="117" name="probmri_brain"/>
          <p:cNvSpPr/>
          <p:nvPr/>
        </p:nvSpPr>
        <p:spPr>
          <a:xfrm>
            <a:off x="6576000" y="3712000"/>
            <a:ext cx="2108000" cy="168640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3000"/>
            </a:srgbClr>
          </a:solidFill>
          <a:ln w="15875">
            <a:solidFill>
              <a:srgbClr val="67E8F9">
                <a:alpha val="60000"/>
              </a:srgbClr>
            </a:solidFill>
          </a:ln>
        </p:spPr>
        <p:txBody>
          <a:bodyPr/>
          <a:lstStyle/>
          <a:p>
            <a:endParaRPr lang="en-US"/>
          </a:p>
        </p:txBody>
      </p:sp>
      <p:sp>
        <p:nvSpPr>
          <p:cNvPr id="118" name="probmri_fissure"/>
          <p:cNvSpPr/>
          <p:nvPr/>
        </p:nvSpPr>
        <p:spPr>
          <a:xfrm>
            <a:off x="6576000" y="3712000"/>
            <a:ext cx="2108000" cy="1686400"/>
          </a:xfrm>
          <a:custGeom>
            <a:avLst/>
            <a:gdLst/>
            <a:ahLst/>
            <a:cxnLst/>
            <a:rect l="0" t="0" r="0" b="0"/>
            <a:pathLst>
              <a:path w="1000" h="1000">
                <a:moveTo>
                  <a:pt x="500" y="90"/>
                </a:moveTo>
                <a:cubicBezTo>
                  <a:pt x="530" y="250"/>
                  <a:pt x="470" y="420"/>
                  <a:pt x="500" y="560"/>
                </a:cubicBezTo>
                <a:cubicBezTo>
                  <a:pt x="515" y="630"/>
                  <a:pt x="495" y="690"/>
                  <a:pt x="500" y="740"/>
                </a:cubicBezTo>
              </a:path>
            </a:pathLst>
          </a:custGeom>
          <a:noFill/>
          <a:ln w="9525">
            <a:solidFill>
              <a:srgbClr val="67E8F9">
                <a:alpha val="30000"/>
              </a:srgbClr>
            </a:solidFill>
          </a:ln>
        </p:spPr>
        <p:txBody>
          <a:bodyPr/>
          <a:lstStyle/>
          <a:p>
            <a:endParaRPr lang="en-US"/>
          </a:p>
        </p:txBody>
      </p:sp>
      <p:sp>
        <p:nvSpPr>
          <p:cNvPr id="119" name="probmri_brain2"/>
          <p:cNvSpPr/>
          <p:nvPr/>
        </p:nvSpPr>
        <p:spPr>
          <a:xfrm>
            <a:off x="6744640" y="3880640"/>
            <a:ext cx="1770720" cy="1416576"/>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noFill/>
          <a:ln w="15875">
            <a:solidFill>
              <a:srgbClr val="C4B5FD">
                <a:alpha val="22000"/>
              </a:srgbClr>
            </a:solidFill>
          </a:ln>
        </p:spPr>
        <p:txBody>
          <a:bodyPr/>
          <a:lstStyle/>
          <a:p>
            <a:endParaRPr lang="en-US"/>
          </a:p>
        </p:txBody>
      </p:sp>
      <p:sp>
        <p:nvSpPr>
          <p:cNvPr id="120" name="probmri_tumorglow0"/>
          <p:cNvSpPr/>
          <p:nvPr/>
        </p:nvSpPr>
        <p:spPr>
          <a:xfrm>
            <a:off x="7692960" y="4365200"/>
            <a:ext cx="380000" cy="380000"/>
          </a:xfrm>
          <a:prstGeom prst="ellipse">
            <a:avLst/>
          </a:prstGeom>
          <a:solidFill>
            <a:srgbClr val="FF4D6D">
              <a:alpha val="1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21" name="probmri_tumorglow1"/>
          <p:cNvSpPr/>
          <p:nvPr/>
        </p:nvSpPr>
        <p:spPr>
          <a:xfrm>
            <a:off x="7742960" y="4415200"/>
            <a:ext cx="280000" cy="280000"/>
          </a:xfrm>
          <a:prstGeom prst="ellipse">
            <a:avLst/>
          </a:prstGeom>
          <a:solidFill>
            <a:srgbClr val="FF4D6D">
              <a:alpha val="18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22" name="probmri_tumorglow2"/>
          <p:cNvSpPr/>
          <p:nvPr/>
        </p:nvSpPr>
        <p:spPr>
          <a:xfrm>
            <a:off x="7787960" y="4460200"/>
            <a:ext cx="190000" cy="190000"/>
          </a:xfrm>
          <a:prstGeom prst="ellipse">
            <a:avLst/>
          </a:prstGeom>
          <a:solidFill>
            <a:srgbClr val="FF4D6D">
              <a:alpha val="3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23" name="probmri_tumorglow3"/>
          <p:cNvSpPr/>
          <p:nvPr/>
        </p:nvSpPr>
        <p:spPr>
          <a:xfrm>
            <a:off x="7827960" y="4500200"/>
            <a:ext cx="110000" cy="110000"/>
          </a:xfrm>
          <a:prstGeom prst="ellipse">
            <a:avLst/>
          </a:prstGeom>
          <a:solidFill>
            <a:srgbClr val="FF4D6D">
              <a:alpha val="55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24" name="probmri_tumorcore"/>
          <p:cNvSpPr/>
          <p:nvPr/>
        </p:nvSpPr>
        <p:spPr>
          <a:xfrm>
            <a:off x="7850960" y="4523200"/>
            <a:ext cx="64000" cy="64000"/>
          </a:xfrm>
          <a:prstGeom prst="ellipse">
            <a:avLst/>
          </a:prstGeom>
          <a:solidFill>
            <a:srgbClr val="FF4D6D">
              <a:alpha val="95000"/>
            </a:srgbClr>
          </a:solidFill>
          <a:ln>
            <a:noFill/>
          </a:ln>
          <a:effectLst>
            <a:glow rad="45000">
              <a:srgbClr val="FF4D6D">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125" name="probmri_scanline"/>
          <p:cNvCxnSpPr/>
          <p:nvPr/>
        </p:nvCxnSpPr>
        <p:spPr>
          <a:xfrm>
            <a:off x="6134000" y="5378000"/>
            <a:ext cx="2992000" cy="1"/>
          </a:xfrm>
          <a:prstGeom prst="line">
            <a:avLst/>
          </a:prstGeom>
          <a:ln w="12700">
            <a:solidFill>
              <a:srgbClr val="22D3EE">
                <a:alpha val="55000"/>
              </a:srgbClr>
            </a:solidFill>
          </a:ln>
          <a:effectLst>
            <a:glow rad="45000">
              <a:srgbClr val="22D3EE">
                <a:alpha val="55000"/>
              </a:srgbClr>
            </a:glow>
          </a:effectLst>
        </p:spPr>
        <p:style>
          <a:lnRef idx="1">
            <a:schemeClr val="accent1"/>
          </a:lnRef>
          <a:fillRef idx="0">
            <a:schemeClr val="accent1"/>
          </a:fillRef>
          <a:effectRef idx="0">
            <a:schemeClr val="accent1"/>
          </a:effectRef>
          <a:fontRef idx="minor">
            <a:schemeClr val="tx1"/>
          </a:fontRef>
        </p:style>
      </p:cxnSp>
      <p:cxnSp>
        <p:nvCxnSpPr>
          <p:cNvPr id="126" name="probmri_edge0_4"/>
          <p:cNvCxnSpPr/>
          <p:nvPr/>
        </p:nvCxnSpPr>
        <p:spPr>
          <a:xfrm>
            <a:off x="8391675" y="3595156"/>
            <a:ext cx="286764" cy="35818"/>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127" name="probmri_edge1_3"/>
          <p:cNvCxnSpPr/>
          <p:nvPr/>
        </p:nvCxnSpPr>
        <p:spPr>
          <a:xfrm flipV="1">
            <a:off x="8215505" y="6077235"/>
            <a:ext cx="95870" cy="344932"/>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128" name="probmri_edge2_0"/>
          <p:cNvCxnSpPr/>
          <p:nvPr/>
        </p:nvCxnSpPr>
        <p:spPr>
          <a:xfrm>
            <a:off x="6263264" y="3577918"/>
            <a:ext cx="2128411" cy="17238"/>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sp>
        <p:nvSpPr>
          <p:cNvPr id="129" name="probmri_node0"/>
          <p:cNvSpPr/>
          <p:nvPr/>
        </p:nvSpPr>
        <p:spPr>
          <a:xfrm>
            <a:off x="8381675" y="3585156"/>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0" name="probmri_node1"/>
          <p:cNvSpPr/>
          <p:nvPr/>
        </p:nvSpPr>
        <p:spPr>
          <a:xfrm>
            <a:off x="8205505" y="6412167"/>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1" name="probmri_node2"/>
          <p:cNvSpPr/>
          <p:nvPr/>
        </p:nvSpPr>
        <p:spPr>
          <a:xfrm>
            <a:off x="6253264" y="3567918"/>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2" name="probmri_node3"/>
          <p:cNvSpPr/>
          <p:nvPr/>
        </p:nvSpPr>
        <p:spPr>
          <a:xfrm>
            <a:off x="8301375" y="6067235"/>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3" name="probmri_node4"/>
          <p:cNvSpPr/>
          <p:nvPr/>
        </p:nvSpPr>
        <p:spPr>
          <a:xfrm>
            <a:off x="8668439" y="3620974"/>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454"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Foundations · 01</a:t>
            </a:r>
          </a:p>
        </p:txBody>
      </p:sp>
    </p:spTree>
    <p:extLst>
      <p:ext uri="{BB962C8B-B14F-4D97-AF65-F5344CB8AC3E}">
        <p14:creationId xmlns:p14="http://schemas.microsoft.com/office/powerpoint/2010/main" val="40804627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bg02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456" name="bg02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57" name="bg02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58" name="bg02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59" name="bg02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0" name="bg02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1" name="bg02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2" name="bg02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3" name="bg02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4" name="bg02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5" name="bg02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6" name="bg02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7" name="bg02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8" name="bg02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69" name="bg02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0" name="bg02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1" name="bg02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2" name="bg02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3" name="bg02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4" name="bg02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5" name="bg02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6" name="bg02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7" name="bg02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78" name="bg02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479" name="bg02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480" name="corner02_e0_4"/>
          <p:cNvCxnSpPr/>
          <p:nvPr/>
        </p:nvCxnSpPr>
        <p:spPr>
          <a:xfrm flipH="1">
            <a:off x="9186505" y="270342"/>
            <a:ext cx="41488" cy="204195"/>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481" name="corner02_e0_3"/>
          <p:cNvCxnSpPr/>
          <p:nvPr/>
        </p:nvCxnSpPr>
        <p:spPr>
          <a:xfrm flipH="1">
            <a:off x="9058508" y="270342"/>
            <a:ext cx="169485" cy="41382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482" name="corner02_e1_2"/>
          <p:cNvCxnSpPr/>
          <p:nvPr/>
        </p:nvCxnSpPr>
        <p:spPr>
          <a:xfrm flipV="1">
            <a:off x="9526653" y="615253"/>
            <a:ext cx="134403" cy="12295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483" name="corner02_e1_4"/>
          <p:cNvCxnSpPr/>
          <p:nvPr/>
        </p:nvCxnSpPr>
        <p:spPr>
          <a:xfrm flipH="1" flipV="1">
            <a:off x="9186505" y="474537"/>
            <a:ext cx="340148" cy="26367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484" name="corner02_e2_4"/>
          <p:cNvCxnSpPr/>
          <p:nvPr/>
        </p:nvCxnSpPr>
        <p:spPr>
          <a:xfrm flipH="1" flipV="1">
            <a:off x="9186505" y="474537"/>
            <a:ext cx="474551" cy="140716"/>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485" name="corner02_e3_4"/>
          <p:cNvCxnSpPr/>
          <p:nvPr/>
        </p:nvCxnSpPr>
        <p:spPr>
          <a:xfrm flipV="1">
            <a:off x="9058508" y="474537"/>
            <a:ext cx="127997" cy="20962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486" name="corner02_n0"/>
          <p:cNvSpPr/>
          <p:nvPr/>
        </p:nvSpPr>
        <p:spPr>
          <a:xfrm>
            <a:off x="9220993" y="263342"/>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87" name="corner02_n1"/>
          <p:cNvSpPr/>
          <p:nvPr/>
        </p:nvSpPr>
        <p:spPr>
          <a:xfrm>
            <a:off x="9516653" y="728210"/>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88" name="corner02_n2"/>
          <p:cNvSpPr/>
          <p:nvPr/>
        </p:nvSpPr>
        <p:spPr>
          <a:xfrm>
            <a:off x="9648056" y="602253"/>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89" name="corner02_n3"/>
          <p:cNvSpPr/>
          <p:nvPr/>
        </p:nvSpPr>
        <p:spPr>
          <a:xfrm>
            <a:off x="9051508" y="677164"/>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90" name="corner02_n4"/>
          <p:cNvSpPr/>
          <p:nvPr/>
        </p:nvSpPr>
        <p:spPr>
          <a:xfrm>
            <a:off x="9176505" y="464537"/>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1.2</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FOUNDATIONS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02</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491"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Why AI for Brain MRI?</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Deep learning models learn visual patterns directly from image data, without hand-crafted rules.</a:t>
            </a:r>
          </a:p>
          <a:p>
            <a:pPr marL="228600" indent="-228600">
              <a:buClr>
                <a:srgbClr val="22D3EE"/>
              </a:buClr>
              <a:buFont typeface="Arial"/>
              <a:buChar char="▸"/>
            </a:pPr>
            <a:r>
              <a:rPr lang="en-US" altLang="ko-KR" dirty="0">
                <a:solidFill>
                  <a:srgbClr val="DCE2F5"/>
                </a:solidFill>
                <a:latin typeface="Calibri"/>
                <a:cs typeface="Calibri"/>
              </a:rPr>
              <a:t>A trained model can act as a fast, consistent second reader to support — not replace — manual review.</a:t>
            </a:r>
          </a:p>
          <a:p>
            <a:pPr marL="228600" indent="-228600">
              <a:buClr>
                <a:srgbClr val="22D3EE"/>
              </a:buClr>
              <a:buFont typeface="Arial"/>
              <a:buChar char="▸"/>
            </a:pPr>
            <a:r>
              <a:rPr lang="en-US" altLang="ko-KR" dirty="0">
                <a:solidFill>
                  <a:srgbClr val="DCE2F5"/>
                </a:solidFill>
                <a:latin typeface="Calibri"/>
                <a:cs typeface="Calibri"/>
              </a:rPr>
              <a:t>Combining classification and segmentation in one pipeline mirrors how a reviewer both identifies and localizes a tumor.</a:t>
            </a:r>
          </a:p>
        </p:txBody>
      </p:sp>
      <p:sp>
        <p:nvSpPr>
          <p:cNvPr id="134" name="whycard_bg0"/>
          <p:cNvSpPr/>
          <p:nvPr/>
        </p:nvSpPr>
        <p:spPr>
          <a:xfrm>
            <a:off x="480000" y="4170000"/>
            <a:ext cx="27800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35" name="whycard_hdr0"/>
          <p:cNvSpPr txBox="1"/>
          <p:nvPr/>
        </p:nvSpPr>
        <p:spPr>
          <a:xfrm>
            <a:off x="702400" y="4290000"/>
            <a:ext cx="23352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Learns from data</a:t>
            </a:r>
          </a:p>
        </p:txBody>
      </p:sp>
      <p:sp>
        <p:nvSpPr>
          <p:cNvPr id="136" name="whycard_sub0"/>
          <p:cNvSpPr txBox="1"/>
          <p:nvPr/>
        </p:nvSpPr>
        <p:spPr>
          <a:xfrm>
            <a:off x="702400" y="4680000"/>
            <a:ext cx="2335200" cy="960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Patterns are learned</a:t>
            </a:r>
          </a:p>
          <a:p>
            <a:pPr algn="ctr">
              <a:spcAft>
                <a:spcPts val="300"/>
              </a:spcAft>
            </a:pPr>
            <a:r>
              <a:rPr lang="en-US" sz="1000" b="0" i="0" dirty="0">
                <a:solidFill>
                  <a:srgbClr val="E7EAF6"/>
                </a:solidFill>
                <a:latin typeface="Calibri"/>
                <a:ea typeface="Calibri"/>
                <a:cs typeface="Calibri"/>
              </a:rPr>
              <a:t>directly from pixels</a:t>
            </a:r>
          </a:p>
        </p:txBody>
      </p:sp>
      <p:sp>
        <p:nvSpPr>
          <p:cNvPr id="137" name="whycard_bg1"/>
          <p:cNvSpPr/>
          <p:nvPr/>
        </p:nvSpPr>
        <p:spPr>
          <a:xfrm>
            <a:off x="3560000" y="4170000"/>
            <a:ext cx="27800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38" name="whycard_hdr1"/>
          <p:cNvSpPr txBox="1"/>
          <p:nvPr/>
        </p:nvSpPr>
        <p:spPr>
          <a:xfrm>
            <a:off x="3782400" y="4290000"/>
            <a:ext cx="23352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Fast &amp; consistent</a:t>
            </a:r>
          </a:p>
        </p:txBody>
      </p:sp>
      <p:sp>
        <p:nvSpPr>
          <p:cNvPr id="139" name="whycard_sub1"/>
          <p:cNvSpPr txBox="1"/>
          <p:nvPr/>
        </p:nvSpPr>
        <p:spPr>
          <a:xfrm>
            <a:off x="3782400" y="4680000"/>
            <a:ext cx="2335200" cy="960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A repeatable second</a:t>
            </a:r>
          </a:p>
          <a:p>
            <a:pPr algn="ctr">
              <a:spcAft>
                <a:spcPts val="300"/>
              </a:spcAft>
            </a:pPr>
            <a:r>
              <a:rPr lang="en-US" sz="1000" b="0" i="0" dirty="0">
                <a:solidFill>
                  <a:srgbClr val="E7EAF6"/>
                </a:solidFill>
                <a:latin typeface="Calibri"/>
                <a:ea typeface="Calibri"/>
                <a:cs typeface="Calibri"/>
              </a:rPr>
              <a:t>read, every time</a:t>
            </a:r>
          </a:p>
        </p:txBody>
      </p:sp>
      <p:sp>
        <p:nvSpPr>
          <p:cNvPr id="140" name="whycard_bg2"/>
          <p:cNvSpPr/>
          <p:nvPr/>
        </p:nvSpPr>
        <p:spPr>
          <a:xfrm>
            <a:off x="6640000" y="4170000"/>
            <a:ext cx="27800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1" name="whycard_hdr2"/>
          <p:cNvSpPr txBox="1"/>
          <p:nvPr/>
        </p:nvSpPr>
        <p:spPr>
          <a:xfrm>
            <a:off x="6862400" y="4290000"/>
            <a:ext cx="23352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Type + Location</a:t>
            </a:r>
          </a:p>
        </p:txBody>
      </p:sp>
      <p:sp>
        <p:nvSpPr>
          <p:cNvPr id="142" name="whycard_sub2"/>
          <p:cNvSpPr txBox="1"/>
          <p:nvPr/>
        </p:nvSpPr>
        <p:spPr>
          <a:xfrm>
            <a:off x="6862400" y="4680000"/>
            <a:ext cx="2335200" cy="960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One pipeline answers</a:t>
            </a:r>
          </a:p>
          <a:p>
            <a:pPr algn="ctr">
              <a:spcAft>
                <a:spcPts val="300"/>
              </a:spcAft>
            </a:pPr>
            <a:r>
              <a:rPr lang="en-US" sz="1000" b="0" i="0" dirty="0">
                <a:solidFill>
                  <a:srgbClr val="E7EAF6"/>
                </a:solidFill>
                <a:latin typeface="Calibri"/>
                <a:ea typeface="Calibri"/>
                <a:cs typeface="Calibri"/>
              </a:rPr>
              <a:t>both questions together</a:t>
            </a:r>
          </a:p>
        </p:txBody>
      </p:sp>
      <p:cxnSp>
        <p:nvCxnSpPr>
          <p:cNvPr id="492"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Foundations · 02</a:t>
            </a:r>
          </a:p>
        </p:txBody>
      </p:sp>
    </p:spTree>
    <p:extLst>
      <p:ext uri="{BB962C8B-B14F-4D97-AF65-F5344CB8AC3E}">
        <p14:creationId xmlns:p14="http://schemas.microsoft.com/office/powerpoint/2010/main" val="40804627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bg03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494" name="bg03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95" name="bg03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96" name="bg03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97" name="bg03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98" name="bg03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499" name="bg03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0" name="bg03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1" name="bg03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2" name="bg03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3" name="bg03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4" name="bg03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5" name="bg03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6" name="bg03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7" name="bg03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8" name="bg03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09" name="bg03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0" name="bg03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1" name="bg03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2" name="bg03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3" name="bg03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4" name="bg03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5" name="bg03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16" name="bg03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517" name="bg03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518" name="corner03_e0_1"/>
          <p:cNvCxnSpPr/>
          <p:nvPr/>
        </p:nvCxnSpPr>
        <p:spPr>
          <a:xfrm flipH="1">
            <a:off x="9184860" y="203319"/>
            <a:ext cx="65602" cy="19364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19" name="corner03_e0_3"/>
          <p:cNvCxnSpPr/>
          <p:nvPr/>
        </p:nvCxnSpPr>
        <p:spPr>
          <a:xfrm flipH="1">
            <a:off x="9210644" y="203319"/>
            <a:ext cx="39818" cy="39957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20" name="corner03_e1_3"/>
          <p:cNvCxnSpPr/>
          <p:nvPr/>
        </p:nvCxnSpPr>
        <p:spPr>
          <a:xfrm>
            <a:off x="9184860" y="396963"/>
            <a:ext cx="25784" cy="20592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21" name="corner03_e2_4"/>
          <p:cNvCxnSpPr/>
          <p:nvPr/>
        </p:nvCxnSpPr>
        <p:spPr>
          <a:xfrm flipH="1">
            <a:off x="9301930" y="745769"/>
            <a:ext cx="484367" cy="5712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22" name="corner03_e2_3"/>
          <p:cNvCxnSpPr/>
          <p:nvPr/>
        </p:nvCxnSpPr>
        <p:spPr>
          <a:xfrm flipH="1" flipV="1">
            <a:off x="9210644" y="602891"/>
            <a:ext cx="575653" cy="14287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23" name="corner03_e3_4"/>
          <p:cNvCxnSpPr/>
          <p:nvPr/>
        </p:nvCxnSpPr>
        <p:spPr>
          <a:xfrm>
            <a:off x="9210644" y="602891"/>
            <a:ext cx="91286" cy="20000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24" name="corner03_e4_1"/>
          <p:cNvCxnSpPr/>
          <p:nvPr/>
        </p:nvCxnSpPr>
        <p:spPr>
          <a:xfrm flipH="1" flipV="1">
            <a:off x="9184860" y="396963"/>
            <a:ext cx="117070" cy="40593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525" name="corner03_n0"/>
          <p:cNvSpPr/>
          <p:nvPr/>
        </p:nvSpPr>
        <p:spPr>
          <a:xfrm>
            <a:off x="9243462" y="196319"/>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26" name="corner03_n1"/>
          <p:cNvSpPr/>
          <p:nvPr/>
        </p:nvSpPr>
        <p:spPr>
          <a:xfrm>
            <a:off x="9174860" y="386963"/>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27" name="corner03_n2"/>
          <p:cNvSpPr/>
          <p:nvPr/>
        </p:nvSpPr>
        <p:spPr>
          <a:xfrm>
            <a:off x="9773297" y="732769"/>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28" name="corner03_n3"/>
          <p:cNvSpPr/>
          <p:nvPr/>
        </p:nvSpPr>
        <p:spPr>
          <a:xfrm>
            <a:off x="9203644" y="595891"/>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29" name="corner03_n4"/>
          <p:cNvSpPr/>
          <p:nvPr/>
        </p:nvSpPr>
        <p:spPr>
          <a:xfrm>
            <a:off x="9291930" y="792897"/>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1.3</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FOUNDATIONS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03</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530"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Motivation &amp; Objective</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Our motivation: our team set out to build a simple, understandable AI pipeline that pairs tumor-type classification with tumor localization.</a:t>
            </a:r>
          </a:p>
          <a:p>
            <a:pPr marL="228600" indent="-228600">
              <a:buClr>
                <a:srgbClr val="22D3EE"/>
              </a:buClr>
              <a:buFont typeface="Arial"/>
              <a:buChar char="▸"/>
            </a:pPr>
            <a:r>
              <a:rPr lang="en-US" altLang="ko-KR" dirty="0">
                <a:solidFill>
                  <a:srgbClr val="DCE2F5"/>
                </a:solidFill>
                <a:latin typeface="Calibri"/>
                <a:cs typeface="Calibri"/>
              </a:rPr>
              <a:t>BRISC2025 was chosen because it supports both tasks — classification and pixel-level segmentation — from one source.</a:t>
            </a:r>
          </a:p>
          <a:p>
            <a:pPr marL="228600" indent="-228600">
              <a:buClr>
                <a:srgbClr val="22D3EE"/>
              </a:buClr>
              <a:buFont typeface="Arial"/>
              <a:buChar char="▸"/>
            </a:pPr>
            <a:r>
              <a:rPr lang="en-US" altLang="ko-KR" dirty="0">
                <a:solidFill>
                  <a:srgbClr val="DCE2F5"/>
                </a:solidFill>
                <a:latin typeface="Calibri"/>
                <a:cs typeface="Calibri"/>
              </a:rPr>
              <a:t>Our objective: given one T1-weighted axial 2D MRI image, predict one of four classes, and if a tumor is found, produce a tumor mask.</a:t>
            </a:r>
          </a:p>
        </p:txBody>
      </p:sp>
      <p:sp>
        <p:nvSpPr>
          <p:cNvPr id="143" name="quotecard"/>
          <p:cNvSpPr/>
          <p:nvPr/>
        </p:nvSpPr>
        <p:spPr>
          <a:xfrm>
            <a:off x="780000" y="4070000"/>
            <a:ext cx="8340000" cy="1150000"/>
          </a:xfrm>
          <a:prstGeom prst="roundRect">
            <a:avLst>
              <a:gd name="adj" fmla="val 4000"/>
            </a:avLst>
          </a:prstGeom>
          <a:gradFill>
            <a:gsLst>
              <a:gs pos="0">
                <a:srgbClr val="0B1550">
                  <a:alpha val="88000"/>
                </a:srgbClr>
              </a:gs>
              <a:gs pos="100000">
                <a:srgbClr val="2A1258">
                  <a:alpha val="88000"/>
                </a:srgbClr>
              </a:gs>
            </a:gsLst>
            <a:lin ang="3600000" scaled="1"/>
          </a:gradFill>
          <a:ln>
            <a:noFill/>
          </a:ln>
        </p:spPr>
        <p:txBody>
          <a:bodyPr/>
          <a:lstStyle/>
          <a:p>
            <a:endParaRPr lang="en-US"/>
          </a:p>
        </p:txBody>
      </p:sp>
      <p:sp>
        <p:nvSpPr>
          <p:cNvPr id="144" name="quotecardborder"/>
          <p:cNvSpPr/>
          <p:nvPr/>
        </p:nvSpPr>
        <p:spPr>
          <a:xfrm>
            <a:off x="780000" y="4070000"/>
            <a:ext cx="8340000" cy="1150000"/>
          </a:xfrm>
          <a:prstGeom prst="roundRect">
            <a:avLst>
              <a:gd name="adj" fmla="val 8000"/>
            </a:avLst>
          </a:prstGeom>
          <a:noFill/>
          <a:ln w="9525">
            <a:solidFill>
              <a:srgbClr val="22D3EE">
                <a:alpha val="5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5" name="quotetxt"/>
          <p:cNvSpPr txBox="1"/>
          <p:nvPr/>
        </p:nvSpPr>
        <p:spPr>
          <a:xfrm>
            <a:off x="1180000" y="4070000"/>
            <a:ext cx="7540000" cy="1150000"/>
          </a:xfrm>
          <a:prstGeom prst="rect">
            <a:avLst/>
          </a:prstGeom>
          <a:noFill/>
          <a:ln>
            <a:noFill/>
          </a:ln>
        </p:spPr>
        <p:txBody>
          <a:bodyPr wrap="square" lIns="0" tIns="0" rIns="0" bIns="0" anchor="ctr">
            <a:noAutofit/>
          </a:bodyPr>
          <a:lstStyle/>
          <a:p>
            <a:pPr algn="ctr">
              <a:spcAft>
                <a:spcPts val="300"/>
              </a:spcAft>
            </a:pPr>
            <a:r>
              <a:rPr lang="en-US" sz="1400" b="1" i="1" dirty="0">
                <a:solidFill>
                  <a:srgbClr val="F5F7FF"/>
                </a:solidFill>
                <a:latin typeface="Calibri"/>
                <a:ea typeface="Calibri"/>
                <a:cs typeface="Calibri"/>
              </a:rPr>
              <a:t>“A non-diagnostic, educational decision-support prototype —</a:t>
            </a:r>
          </a:p>
          <a:p>
            <a:pPr algn="ctr">
              <a:spcAft>
                <a:spcPts val="300"/>
              </a:spcAft>
            </a:pPr>
            <a:r>
              <a:rPr lang="en-US" sz="1400" b="1" i="1" dirty="0">
                <a:solidFill>
                  <a:srgbClr val="F5F7FF"/>
                </a:solidFill>
                <a:latin typeface="Calibri"/>
                <a:ea typeface="Calibri"/>
                <a:cs typeface="Calibri"/>
              </a:rPr>
              <a:t>presented through a Gradio interface, not a replacement for a doctor.”</a:t>
            </a:r>
          </a:p>
        </p:txBody>
      </p:sp>
      <p:cxnSp>
        <p:nvCxnSpPr>
          <p:cNvPr id="531"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Foundations · 03</a:t>
            </a:r>
          </a:p>
        </p:txBody>
      </p:sp>
    </p:spTree>
    <p:extLst>
      <p:ext uri="{BB962C8B-B14F-4D97-AF65-F5344CB8AC3E}">
        <p14:creationId xmlns:p14="http://schemas.microsoft.com/office/powerpoint/2010/main" val="4080462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bg04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533" name="bg04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34" name="bg04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35" name="bg04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36" name="bg04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37" name="bg04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38" name="bg04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39" name="bg04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0" name="bg04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1" name="bg04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2" name="bg04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3" name="bg04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4" name="bg04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5" name="bg04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6" name="bg04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7" name="bg04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8" name="bg04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49" name="bg04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50" name="bg04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51" name="bg04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52" name="bg04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53" name="bg04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54" name="bg04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55" name="bg04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556" name="bg04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557" name="corner04_e0_1"/>
          <p:cNvCxnSpPr/>
          <p:nvPr/>
        </p:nvCxnSpPr>
        <p:spPr>
          <a:xfrm flipH="1" flipV="1">
            <a:off x="9177702" y="1028388"/>
            <a:ext cx="220480" cy="6579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58" name="corner04_e0_4"/>
          <p:cNvCxnSpPr/>
          <p:nvPr/>
        </p:nvCxnSpPr>
        <p:spPr>
          <a:xfrm flipV="1">
            <a:off x="9398182" y="844464"/>
            <a:ext cx="46273" cy="24972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59" name="corner04_e1_3"/>
          <p:cNvCxnSpPr/>
          <p:nvPr/>
        </p:nvCxnSpPr>
        <p:spPr>
          <a:xfrm flipV="1">
            <a:off x="9177702" y="873586"/>
            <a:ext cx="89066" cy="15480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60" name="corner04_e2_4"/>
          <p:cNvCxnSpPr/>
          <p:nvPr/>
        </p:nvCxnSpPr>
        <p:spPr>
          <a:xfrm>
            <a:off x="9323967" y="270906"/>
            <a:ext cx="120488" cy="57355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61" name="corner04_e2_3"/>
          <p:cNvCxnSpPr/>
          <p:nvPr/>
        </p:nvCxnSpPr>
        <p:spPr>
          <a:xfrm flipH="1">
            <a:off x="9266768" y="270906"/>
            <a:ext cx="57199" cy="60268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62" name="corner04_e3_4"/>
          <p:cNvCxnSpPr/>
          <p:nvPr/>
        </p:nvCxnSpPr>
        <p:spPr>
          <a:xfrm flipV="1">
            <a:off x="9266768" y="844464"/>
            <a:ext cx="177687" cy="2912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563" name="corner04_n0"/>
          <p:cNvSpPr/>
          <p:nvPr/>
        </p:nvSpPr>
        <p:spPr>
          <a:xfrm>
            <a:off x="9391182" y="1087186"/>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64" name="corner04_n1"/>
          <p:cNvSpPr/>
          <p:nvPr/>
        </p:nvSpPr>
        <p:spPr>
          <a:xfrm>
            <a:off x="9167702" y="1018388"/>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65" name="corner04_n2"/>
          <p:cNvSpPr/>
          <p:nvPr/>
        </p:nvSpPr>
        <p:spPr>
          <a:xfrm>
            <a:off x="9310967" y="257906"/>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66" name="corner04_n3"/>
          <p:cNvSpPr/>
          <p:nvPr/>
        </p:nvSpPr>
        <p:spPr>
          <a:xfrm>
            <a:off x="9259768" y="866586"/>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567" name="corner04_n4"/>
          <p:cNvSpPr/>
          <p:nvPr/>
        </p:nvSpPr>
        <p:spPr>
          <a:xfrm>
            <a:off x="9434455" y="834464"/>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1.4</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FOUNDATIONS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04</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568"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Proposed Solution</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Our proposed solution is a two-stage cascaded pipeline: classify first, then segment only when a tumor is present.</a:t>
            </a:r>
          </a:p>
          <a:p>
            <a:pPr marL="228600" indent="-228600">
              <a:buClr>
                <a:srgbClr val="22D3EE"/>
              </a:buClr>
              <a:buFont typeface="Arial"/>
              <a:buChar char="▸"/>
            </a:pPr>
            <a:r>
              <a:rPr lang="en-US" altLang="ko-KR" dirty="0">
                <a:solidFill>
                  <a:srgbClr val="DCE2F5"/>
                </a:solidFill>
                <a:latin typeface="Calibri"/>
                <a:cs typeface="Calibri"/>
              </a:rPr>
              <a:t>Stage 1 — Classification sorts the image into glioma, meningioma, pituitary tumor, or no tumor.</a:t>
            </a:r>
          </a:p>
          <a:p>
            <a:pPr marL="228600" indent="-228600">
              <a:buClr>
                <a:srgbClr val="22D3EE"/>
              </a:buClr>
              <a:buFont typeface="Arial"/>
              <a:buChar char="▸"/>
            </a:pPr>
            <a:r>
              <a:rPr lang="en-US" altLang="ko-KR" dirty="0">
                <a:solidFill>
                  <a:srgbClr val="DCE2F5"/>
                </a:solidFill>
                <a:latin typeface="Calibri"/>
                <a:cs typeface="Calibri"/>
              </a:rPr>
              <a:t>Stage 2 — Segmentation runs only for tumor-positive images, to localize the tumor region.</a:t>
            </a:r>
          </a:p>
        </p:txBody>
      </p:sp>
      <p:sp>
        <p:nvSpPr>
          <p:cNvPr id="146" name="solcard_bg0"/>
          <p:cNvSpPr/>
          <p:nvPr/>
        </p:nvSpPr>
        <p:spPr>
          <a:xfrm>
            <a:off x="1380000" y="3970000"/>
            <a:ext cx="3320000" cy="19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7" name="solcard_hdr0"/>
          <p:cNvSpPr txBox="1"/>
          <p:nvPr/>
        </p:nvSpPr>
        <p:spPr>
          <a:xfrm>
            <a:off x="1645600" y="4122000"/>
            <a:ext cx="2788800" cy="532000"/>
          </a:xfrm>
          <a:prstGeom prst="rect">
            <a:avLst/>
          </a:prstGeom>
          <a:noFill/>
          <a:ln>
            <a:noFill/>
          </a:ln>
        </p:spPr>
        <p:txBody>
          <a:bodyPr wrap="square" lIns="0" tIns="0" rIns="0" bIns="0" anchor="t">
            <a:noAutofit/>
          </a:bodyPr>
          <a:lstStyle/>
          <a:p>
            <a:pPr algn="ctr"/>
            <a:r>
              <a:rPr lang="en-US" sz="1400" b="1" i="0" dirty="0">
                <a:solidFill>
                  <a:srgbClr val="22D3EE"/>
                </a:solidFill>
                <a:latin typeface="Calibri"/>
                <a:ea typeface="Calibri"/>
                <a:cs typeface="Calibri"/>
              </a:rPr>
              <a:t>Stage 1</a:t>
            </a:r>
          </a:p>
        </p:txBody>
      </p:sp>
      <p:sp>
        <p:nvSpPr>
          <p:cNvPr id="148" name="solcard_sub0"/>
          <p:cNvSpPr txBox="1"/>
          <p:nvPr/>
        </p:nvSpPr>
        <p:spPr>
          <a:xfrm>
            <a:off x="1645600" y="4616000"/>
            <a:ext cx="2788800" cy="1216000"/>
          </a:xfrm>
          <a:prstGeom prst="rect">
            <a:avLst/>
          </a:prstGeom>
          <a:noFill/>
          <a:ln>
            <a:noFill/>
          </a:ln>
        </p:spPr>
        <p:txBody>
          <a:bodyPr wrap="square" lIns="0" tIns="0" rIns="0" bIns="0" anchor="t">
            <a:noAutofit/>
          </a:bodyPr>
          <a:lstStyle/>
          <a:p>
            <a:pPr algn="ctr">
              <a:spcAft>
                <a:spcPts val="300"/>
              </a:spcAft>
            </a:pPr>
            <a:r>
              <a:rPr lang="en-US" sz="1300" b="1" i="0" dirty="0">
                <a:solidFill>
                  <a:srgbClr val="22D3EE"/>
                </a:solidFill>
                <a:latin typeface="Calibri"/>
                <a:ea typeface="Calibri"/>
                <a:cs typeface="Calibri"/>
              </a:rPr>
              <a:t>Classify</a:t>
            </a:r>
          </a:p>
          <a:p>
            <a:pPr algn="ctr">
              <a:spcAft>
                <a:spcPts val="300"/>
              </a:spcAft>
            </a:pPr>
            <a:r>
              <a:rPr lang="en-US" sz="1000" b="0" i="0" dirty="0">
                <a:solidFill>
                  <a:srgbClr val="E7EAF6"/>
                </a:solidFill>
                <a:latin typeface="Calibri"/>
                <a:ea typeface="Calibri"/>
                <a:cs typeface="Calibri"/>
              </a:rPr>
              <a:t>What type of tumor,</a:t>
            </a:r>
          </a:p>
          <a:p>
            <a:pPr algn="ctr">
              <a:spcAft>
                <a:spcPts val="300"/>
              </a:spcAft>
            </a:pPr>
            <a:r>
              <a:rPr lang="en-US" sz="1000" b="0" i="0" dirty="0">
                <a:solidFill>
                  <a:srgbClr val="E7EAF6"/>
                </a:solidFill>
                <a:latin typeface="Calibri"/>
                <a:ea typeface="Calibri"/>
                <a:cs typeface="Calibri"/>
              </a:rPr>
              <a:t>if any, is present?</a:t>
            </a:r>
          </a:p>
        </p:txBody>
      </p:sp>
      <p:sp>
        <p:nvSpPr>
          <p:cNvPr id="149" name="solcard_bg1"/>
          <p:cNvSpPr/>
          <p:nvPr/>
        </p:nvSpPr>
        <p:spPr>
          <a:xfrm>
            <a:off x="5200000" y="3970000"/>
            <a:ext cx="3320000" cy="19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0" name="solcard_hdr1"/>
          <p:cNvSpPr txBox="1"/>
          <p:nvPr/>
        </p:nvSpPr>
        <p:spPr>
          <a:xfrm>
            <a:off x="5465600" y="4122000"/>
            <a:ext cx="2788800" cy="532000"/>
          </a:xfrm>
          <a:prstGeom prst="rect">
            <a:avLst/>
          </a:prstGeom>
          <a:noFill/>
          <a:ln>
            <a:noFill/>
          </a:ln>
        </p:spPr>
        <p:txBody>
          <a:bodyPr wrap="square" lIns="0" tIns="0" rIns="0" bIns="0" anchor="t">
            <a:noAutofit/>
          </a:bodyPr>
          <a:lstStyle/>
          <a:p>
            <a:pPr algn="ctr"/>
            <a:r>
              <a:rPr lang="en-US" sz="1400" b="1" i="0" dirty="0">
                <a:solidFill>
                  <a:srgbClr val="22D3EE"/>
                </a:solidFill>
                <a:latin typeface="Calibri"/>
                <a:ea typeface="Calibri"/>
                <a:cs typeface="Calibri"/>
              </a:rPr>
              <a:t>Stage 2</a:t>
            </a:r>
          </a:p>
        </p:txBody>
      </p:sp>
      <p:sp>
        <p:nvSpPr>
          <p:cNvPr id="151" name="solcard_sub1"/>
          <p:cNvSpPr txBox="1"/>
          <p:nvPr/>
        </p:nvSpPr>
        <p:spPr>
          <a:xfrm>
            <a:off x="5465600" y="4616000"/>
            <a:ext cx="2788800" cy="1216000"/>
          </a:xfrm>
          <a:prstGeom prst="rect">
            <a:avLst/>
          </a:prstGeom>
          <a:noFill/>
          <a:ln>
            <a:noFill/>
          </a:ln>
        </p:spPr>
        <p:txBody>
          <a:bodyPr wrap="square" lIns="0" tIns="0" rIns="0" bIns="0" anchor="t">
            <a:noAutofit/>
          </a:bodyPr>
          <a:lstStyle/>
          <a:p>
            <a:pPr algn="ctr">
              <a:spcAft>
                <a:spcPts val="300"/>
              </a:spcAft>
            </a:pPr>
            <a:r>
              <a:rPr lang="en-US" sz="1300" b="1" i="0" dirty="0">
                <a:solidFill>
                  <a:srgbClr val="22D3EE"/>
                </a:solidFill>
                <a:latin typeface="Calibri"/>
                <a:ea typeface="Calibri"/>
                <a:cs typeface="Calibri"/>
              </a:rPr>
              <a:t>Segment</a:t>
            </a:r>
          </a:p>
          <a:p>
            <a:pPr algn="ctr">
              <a:spcAft>
                <a:spcPts val="300"/>
              </a:spcAft>
            </a:pPr>
            <a:r>
              <a:rPr lang="en-US" sz="1000" b="0" i="0" dirty="0">
                <a:solidFill>
                  <a:srgbClr val="E7EAF6"/>
                </a:solidFill>
                <a:latin typeface="Calibri"/>
                <a:ea typeface="Calibri"/>
                <a:cs typeface="Calibri"/>
              </a:rPr>
              <a:t>Where exactly is</a:t>
            </a:r>
          </a:p>
          <a:p>
            <a:pPr algn="ctr">
              <a:spcAft>
                <a:spcPts val="300"/>
              </a:spcAft>
            </a:pPr>
            <a:r>
              <a:rPr lang="en-US" sz="1000" b="0" i="0" dirty="0">
                <a:solidFill>
                  <a:srgbClr val="E7EAF6"/>
                </a:solidFill>
                <a:latin typeface="Calibri"/>
                <a:ea typeface="Calibri"/>
                <a:cs typeface="Calibri"/>
              </a:rPr>
              <a:t>the tumor located?</a:t>
            </a:r>
          </a:p>
        </p:txBody>
      </p:sp>
      <p:sp>
        <p:nvSpPr>
          <p:cNvPr id="152" name="solarrow"/>
          <p:cNvSpPr/>
          <p:nvPr/>
        </p:nvSpPr>
        <p:spPr>
          <a:xfrm>
            <a:off x="4750000" y="4850000"/>
            <a:ext cx="400000" cy="140000"/>
          </a:xfrm>
          <a:prstGeom prst="rightArrow">
            <a:avLst>
              <a:gd name="adj1" fmla="val 60000"/>
              <a:gd name="adj2" fmla="val 60000"/>
            </a:avLst>
          </a:prstGeom>
          <a:solidFill>
            <a:srgbClr val="8891B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53" name="solnote"/>
          <p:cNvSpPr txBox="1"/>
          <p:nvPr/>
        </p:nvSpPr>
        <p:spPr>
          <a:xfrm>
            <a:off x="480000" y="6020000"/>
            <a:ext cx="8940000" cy="35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Segmentation is skipped entirely for the “no tumor” class.</a:t>
            </a:r>
          </a:p>
        </p:txBody>
      </p:sp>
      <p:cxnSp>
        <p:nvCxnSpPr>
          <p:cNvPr id="569"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Foundations · 04</a:t>
            </a:r>
          </a:p>
        </p:txBody>
      </p:sp>
    </p:spTree>
    <p:extLst>
      <p:ext uri="{BB962C8B-B14F-4D97-AF65-F5344CB8AC3E}">
        <p14:creationId xmlns:p14="http://schemas.microsoft.com/office/powerpoint/2010/main" val="408046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bg05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571" name="bg05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2" name="bg05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3" name="bg05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4" name="bg05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5" name="bg05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6" name="bg05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7" name="bg05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8" name="bg05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79" name="bg05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0" name="bg05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1" name="bg05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2" name="bg05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3" name="bg05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4" name="bg05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5" name="bg05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6" name="bg05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7" name="bg05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8" name="bg05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89" name="bg05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90" name="bg05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91" name="bg05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92" name="bg05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593" name="bg05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594" name="bg05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595" name="corner05_e0_4"/>
          <p:cNvCxnSpPr/>
          <p:nvPr/>
        </p:nvCxnSpPr>
        <p:spPr>
          <a:xfrm flipV="1">
            <a:off x="9572478" y="247926"/>
            <a:ext cx="4892" cy="11185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96" name="corner05_e0_3"/>
          <p:cNvCxnSpPr/>
          <p:nvPr/>
        </p:nvCxnSpPr>
        <p:spPr>
          <a:xfrm flipH="1">
            <a:off x="9288379" y="359780"/>
            <a:ext cx="284099" cy="270801"/>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97" name="corner05_e1_3"/>
          <p:cNvCxnSpPr/>
          <p:nvPr/>
        </p:nvCxnSpPr>
        <p:spPr>
          <a:xfrm flipH="1" flipV="1">
            <a:off x="9288379" y="630581"/>
            <a:ext cx="263562" cy="414026"/>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598" name="corner05_e1_2"/>
          <p:cNvCxnSpPr/>
          <p:nvPr/>
        </p:nvCxnSpPr>
        <p:spPr>
          <a:xfrm flipH="1" flipV="1">
            <a:off x="9150331" y="568794"/>
            <a:ext cx="401610" cy="47581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599" name="corner05_e2_3"/>
          <p:cNvCxnSpPr/>
          <p:nvPr/>
        </p:nvCxnSpPr>
        <p:spPr>
          <a:xfrm>
            <a:off x="9150331" y="568794"/>
            <a:ext cx="138048" cy="6178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600" name="corner05_e2_0"/>
          <p:cNvCxnSpPr/>
          <p:nvPr/>
        </p:nvCxnSpPr>
        <p:spPr>
          <a:xfrm flipV="1">
            <a:off x="9150331" y="359780"/>
            <a:ext cx="422147" cy="20901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601" name="corner05_e4_3"/>
          <p:cNvCxnSpPr/>
          <p:nvPr/>
        </p:nvCxnSpPr>
        <p:spPr>
          <a:xfrm flipH="1">
            <a:off x="9288379" y="247926"/>
            <a:ext cx="288991" cy="382655"/>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602" name="corner05_n0"/>
          <p:cNvSpPr/>
          <p:nvPr/>
        </p:nvSpPr>
        <p:spPr>
          <a:xfrm>
            <a:off x="9565478" y="352780"/>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03" name="corner05_n1"/>
          <p:cNvSpPr/>
          <p:nvPr/>
        </p:nvSpPr>
        <p:spPr>
          <a:xfrm>
            <a:off x="9541941" y="1034607"/>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04" name="corner05_n2"/>
          <p:cNvSpPr/>
          <p:nvPr/>
        </p:nvSpPr>
        <p:spPr>
          <a:xfrm>
            <a:off x="9137331" y="555794"/>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05" name="corner05_n3"/>
          <p:cNvSpPr/>
          <p:nvPr/>
        </p:nvSpPr>
        <p:spPr>
          <a:xfrm>
            <a:off x="9281379" y="623581"/>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06" name="corner05_n4"/>
          <p:cNvSpPr/>
          <p:nvPr/>
        </p:nvSpPr>
        <p:spPr>
          <a:xfrm>
            <a:off x="9567370" y="237926"/>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1.5</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FOUNDATIONS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05</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607"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Two-Stage Pipeline Explained</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Here is exactly how one MRI image moves through our two-stage pipeline.</a:t>
            </a:r>
          </a:p>
        </p:txBody>
      </p:sp>
      <p:sp>
        <p:nvSpPr>
          <p:cNvPr id="154" name="tp_input"/>
          <p:cNvSpPr/>
          <p:nvPr/>
        </p:nvSpPr>
        <p:spPr>
          <a:xfrm>
            <a:off x="480000" y="3970000"/>
            <a:ext cx="2000000" cy="600000"/>
          </a:xfrm>
          <a:prstGeom prst="roundRect">
            <a:avLst>
              <a:gd name="adj" fmla="val 8000"/>
            </a:avLst>
          </a:prstGeom>
          <a:solidFill>
            <a:srgbClr val="22D3EE">
              <a:alpha val="20000"/>
            </a:srgbClr>
          </a:solidFill>
          <a:ln w="9525">
            <a:solidFill>
              <a:srgbClr val="22D3EE">
                <a:alpha val="8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5" name="text"/>
          <p:cNvSpPr txBox="1"/>
          <p:nvPr/>
        </p:nvSpPr>
        <p:spPr>
          <a:xfrm>
            <a:off x="480000" y="3970000"/>
            <a:ext cx="2000000" cy="6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MRI Image</a:t>
            </a:r>
          </a:p>
        </p:txBody>
      </p:sp>
      <p:sp>
        <p:nvSpPr>
          <p:cNvPr id="156" name="arrow"/>
          <p:cNvSpPr/>
          <p:nvPr/>
        </p:nvSpPr>
        <p:spPr>
          <a:xfrm>
            <a:off x="2480000" y="4200000"/>
            <a:ext cx="350000" cy="140000"/>
          </a:xfrm>
          <a:prstGeom prst="rightArrow">
            <a:avLst>
              <a:gd name="adj1" fmla="val 60000"/>
              <a:gd name="adj2" fmla="val 60000"/>
            </a:avLst>
          </a:prstGeom>
          <a:solidFill>
            <a:srgbClr val="8891B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57" name="tp_clf"/>
          <p:cNvSpPr/>
          <p:nvPr/>
        </p:nvSpPr>
        <p:spPr>
          <a:xfrm>
            <a:off x="2830000" y="3970000"/>
            <a:ext cx="2400000" cy="600000"/>
          </a:xfrm>
          <a:prstGeom prst="roundRect">
            <a:avLst>
              <a:gd name="adj" fmla="val 8000"/>
            </a:avLst>
          </a:prstGeom>
          <a:solidFill>
            <a:srgbClr val="22D3EE">
              <a:alpha val="20000"/>
            </a:srgbClr>
          </a:solidFill>
          <a:ln w="9525">
            <a:solidFill>
              <a:srgbClr val="22D3EE">
                <a:alpha val="8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58" name="text"/>
          <p:cNvSpPr txBox="1"/>
          <p:nvPr/>
        </p:nvSpPr>
        <p:spPr>
          <a:xfrm>
            <a:off x="2830000" y="3970000"/>
            <a:ext cx="2400000" cy="6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Classification</a:t>
            </a:r>
          </a:p>
        </p:txBody>
      </p:sp>
      <p:cxnSp>
        <p:nvCxnSpPr>
          <p:cNvPr id="159" name="tp_lineno"/>
          <p:cNvCxnSpPr/>
          <p:nvPr/>
        </p:nvCxnSpPr>
        <p:spPr>
          <a:xfrm flipH="1">
            <a:off x="2680000" y="4570000"/>
            <a:ext cx="1200000" cy="480000"/>
          </a:xfrm>
          <a:prstGeom prst="line">
            <a:avLst/>
          </a:prstGeom>
          <a:ln w="12700">
            <a:solidFill>
              <a:srgbClr val="8891B0">
                <a:alpha val="100000"/>
              </a:srgbClr>
            </a:solidFill>
            <a:tailEnd type="arrow"/>
          </a:ln>
        </p:spPr>
        <p:style>
          <a:lnRef idx="1">
            <a:schemeClr val="accent1"/>
          </a:lnRef>
          <a:fillRef idx="0">
            <a:schemeClr val="accent1"/>
          </a:fillRef>
          <a:effectRef idx="0">
            <a:schemeClr val="accent1"/>
          </a:effectRef>
          <a:fontRef idx="minor">
            <a:schemeClr val="tx1"/>
          </a:fontRef>
        </p:style>
      </p:cxnSp>
      <p:sp>
        <p:nvSpPr>
          <p:cNvPr id="160" name="text"/>
          <p:cNvSpPr txBox="1"/>
          <p:nvPr/>
        </p:nvSpPr>
        <p:spPr>
          <a:xfrm>
            <a:off x="2180000" y="4620000"/>
            <a:ext cx="800000" cy="240000"/>
          </a:xfrm>
          <a:prstGeom prst="rect">
            <a:avLst/>
          </a:prstGeom>
          <a:noFill/>
          <a:ln>
            <a:noFill/>
          </a:ln>
        </p:spPr>
        <p:txBody>
          <a:bodyPr wrap="square" lIns="0" tIns="0" rIns="0" bIns="0" anchor="t">
            <a:noAutofit/>
          </a:bodyPr>
          <a:lstStyle/>
          <a:p>
            <a:pPr algn="r"/>
            <a:r>
              <a:rPr lang="en-US" sz="1000" b="1" i="0" dirty="0">
                <a:solidFill>
                  <a:srgbClr val="8891B0"/>
                </a:solidFill>
                <a:latin typeface="Calibri"/>
                <a:ea typeface="Calibri"/>
                <a:cs typeface="Calibri"/>
              </a:rPr>
              <a:t>No Tumor</a:t>
            </a:r>
          </a:p>
        </p:txBody>
      </p:sp>
      <p:sp>
        <p:nvSpPr>
          <p:cNvPr id="161" name="tp_stop"/>
          <p:cNvSpPr/>
          <p:nvPr/>
        </p:nvSpPr>
        <p:spPr>
          <a:xfrm>
            <a:off x="1730000" y="5050000"/>
            <a:ext cx="1900000" cy="600000"/>
          </a:xfrm>
          <a:prstGeom prst="roundRect">
            <a:avLst>
              <a:gd name="adj" fmla="val 8000"/>
            </a:avLst>
          </a:prstGeom>
          <a:solidFill>
            <a:srgbClr val="1B2350">
              <a:alpha val="100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62" name="text"/>
          <p:cNvSpPr txBox="1"/>
          <p:nvPr/>
        </p:nvSpPr>
        <p:spPr>
          <a:xfrm>
            <a:off x="1730000" y="5050000"/>
            <a:ext cx="1900000" cy="6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E7EAF6"/>
                </a:solidFill>
                <a:latin typeface="Calibri"/>
                <a:ea typeface="Calibri"/>
                <a:cs typeface="Calibri"/>
              </a:rPr>
              <a:t>Stop</a:t>
            </a:r>
          </a:p>
          <a:p>
            <a:pPr algn="ctr">
              <a:spcAft>
                <a:spcPts val="300"/>
              </a:spcAft>
            </a:pPr>
            <a:r>
              <a:rPr lang="en-US" sz="900" b="0" i="0" dirty="0">
                <a:solidFill>
                  <a:srgbClr val="8891B0"/>
                </a:solidFill>
                <a:latin typeface="Calibri"/>
                <a:ea typeface="Calibri"/>
                <a:cs typeface="Calibri"/>
              </a:rPr>
              <a:t>(report class only)</a:t>
            </a:r>
          </a:p>
        </p:txBody>
      </p:sp>
      <p:cxnSp>
        <p:nvCxnSpPr>
          <p:cNvPr id="163" name="tp_lineyes"/>
          <p:cNvCxnSpPr/>
          <p:nvPr/>
        </p:nvCxnSpPr>
        <p:spPr>
          <a:xfrm>
            <a:off x="4180000" y="4570000"/>
            <a:ext cx="1250000" cy="480000"/>
          </a:xfrm>
          <a:prstGeom prst="line">
            <a:avLst/>
          </a:prstGeom>
          <a:ln w="12700">
            <a:solidFill>
              <a:srgbClr val="8891B0">
                <a:alpha val="100000"/>
              </a:srgbClr>
            </a:solidFill>
            <a:tailEnd type="arrow"/>
          </a:ln>
        </p:spPr>
        <p:style>
          <a:lnRef idx="1">
            <a:schemeClr val="accent1"/>
          </a:lnRef>
          <a:fillRef idx="0">
            <a:schemeClr val="accent1"/>
          </a:fillRef>
          <a:effectRef idx="0">
            <a:schemeClr val="accent1"/>
          </a:effectRef>
          <a:fontRef idx="minor">
            <a:schemeClr val="tx1"/>
          </a:fontRef>
        </p:style>
      </p:cxnSp>
      <p:sp>
        <p:nvSpPr>
          <p:cNvPr id="164" name="text"/>
          <p:cNvSpPr txBox="1"/>
          <p:nvPr/>
        </p:nvSpPr>
        <p:spPr>
          <a:xfrm>
            <a:off x="5030000" y="4620000"/>
            <a:ext cx="900000" cy="240000"/>
          </a:xfrm>
          <a:prstGeom prst="rect">
            <a:avLst/>
          </a:prstGeom>
          <a:noFill/>
          <a:ln>
            <a:noFill/>
          </a:ln>
        </p:spPr>
        <p:txBody>
          <a:bodyPr wrap="square" lIns="0" tIns="0" rIns="0" bIns="0" anchor="t">
            <a:noAutofit/>
          </a:bodyPr>
          <a:lstStyle/>
          <a:p>
            <a:pPr algn="l"/>
            <a:r>
              <a:rPr lang="en-US" sz="1000" b="1" i="0" dirty="0">
                <a:solidFill>
                  <a:srgbClr val="8891B0"/>
                </a:solidFill>
                <a:latin typeface="Calibri"/>
                <a:ea typeface="Calibri"/>
                <a:cs typeface="Calibri"/>
              </a:rPr>
              <a:t>Tumor Detected</a:t>
            </a:r>
          </a:p>
        </p:txBody>
      </p:sp>
      <p:sp>
        <p:nvSpPr>
          <p:cNvPr id="165" name="tp_seg"/>
          <p:cNvSpPr/>
          <p:nvPr/>
        </p:nvSpPr>
        <p:spPr>
          <a:xfrm>
            <a:off x="4430000" y="5050000"/>
            <a:ext cx="2000000" cy="600000"/>
          </a:xfrm>
          <a:prstGeom prst="roundRect">
            <a:avLst>
              <a:gd name="adj" fmla="val 8000"/>
            </a:avLst>
          </a:prstGeom>
          <a:solidFill>
            <a:srgbClr val="22D3EE">
              <a:alpha val="20000"/>
            </a:srgbClr>
          </a:solidFill>
          <a:ln w="9525">
            <a:solidFill>
              <a:srgbClr val="22D3EE">
                <a:alpha val="8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66" name="text"/>
          <p:cNvSpPr txBox="1"/>
          <p:nvPr/>
        </p:nvSpPr>
        <p:spPr>
          <a:xfrm>
            <a:off x="4430000" y="5050000"/>
            <a:ext cx="2000000" cy="6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5F7FF"/>
                </a:solidFill>
                <a:latin typeface="Calibri"/>
                <a:ea typeface="Calibri"/>
                <a:cs typeface="Calibri"/>
              </a:rPr>
              <a:t>Segmentation</a:t>
            </a:r>
          </a:p>
        </p:txBody>
      </p:sp>
      <p:sp>
        <p:nvSpPr>
          <p:cNvPr id="167" name="arrow"/>
          <p:cNvSpPr/>
          <p:nvPr/>
        </p:nvSpPr>
        <p:spPr>
          <a:xfrm>
            <a:off x="5360000" y="5690000"/>
            <a:ext cx="140000" cy="260000"/>
          </a:xfrm>
          <a:prstGeom prst="downArrow">
            <a:avLst>
              <a:gd name="adj1" fmla="val 60000"/>
              <a:gd name="adj2" fmla="val 60000"/>
            </a:avLst>
          </a:prstGeom>
          <a:solidFill>
            <a:srgbClr val="8891B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168" name="tp_mask"/>
          <p:cNvSpPr/>
          <p:nvPr/>
        </p:nvSpPr>
        <p:spPr>
          <a:xfrm>
            <a:off x="4430000" y="6030000"/>
            <a:ext cx="2000000" cy="600000"/>
          </a:xfrm>
          <a:prstGeom prst="roundRect">
            <a:avLst>
              <a:gd name="adj" fmla="val 8000"/>
            </a:avLst>
          </a:prstGeom>
          <a:solidFill>
            <a:srgbClr val="8B5CF6">
              <a:alpha val="24000"/>
            </a:srgbClr>
          </a:solidFill>
          <a:ln w="9525">
            <a:solidFill>
              <a:srgbClr val="C4B5FD">
                <a:alpha val="8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69" name="text"/>
          <p:cNvSpPr txBox="1"/>
          <p:nvPr/>
        </p:nvSpPr>
        <p:spPr>
          <a:xfrm>
            <a:off x="4430000" y="6030000"/>
            <a:ext cx="2000000" cy="6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5F7FF"/>
                </a:solidFill>
                <a:latin typeface="Calibri"/>
                <a:ea typeface="Calibri"/>
                <a:cs typeface="Calibri"/>
              </a:rPr>
              <a:t>Tumor Mask</a:t>
            </a:r>
          </a:p>
        </p:txBody>
      </p:sp>
      <p:cxnSp>
        <p:nvCxnSpPr>
          <p:cNvPr id="608"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Foundations · 05</a:t>
            </a:r>
          </a:p>
        </p:txBody>
      </p:sp>
    </p:spTree>
    <p:extLst>
      <p:ext uri="{BB962C8B-B14F-4D97-AF65-F5344CB8AC3E}">
        <p14:creationId xmlns:p14="http://schemas.microsoft.com/office/powerpoint/2010/main" val="4080462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bg06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610" name="bg06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1" name="bg06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2" name="bg06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3" name="bg06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4" name="bg06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5" name="bg06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6" name="bg06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7" name="bg06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8" name="bg06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19" name="bg06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0" name="bg06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1" name="bg06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2" name="bg06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3" name="bg06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4" name="bg06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5" name="bg06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6" name="bg06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7" name="bg06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8" name="bg06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29" name="bg06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30" name="bg06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31" name="bg06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32" name="bg06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633" name="bg06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634" name="corner06_e0_4"/>
          <p:cNvCxnSpPr/>
          <p:nvPr/>
        </p:nvCxnSpPr>
        <p:spPr>
          <a:xfrm flipV="1">
            <a:off x="9279218" y="621115"/>
            <a:ext cx="32856" cy="24198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635" name="corner06_e0_3"/>
          <p:cNvCxnSpPr/>
          <p:nvPr/>
        </p:nvCxnSpPr>
        <p:spPr>
          <a:xfrm flipV="1">
            <a:off x="9279218" y="607879"/>
            <a:ext cx="155076" cy="255225"/>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636" name="corner06_e1_3"/>
          <p:cNvCxnSpPr/>
          <p:nvPr/>
        </p:nvCxnSpPr>
        <p:spPr>
          <a:xfrm flipH="1" flipV="1">
            <a:off x="9434294" y="607879"/>
            <a:ext cx="155511" cy="101797"/>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637" name="corner06_e1_4"/>
          <p:cNvCxnSpPr/>
          <p:nvPr/>
        </p:nvCxnSpPr>
        <p:spPr>
          <a:xfrm flipH="1" flipV="1">
            <a:off x="9312074" y="621115"/>
            <a:ext cx="277731" cy="88561"/>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638" name="corner06_e2_4"/>
          <p:cNvCxnSpPr/>
          <p:nvPr/>
        </p:nvCxnSpPr>
        <p:spPr>
          <a:xfrm>
            <a:off x="8999577" y="243441"/>
            <a:ext cx="312497" cy="37767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639" name="corner06_e2_3"/>
          <p:cNvCxnSpPr/>
          <p:nvPr/>
        </p:nvCxnSpPr>
        <p:spPr>
          <a:xfrm>
            <a:off x="8999577" y="243441"/>
            <a:ext cx="434717" cy="36443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640" name="corner06_e3_4"/>
          <p:cNvCxnSpPr/>
          <p:nvPr/>
        </p:nvCxnSpPr>
        <p:spPr>
          <a:xfrm flipH="1">
            <a:off x="9312074" y="607879"/>
            <a:ext cx="122220" cy="1323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641" name="corner06_n0"/>
          <p:cNvSpPr/>
          <p:nvPr/>
        </p:nvSpPr>
        <p:spPr>
          <a:xfrm>
            <a:off x="9272218" y="856104"/>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42" name="corner06_n1"/>
          <p:cNvSpPr/>
          <p:nvPr/>
        </p:nvSpPr>
        <p:spPr>
          <a:xfrm>
            <a:off x="9579805" y="699676"/>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43" name="corner06_n2"/>
          <p:cNvSpPr/>
          <p:nvPr/>
        </p:nvSpPr>
        <p:spPr>
          <a:xfrm>
            <a:off x="8986577" y="230441"/>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44" name="corner06_n3"/>
          <p:cNvSpPr/>
          <p:nvPr/>
        </p:nvSpPr>
        <p:spPr>
          <a:xfrm>
            <a:off x="9427294" y="600879"/>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45" name="corner06_n4"/>
          <p:cNvSpPr/>
          <p:nvPr/>
        </p:nvSpPr>
        <p:spPr>
          <a:xfrm>
            <a:off x="9302074" y="611115"/>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2.1</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DATA</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06</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646"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The BRISC2025 Dataset</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BRISC2025 (Kaggle): built specifically to support both tumor classification and tumor segmentation from one consistent source.</a:t>
            </a:r>
          </a:p>
          <a:p>
            <a:pPr marL="228600" indent="-228600">
              <a:buClr>
                <a:srgbClr val="22D3EE"/>
              </a:buClr>
              <a:buFont typeface="Arial"/>
              <a:buChar char="▸"/>
            </a:pPr>
            <a:r>
              <a:rPr lang="en-US" altLang="ko-KR" dirty="0">
                <a:solidFill>
                  <a:srgbClr val="DCE2F5"/>
                </a:solidFill>
                <a:latin typeface="Calibri"/>
                <a:cs typeface="Calibri"/>
              </a:rPr>
              <a:t>Provides four diagnostic categories — glioma, meningioma, pituitary tumor, no tumor — each tumor-bearing scan paired with a pixel-level mask.</a:t>
            </a:r>
          </a:p>
          <a:p>
            <a:pPr marL="228600" indent="-228600">
              <a:buClr>
                <a:srgbClr val="22D3EE"/>
              </a:buClr>
              <a:buFont typeface="Arial"/>
              <a:buChar char="▸"/>
            </a:pPr>
            <a:r>
              <a:rPr lang="en-US" altLang="ko-KR" dirty="0">
                <a:solidFill>
                  <a:srgbClr val="DCE2F5"/>
                </a:solidFill>
                <a:latin typeface="Calibri"/>
                <a:cs typeface="Calibri"/>
              </a:rPr>
              <a:t>Current scope: T1-weighted axial 2D MRI images. Coronal and sagittal planes are reserved for future work.</a:t>
            </a:r>
          </a:p>
        </p:txBody>
      </p:sp>
      <p:sp>
        <p:nvSpPr>
          <p:cNvPr id="170" name="dstat_bg0"/>
          <p:cNvSpPr/>
          <p:nvPr/>
        </p:nvSpPr>
        <p:spPr>
          <a:xfrm>
            <a:off x="1180000" y="4220000"/>
            <a:ext cx="2280000" cy="13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1" name="dstat_big0"/>
          <p:cNvSpPr txBox="1"/>
          <p:nvPr/>
        </p:nvSpPr>
        <p:spPr>
          <a:xfrm>
            <a:off x="1180000" y="4350000"/>
            <a:ext cx="2280000" cy="546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15,586</a:t>
            </a:r>
          </a:p>
        </p:txBody>
      </p:sp>
      <p:sp>
        <p:nvSpPr>
          <p:cNvPr id="172" name="dstat_lbl0"/>
          <p:cNvSpPr txBox="1"/>
          <p:nvPr/>
        </p:nvSpPr>
        <p:spPr>
          <a:xfrm>
            <a:off x="1316800" y="4922000"/>
            <a:ext cx="2006400" cy="546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Total manifest</a:t>
            </a:r>
          </a:p>
          <a:p>
            <a:pPr algn="ctr">
              <a:spcAft>
                <a:spcPts val="300"/>
              </a:spcAft>
            </a:pPr>
            <a:r>
              <a:rPr lang="en-US" sz="1000" b="0" i="0" dirty="0">
                <a:solidFill>
                  <a:srgbClr val="8891B0"/>
                </a:solidFill>
                <a:latin typeface="Calibri"/>
                <a:ea typeface="Calibri"/>
                <a:cs typeface="Calibri"/>
              </a:rPr>
              <a:t>files</a:t>
            </a:r>
          </a:p>
        </p:txBody>
      </p:sp>
      <p:sp>
        <p:nvSpPr>
          <p:cNvPr id="173" name="dstat_bg1"/>
          <p:cNvSpPr/>
          <p:nvPr/>
        </p:nvSpPr>
        <p:spPr>
          <a:xfrm>
            <a:off x="3810000" y="4220000"/>
            <a:ext cx="2280000" cy="13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4" name="dstat_big1"/>
          <p:cNvSpPr txBox="1"/>
          <p:nvPr/>
        </p:nvSpPr>
        <p:spPr>
          <a:xfrm>
            <a:off x="3810000" y="4350000"/>
            <a:ext cx="2280000" cy="546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6,000</a:t>
            </a:r>
          </a:p>
        </p:txBody>
      </p:sp>
      <p:sp>
        <p:nvSpPr>
          <p:cNvPr id="175" name="dstat_lbl1"/>
          <p:cNvSpPr txBox="1"/>
          <p:nvPr/>
        </p:nvSpPr>
        <p:spPr>
          <a:xfrm>
            <a:off x="3946800" y="4922000"/>
            <a:ext cx="2006400" cy="546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Classification</a:t>
            </a:r>
          </a:p>
          <a:p>
            <a:pPr algn="ctr">
              <a:spcAft>
                <a:spcPts val="300"/>
              </a:spcAft>
            </a:pPr>
            <a:r>
              <a:rPr lang="en-US" sz="1000" b="0" i="0" dirty="0">
                <a:solidFill>
                  <a:srgbClr val="8891B0"/>
                </a:solidFill>
                <a:latin typeface="Calibri"/>
                <a:ea typeface="Calibri"/>
                <a:cs typeface="Calibri"/>
              </a:rPr>
              <a:t>images</a:t>
            </a:r>
          </a:p>
        </p:txBody>
      </p:sp>
      <p:sp>
        <p:nvSpPr>
          <p:cNvPr id="176" name="dstat_bg2"/>
          <p:cNvSpPr/>
          <p:nvPr/>
        </p:nvSpPr>
        <p:spPr>
          <a:xfrm>
            <a:off x="6440000" y="4220000"/>
            <a:ext cx="2280000" cy="13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77" name="dstat_big2"/>
          <p:cNvSpPr txBox="1"/>
          <p:nvPr/>
        </p:nvSpPr>
        <p:spPr>
          <a:xfrm>
            <a:off x="6440000" y="4350000"/>
            <a:ext cx="2280000" cy="546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4,793</a:t>
            </a:r>
          </a:p>
        </p:txBody>
      </p:sp>
      <p:sp>
        <p:nvSpPr>
          <p:cNvPr id="178" name="dstat_lbl2"/>
          <p:cNvSpPr txBox="1"/>
          <p:nvPr/>
        </p:nvSpPr>
        <p:spPr>
          <a:xfrm>
            <a:off x="6576800" y="4922000"/>
            <a:ext cx="2006400" cy="546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Segmentation images</a:t>
            </a:r>
          </a:p>
          <a:p>
            <a:pPr algn="ctr">
              <a:spcAft>
                <a:spcPts val="300"/>
              </a:spcAft>
            </a:pPr>
            <a:r>
              <a:rPr lang="en-US" sz="1000" b="0" i="0" dirty="0">
                <a:solidFill>
                  <a:srgbClr val="8891B0"/>
                </a:solidFill>
                <a:latin typeface="Calibri"/>
                <a:ea typeface="Calibri"/>
                <a:cs typeface="Calibri"/>
              </a:rPr>
              <a:t>(each with 1 mask)</a:t>
            </a:r>
          </a:p>
        </p:txBody>
      </p:sp>
      <p:cxnSp>
        <p:nvCxnSpPr>
          <p:cNvPr id="647"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Data · 06</a:t>
            </a:r>
          </a:p>
        </p:txBody>
      </p:sp>
    </p:spTree>
    <p:extLst>
      <p:ext uri="{BB962C8B-B14F-4D97-AF65-F5344CB8AC3E}">
        <p14:creationId xmlns:p14="http://schemas.microsoft.com/office/powerpoint/2010/main" val="4080462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bg07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649" name="bg07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0" name="bg07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1" name="bg07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2" name="bg07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3" name="bg07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4" name="bg07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5" name="bg07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6" name="bg07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7" name="bg07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8" name="bg07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59" name="bg07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0" name="bg07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1" name="bg07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2" name="bg07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3" name="bg07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4" name="bg07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5" name="bg07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6" name="bg07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7" name="bg07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8" name="bg07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69" name="bg07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70" name="bg07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71" name="bg07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672" name="bg07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673" name="corner07_e0_4"/>
          <p:cNvCxnSpPr/>
          <p:nvPr/>
        </p:nvCxnSpPr>
        <p:spPr>
          <a:xfrm>
            <a:off x="9540432" y="401884"/>
            <a:ext cx="218160" cy="259715"/>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674" name="corner07_e0_3"/>
          <p:cNvCxnSpPr/>
          <p:nvPr/>
        </p:nvCxnSpPr>
        <p:spPr>
          <a:xfrm flipH="1" flipV="1">
            <a:off x="8969003" y="356745"/>
            <a:ext cx="571429" cy="45139"/>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675" name="corner07_e1_2"/>
          <p:cNvCxnSpPr/>
          <p:nvPr/>
        </p:nvCxnSpPr>
        <p:spPr>
          <a:xfrm>
            <a:off x="9148554" y="953411"/>
            <a:ext cx="276081" cy="9244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676" name="corner07_e1_3"/>
          <p:cNvCxnSpPr/>
          <p:nvPr/>
        </p:nvCxnSpPr>
        <p:spPr>
          <a:xfrm flipH="1" flipV="1">
            <a:off x="8969003" y="356745"/>
            <a:ext cx="179551" cy="596666"/>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677" name="corner07_e2_4"/>
          <p:cNvCxnSpPr/>
          <p:nvPr/>
        </p:nvCxnSpPr>
        <p:spPr>
          <a:xfrm flipV="1">
            <a:off x="9424635" y="661599"/>
            <a:ext cx="333957" cy="38425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sp>
        <p:nvSpPr>
          <p:cNvPr id="678" name="corner07_n0"/>
          <p:cNvSpPr/>
          <p:nvPr/>
        </p:nvSpPr>
        <p:spPr>
          <a:xfrm>
            <a:off x="9533432" y="394884"/>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79" name="corner07_n1"/>
          <p:cNvSpPr/>
          <p:nvPr/>
        </p:nvSpPr>
        <p:spPr>
          <a:xfrm>
            <a:off x="9138554" y="943411"/>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80" name="corner07_n2"/>
          <p:cNvSpPr/>
          <p:nvPr/>
        </p:nvSpPr>
        <p:spPr>
          <a:xfrm>
            <a:off x="9411635" y="1032851"/>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81" name="corner07_n3"/>
          <p:cNvSpPr/>
          <p:nvPr/>
        </p:nvSpPr>
        <p:spPr>
          <a:xfrm>
            <a:off x="8962003" y="349745"/>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682" name="corner07_n4"/>
          <p:cNvSpPr/>
          <p:nvPr/>
        </p:nvSpPr>
        <p:spPr>
          <a:xfrm>
            <a:off x="9748592" y="651599"/>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2.2</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DATA</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07</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683"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Dataset Distribution</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Classification set: 6,000 images (5,000 train / 1,000 test) across four classes.</a:t>
            </a:r>
          </a:p>
        </p:txBody>
      </p:sp>
      <p:sp>
        <p:nvSpPr>
          <p:cNvPr id="179" name="dthumb0_bg"/>
          <p:cNvSpPr/>
          <p:nvPr/>
        </p:nvSpPr>
        <p:spPr>
          <a:xfrm>
            <a:off x="1290000" y="3320000"/>
            <a:ext cx="480000" cy="480000"/>
          </a:xfrm>
          <a:prstGeom prst="roundRect">
            <a:avLst>
              <a:gd name="adj" fmla="val 12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0" name="dthumb0_border"/>
          <p:cNvSpPr/>
          <p:nvPr/>
        </p:nvSpPr>
        <p:spPr>
          <a:xfrm>
            <a:off x="1290000" y="3320000"/>
            <a:ext cx="480000" cy="480000"/>
          </a:xfrm>
          <a:prstGeom prst="roundRect">
            <a:avLst>
              <a:gd name="adj" fmla="val 12000"/>
            </a:avLst>
          </a:prstGeom>
          <a:no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1" name="dthumb0_brain"/>
          <p:cNvSpPr/>
          <p:nvPr/>
        </p:nvSpPr>
        <p:spPr>
          <a:xfrm>
            <a:off x="1371600" y="3396800"/>
            <a:ext cx="316800" cy="25344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6000"/>
            </a:srgbClr>
          </a:solidFill>
          <a:ln w="15875">
            <a:solidFill>
              <a:srgbClr val="67E8F9">
                <a:alpha val="55000"/>
              </a:srgbClr>
            </a:solidFill>
          </a:ln>
        </p:spPr>
        <p:txBody>
          <a:bodyPr/>
          <a:lstStyle/>
          <a:p>
            <a:endParaRPr lang="en-US"/>
          </a:p>
        </p:txBody>
      </p:sp>
      <p:sp>
        <p:nvSpPr>
          <p:cNvPr id="182" name="dthumb1_bg"/>
          <p:cNvSpPr/>
          <p:nvPr/>
        </p:nvSpPr>
        <p:spPr>
          <a:xfrm>
            <a:off x="3570000" y="3320000"/>
            <a:ext cx="480000" cy="480000"/>
          </a:xfrm>
          <a:prstGeom prst="roundRect">
            <a:avLst>
              <a:gd name="adj" fmla="val 12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3" name="dthumb1_border"/>
          <p:cNvSpPr/>
          <p:nvPr/>
        </p:nvSpPr>
        <p:spPr>
          <a:xfrm>
            <a:off x="3570000" y="3320000"/>
            <a:ext cx="480000" cy="480000"/>
          </a:xfrm>
          <a:prstGeom prst="roundRect">
            <a:avLst>
              <a:gd name="adj" fmla="val 12000"/>
            </a:avLst>
          </a:prstGeom>
          <a:no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4" name="dthumb1_brain"/>
          <p:cNvSpPr/>
          <p:nvPr/>
        </p:nvSpPr>
        <p:spPr>
          <a:xfrm>
            <a:off x="3651600" y="3396800"/>
            <a:ext cx="316800" cy="25344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6000"/>
            </a:srgbClr>
          </a:solidFill>
          <a:ln w="15875">
            <a:solidFill>
              <a:srgbClr val="67E8F9">
                <a:alpha val="55000"/>
              </a:srgbClr>
            </a:solidFill>
          </a:ln>
        </p:spPr>
        <p:txBody>
          <a:bodyPr/>
          <a:lstStyle/>
          <a:p>
            <a:endParaRPr lang="en-US"/>
          </a:p>
        </p:txBody>
      </p:sp>
      <p:sp>
        <p:nvSpPr>
          <p:cNvPr id="185" name="dthumb2_bg"/>
          <p:cNvSpPr/>
          <p:nvPr/>
        </p:nvSpPr>
        <p:spPr>
          <a:xfrm>
            <a:off x="5850000" y="3320000"/>
            <a:ext cx="480000" cy="480000"/>
          </a:xfrm>
          <a:prstGeom prst="roundRect">
            <a:avLst>
              <a:gd name="adj" fmla="val 12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6" name="dthumb2_border"/>
          <p:cNvSpPr/>
          <p:nvPr/>
        </p:nvSpPr>
        <p:spPr>
          <a:xfrm>
            <a:off x="5850000" y="3320000"/>
            <a:ext cx="480000" cy="480000"/>
          </a:xfrm>
          <a:prstGeom prst="roundRect">
            <a:avLst>
              <a:gd name="adj" fmla="val 12000"/>
            </a:avLst>
          </a:prstGeom>
          <a:no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7" name="dthumb2_brain"/>
          <p:cNvSpPr/>
          <p:nvPr/>
        </p:nvSpPr>
        <p:spPr>
          <a:xfrm>
            <a:off x="5931600" y="3396800"/>
            <a:ext cx="316800" cy="25344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6000"/>
            </a:srgbClr>
          </a:solidFill>
          <a:ln w="15875">
            <a:solidFill>
              <a:srgbClr val="67E8F9">
                <a:alpha val="55000"/>
              </a:srgbClr>
            </a:solidFill>
          </a:ln>
        </p:spPr>
        <p:txBody>
          <a:bodyPr/>
          <a:lstStyle/>
          <a:p>
            <a:endParaRPr lang="en-US"/>
          </a:p>
        </p:txBody>
      </p:sp>
      <p:sp>
        <p:nvSpPr>
          <p:cNvPr id="188" name="dthumb3_bg"/>
          <p:cNvSpPr/>
          <p:nvPr/>
        </p:nvSpPr>
        <p:spPr>
          <a:xfrm>
            <a:off x="8130000" y="3320000"/>
            <a:ext cx="480000" cy="480000"/>
          </a:xfrm>
          <a:prstGeom prst="roundRect">
            <a:avLst>
              <a:gd name="adj" fmla="val 12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89" name="dthumb3_border"/>
          <p:cNvSpPr/>
          <p:nvPr/>
        </p:nvSpPr>
        <p:spPr>
          <a:xfrm>
            <a:off x="8130000" y="3320000"/>
            <a:ext cx="480000" cy="480000"/>
          </a:xfrm>
          <a:prstGeom prst="roundRect">
            <a:avLst>
              <a:gd name="adj" fmla="val 12000"/>
            </a:avLst>
          </a:prstGeom>
          <a:no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0" name="dthumb3_brain"/>
          <p:cNvSpPr/>
          <p:nvPr/>
        </p:nvSpPr>
        <p:spPr>
          <a:xfrm>
            <a:off x="8211600" y="3396800"/>
            <a:ext cx="316800" cy="25344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6000"/>
            </a:srgbClr>
          </a:solidFill>
          <a:ln w="15875">
            <a:solidFill>
              <a:srgbClr val="67E8F9">
                <a:alpha val="55000"/>
              </a:srgbClr>
            </a:solidFill>
          </a:ln>
        </p:spPr>
        <p:txBody>
          <a:bodyPr/>
          <a:lstStyle/>
          <a:p>
            <a:endParaRPr lang="en-US"/>
          </a:p>
        </p:txBody>
      </p:sp>
      <p:sp>
        <p:nvSpPr>
          <p:cNvPr id="191" name="dsetcard_bg0"/>
          <p:cNvSpPr/>
          <p:nvPr/>
        </p:nvSpPr>
        <p:spPr>
          <a:xfrm>
            <a:off x="480000" y="3970000"/>
            <a:ext cx="2100000" cy="16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2" name="dsetcard_hdr0"/>
          <p:cNvSpPr txBox="1"/>
          <p:nvPr/>
        </p:nvSpPr>
        <p:spPr>
          <a:xfrm>
            <a:off x="648000" y="4102000"/>
            <a:ext cx="1764000" cy="46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Glioma</a:t>
            </a:r>
          </a:p>
        </p:txBody>
      </p:sp>
      <p:sp>
        <p:nvSpPr>
          <p:cNvPr id="193" name="dsetcard_sub0"/>
          <p:cNvSpPr txBox="1"/>
          <p:nvPr/>
        </p:nvSpPr>
        <p:spPr>
          <a:xfrm>
            <a:off x="64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E7EAF6"/>
                </a:solidFill>
                <a:latin typeface="Calibri"/>
                <a:ea typeface="Calibri"/>
                <a:cs typeface="Calibri"/>
              </a:rPr>
              <a:t>1,147 train</a:t>
            </a:r>
          </a:p>
          <a:p>
            <a:pPr algn="ctr">
              <a:spcAft>
                <a:spcPts val="300"/>
              </a:spcAft>
            </a:pPr>
            <a:r>
              <a:rPr lang="en-US" sz="1000" b="0" i="0" dirty="0">
                <a:solidFill>
                  <a:srgbClr val="8891B0"/>
                </a:solidFill>
                <a:latin typeface="Calibri"/>
                <a:ea typeface="Calibri"/>
                <a:cs typeface="Calibri"/>
              </a:rPr>
              <a:t>254 test</a:t>
            </a:r>
          </a:p>
        </p:txBody>
      </p:sp>
      <p:sp>
        <p:nvSpPr>
          <p:cNvPr id="194" name="dsetcard_bg1"/>
          <p:cNvSpPr/>
          <p:nvPr/>
        </p:nvSpPr>
        <p:spPr>
          <a:xfrm>
            <a:off x="2760000" y="3970000"/>
            <a:ext cx="2100000" cy="16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5" name="dsetcard_hdr1"/>
          <p:cNvSpPr txBox="1"/>
          <p:nvPr/>
        </p:nvSpPr>
        <p:spPr>
          <a:xfrm>
            <a:off x="2928000" y="4102000"/>
            <a:ext cx="1764000" cy="46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Meningioma</a:t>
            </a:r>
          </a:p>
        </p:txBody>
      </p:sp>
      <p:sp>
        <p:nvSpPr>
          <p:cNvPr id="196" name="dsetcard_sub1"/>
          <p:cNvSpPr txBox="1"/>
          <p:nvPr/>
        </p:nvSpPr>
        <p:spPr>
          <a:xfrm>
            <a:off x="292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E7EAF6"/>
                </a:solidFill>
                <a:latin typeface="Calibri"/>
                <a:ea typeface="Calibri"/>
                <a:cs typeface="Calibri"/>
              </a:rPr>
              <a:t>1,329 train</a:t>
            </a:r>
          </a:p>
          <a:p>
            <a:pPr algn="ctr">
              <a:spcAft>
                <a:spcPts val="300"/>
              </a:spcAft>
            </a:pPr>
            <a:r>
              <a:rPr lang="en-US" sz="1000" b="0" i="0" dirty="0">
                <a:solidFill>
                  <a:srgbClr val="8891B0"/>
                </a:solidFill>
                <a:latin typeface="Calibri"/>
                <a:ea typeface="Calibri"/>
                <a:cs typeface="Calibri"/>
              </a:rPr>
              <a:t>306 test</a:t>
            </a:r>
          </a:p>
        </p:txBody>
      </p:sp>
      <p:sp>
        <p:nvSpPr>
          <p:cNvPr id="197" name="dsetcard_bg2"/>
          <p:cNvSpPr/>
          <p:nvPr/>
        </p:nvSpPr>
        <p:spPr>
          <a:xfrm>
            <a:off x="5040000" y="3970000"/>
            <a:ext cx="2100000" cy="16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98" name="dsetcard_hdr2"/>
          <p:cNvSpPr txBox="1"/>
          <p:nvPr/>
        </p:nvSpPr>
        <p:spPr>
          <a:xfrm>
            <a:off x="5208000" y="4102000"/>
            <a:ext cx="1764000" cy="46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Pituitary</a:t>
            </a:r>
          </a:p>
        </p:txBody>
      </p:sp>
      <p:sp>
        <p:nvSpPr>
          <p:cNvPr id="199" name="dsetcard_sub2"/>
          <p:cNvSpPr txBox="1"/>
          <p:nvPr/>
        </p:nvSpPr>
        <p:spPr>
          <a:xfrm>
            <a:off x="520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E7EAF6"/>
                </a:solidFill>
                <a:latin typeface="Calibri"/>
                <a:ea typeface="Calibri"/>
                <a:cs typeface="Calibri"/>
              </a:rPr>
              <a:t>1,457 train</a:t>
            </a:r>
          </a:p>
          <a:p>
            <a:pPr algn="ctr">
              <a:spcAft>
                <a:spcPts val="300"/>
              </a:spcAft>
            </a:pPr>
            <a:r>
              <a:rPr lang="en-US" sz="1000" b="0" i="0" dirty="0">
                <a:solidFill>
                  <a:srgbClr val="8891B0"/>
                </a:solidFill>
                <a:latin typeface="Calibri"/>
                <a:ea typeface="Calibri"/>
                <a:cs typeface="Calibri"/>
              </a:rPr>
              <a:t>300 test</a:t>
            </a:r>
          </a:p>
        </p:txBody>
      </p:sp>
      <p:sp>
        <p:nvSpPr>
          <p:cNvPr id="200" name="dsetcard_bg3"/>
          <p:cNvSpPr/>
          <p:nvPr/>
        </p:nvSpPr>
        <p:spPr>
          <a:xfrm>
            <a:off x="7320000" y="3970000"/>
            <a:ext cx="2100000" cy="16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01" name="dsetcard_hdr3"/>
          <p:cNvSpPr txBox="1"/>
          <p:nvPr/>
        </p:nvSpPr>
        <p:spPr>
          <a:xfrm>
            <a:off x="7488000" y="4102000"/>
            <a:ext cx="1764000" cy="46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No Tumor</a:t>
            </a:r>
          </a:p>
        </p:txBody>
      </p:sp>
      <p:sp>
        <p:nvSpPr>
          <p:cNvPr id="202" name="dsetcard_sub3"/>
          <p:cNvSpPr txBox="1"/>
          <p:nvPr/>
        </p:nvSpPr>
        <p:spPr>
          <a:xfrm>
            <a:off x="7488000" y="4531000"/>
            <a:ext cx="1764000" cy="1056000"/>
          </a:xfrm>
          <a:prstGeom prst="rect">
            <a:avLst/>
          </a:prstGeom>
          <a:noFill/>
          <a:ln>
            <a:noFill/>
          </a:ln>
        </p:spPr>
        <p:txBody>
          <a:bodyPr wrap="square" lIns="0" tIns="0" rIns="0" bIns="0" anchor="t">
            <a:noAutofit/>
          </a:bodyPr>
          <a:lstStyle/>
          <a:p>
            <a:pPr algn="ctr">
              <a:spcAft>
                <a:spcPts val="300"/>
              </a:spcAft>
            </a:pPr>
            <a:r>
              <a:rPr lang="en-US" sz="1100" b="1" i="0" dirty="0">
                <a:solidFill>
                  <a:srgbClr val="E7EAF6"/>
                </a:solidFill>
                <a:latin typeface="Calibri"/>
                <a:ea typeface="Calibri"/>
                <a:cs typeface="Calibri"/>
              </a:rPr>
              <a:t>1,067 train</a:t>
            </a:r>
          </a:p>
          <a:p>
            <a:pPr algn="ctr">
              <a:spcAft>
                <a:spcPts val="300"/>
              </a:spcAft>
            </a:pPr>
            <a:r>
              <a:rPr lang="en-US" sz="1000" b="0" i="0" dirty="0">
                <a:solidFill>
                  <a:srgbClr val="8891B0"/>
                </a:solidFill>
                <a:latin typeface="Calibri"/>
                <a:ea typeface="Calibri"/>
                <a:cs typeface="Calibri"/>
              </a:rPr>
              <a:t>140 test</a:t>
            </a:r>
          </a:p>
        </p:txBody>
      </p:sp>
      <p:sp>
        <p:nvSpPr>
          <p:cNvPr id="203" name="dsetnote"/>
          <p:cNvSpPr txBox="1"/>
          <p:nvPr/>
        </p:nvSpPr>
        <p:spPr>
          <a:xfrm>
            <a:off x="480000" y="5770000"/>
            <a:ext cx="8940000" cy="40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No Tumor is the smallest class: 21.3% of training data, 14.0% of test data — why macro-F1 and per-class recall matter.</a:t>
            </a:r>
          </a:p>
        </p:txBody>
      </p:sp>
      <p:cxnSp>
        <p:nvCxnSpPr>
          <p:cNvPr id="684"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Data · 07</a:t>
            </a:r>
          </a:p>
        </p:txBody>
      </p:sp>
    </p:spTree>
    <p:extLst>
      <p:ext uri="{BB962C8B-B14F-4D97-AF65-F5344CB8AC3E}">
        <p14:creationId xmlns:p14="http://schemas.microsoft.com/office/powerpoint/2010/main" val="4080462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 name="bg08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686" name="bg08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87" name="bg08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88" name="bg08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89" name="bg08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0" name="bg08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1" name="bg08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2" name="bg08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3" name="bg08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4" name="bg08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5" name="bg08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6" name="bg08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7" name="bg08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8" name="bg08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699" name="bg08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0" name="bg08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1" name="bg08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2" name="bg08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3" name="bg08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4" name="bg08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5" name="bg08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6" name="bg08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7" name="bg08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08" name="bg08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709" name="bg08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710" name="corner08_e0_3"/>
          <p:cNvCxnSpPr/>
          <p:nvPr/>
        </p:nvCxnSpPr>
        <p:spPr>
          <a:xfrm flipH="1">
            <a:off x="9247073" y="831306"/>
            <a:ext cx="108252" cy="1880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11" name="corner08_e0_4"/>
          <p:cNvCxnSpPr/>
          <p:nvPr/>
        </p:nvCxnSpPr>
        <p:spPr>
          <a:xfrm>
            <a:off x="9355325" y="831306"/>
            <a:ext cx="65201" cy="8927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12" name="corner08_e1_2"/>
          <p:cNvCxnSpPr/>
          <p:nvPr/>
        </p:nvCxnSpPr>
        <p:spPr>
          <a:xfrm>
            <a:off x="9489178" y="272732"/>
            <a:ext cx="233864" cy="44322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13" name="corner08_e1_0"/>
          <p:cNvCxnSpPr/>
          <p:nvPr/>
        </p:nvCxnSpPr>
        <p:spPr>
          <a:xfrm flipH="1">
            <a:off x="9355325" y="272732"/>
            <a:ext cx="133853" cy="55857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14" name="corner08_e2_4"/>
          <p:cNvCxnSpPr/>
          <p:nvPr/>
        </p:nvCxnSpPr>
        <p:spPr>
          <a:xfrm flipH="1">
            <a:off x="9420526" y="715952"/>
            <a:ext cx="302516" cy="204625"/>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15" name="corner08_e2_0"/>
          <p:cNvCxnSpPr/>
          <p:nvPr/>
        </p:nvCxnSpPr>
        <p:spPr>
          <a:xfrm flipH="1">
            <a:off x="9355325" y="715952"/>
            <a:ext cx="367717" cy="11535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16" name="corner08_e3_4"/>
          <p:cNvCxnSpPr/>
          <p:nvPr/>
        </p:nvCxnSpPr>
        <p:spPr>
          <a:xfrm>
            <a:off x="9247073" y="850114"/>
            <a:ext cx="173453" cy="7046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717" name="corner08_n0"/>
          <p:cNvSpPr/>
          <p:nvPr/>
        </p:nvSpPr>
        <p:spPr>
          <a:xfrm>
            <a:off x="9348325" y="824306"/>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18" name="corner08_n1"/>
          <p:cNvSpPr/>
          <p:nvPr/>
        </p:nvSpPr>
        <p:spPr>
          <a:xfrm>
            <a:off x="9479178" y="262732"/>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19" name="corner08_n2"/>
          <p:cNvSpPr/>
          <p:nvPr/>
        </p:nvSpPr>
        <p:spPr>
          <a:xfrm>
            <a:off x="9710042" y="702952"/>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20" name="corner08_n3"/>
          <p:cNvSpPr/>
          <p:nvPr/>
        </p:nvSpPr>
        <p:spPr>
          <a:xfrm>
            <a:off x="9240073" y="843114"/>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21" name="corner08_n4"/>
          <p:cNvSpPr/>
          <p:nvPr/>
        </p:nvSpPr>
        <p:spPr>
          <a:xfrm>
            <a:off x="9410526" y="910577"/>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2.3</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DATA</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08</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722"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Data Preparation &amp; Preprocessing</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All data is loaded from a single manifest (path, class, plane, split, mask link) for consistency.</a:t>
            </a:r>
          </a:p>
          <a:p>
            <a:pPr marL="228600" indent="-228600">
              <a:buClr>
                <a:srgbClr val="22D3EE"/>
              </a:buClr>
              <a:buFont typeface="Arial"/>
              <a:buChar char="▸"/>
            </a:pPr>
            <a:r>
              <a:rPr lang="en-US" altLang="ko-KR" dirty="0">
                <a:solidFill>
                  <a:srgbClr val="DCE2F5"/>
                </a:solidFill>
                <a:latin typeface="Calibri"/>
                <a:cs typeface="Calibri"/>
              </a:rPr>
              <a:t>A stratified 15% validation split is carved from the training data, using a fixed random seed shared across the team.</a:t>
            </a:r>
          </a:p>
          <a:p>
            <a:pPr marL="228600" indent="-228600">
              <a:buClr>
                <a:srgbClr val="22D3EE"/>
              </a:buClr>
              <a:buFont typeface="Arial"/>
              <a:buChar char="▸"/>
            </a:pPr>
            <a:r>
              <a:rPr lang="en-US" altLang="ko-KR" dirty="0">
                <a:solidFill>
                  <a:srgbClr val="DCE2F5"/>
                </a:solidFill>
                <a:latin typeface="Calibri"/>
                <a:cs typeface="Calibri"/>
              </a:rPr>
              <a:t>Classification inputs: 224×224 px. Segmentation inputs: 256×256 px. Pixels normalized to the pretrained backbone's expected scale.</a:t>
            </a:r>
          </a:p>
        </p:txBody>
      </p:sp>
      <p:sp>
        <p:nvSpPr>
          <p:cNvPr id="204" name="preppipe_box0"/>
          <p:cNvSpPr/>
          <p:nvPr/>
        </p:nvSpPr>
        <p:spPr>
          <a:xfrm>
            <a:off x="1180000" y="4320000"/>
            <a:ext cx="18096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05" name="preppipe_txt0"/>
          <p:cNvSpPr txBox="1"/>
          <p:nvPr/>
        </p:nvSpPr>
        <p:spPr>
          <a:xfrm>
            <a:off x="1288576" y="4320000"/>
            <a:ext cx="1592448" cy="13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Partition</a:t>
            </a:r>
          </a:p>
          <a:p>
            <a:pPr algn="ctr">
              <a:spcAft>
                <a:spcPts val="300"/>
              </a:spcAft>
            </a:pPr>
            <a:r>
              <a:rPr lang="en-US" sz="900" b="0" i="0" dirty="0">
                <a:solidFill>
                  <a:srgbClr val="F5F7FF"/>
                </a:solidFill>
                <a:latin typeface="Calibri"/>
                <a:ea typeface="Calibri"/>
                <a:cs typeface="Calibri"/>
              </a:rPr>
              <a:t>(stratified 15% val)</a:t>
            </a:r>
          </a:p>
        </p:txBody>
      </p:sp>
      <p:sp>
        <p:nvSpPr>
          <p:cNvPr id="206" name="preppipe_arrow0"/>
          <p:cNvSpPr/>
          <p:nvPr/>
        </p:nvSpPr>
        <p:spPr>
          <a:xfrm>
            <a:off x="2989600" y="4788000"/>
            <a:ext cx="1055600" cy="364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07" name="preppipe_box1"/>
          <p:cNvSpPr/>
          <p:nvPr/>
        </p:nvSpPr>
        <p:spPr>
          <a:xfrm>
            <a:off x="4045200" y="4320000"/>
            <a:ext cx="18096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08" name="preppipe_txt1"/>
          <p:cNvSpPr txBox="1"/>
          <p:nvPr/>
        </p:nvSpPr>
        <p:spPr>
          <a:xfrm>
            <a:off x="4153776" y="4320000"/>
            <a:ext cx="1592448" cy="13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Pad &amp;</a:t>
            </a:r>
          </a:p>
          <a:p>
            <a:pPr algn="ctr">
              <a:spcAft>
                <a:spcPts val="300"/>
              </a:spcAft>
            </a:pPr>
            <a:r>
              <a:rPr lang="en-US" sz="1300" b="1" i="0" dirty="0">
                <a:solidFill>
                  <a:srgbClr val="F5F7FF"/>
                </a:solidFill>
                <a:latin typeface="Calibri"/>
                <a:ea typeface="Calibri"/>
                <a:cs typeface="Calibri"/>
              </a:rPr>
              <a:t>Resize</a:t>
            </a:r>
          </a:p>
        </p:txBody>
      </p:sp>
      <p:sp>
        <p:nvSpPr>
          <p:cNvPr id="209" name="preppipe_arrow1"/>
          <p:cNvSpPr/>
          <p:nvPr/>
        </p:nvSpPr>
        <p:spPr>
          <a:xfrm>
            <a:off x="5854800" y="4788000"/>
            <a:ext cx="1055600" cy="364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10" name="preppipe_box2"/>
          <p:cNvSpPr/>
          <p:nvPr/>
        </p:nvSpPr>
        <p:spPr>
          <a:xfrm>
            <a:off x="6910400" y="4320000"/>
            <a:ext cx="18096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11" name="preppipe_txt2"/>
          <p:cNvSpPr txBox="1"/>
          <p:nvPr/>
        </p:nvSpPr>
        <p:spPr>
          <a:xfrm>
            <a:off x="7018976" y="4320000"/>
            <a:ext cx="1592448" cy="13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Normalize</a:t>
            </a:r>
          </a:p>
          <a:p>
            <a:pPr algn="ctr">
              <a:spcAft>
                <a:spcPts val="300"/>
              </a:spcAft>
            </a:pPr>
            <a:r>
              <a:rPr lang="en-US" sz="900" b="0" i="0" dirty="0">
                <a:solidFill>
                  <a:srgbClr val="F5F7FF"/>
                </a:solidFill>
                <a:latin typeface="Calibri"/>
                <a:ea typeface="Calibri"/>
                <a:cs typeface="Calibri"/>
              </a:rPr>
              <a:t>(backbone stats)</a:t>
            </a:r>
          </a:p>
        </p:txBody>
      </p:sp>
      <p:sp>
        <p:nvSpPr>
          <p:cNvPr id="212" name="prepnote"/>
          <p:cNvSpPr txBox="1"/>
          <p:nvPr/>
        </p:nvSpPr>
        <p:spPr>
          <a:xfrm>
            <a:off x="480000" y="5870000"/>
            <a:ext cx="8940000" cy="40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Images are padded to a square before resizing, to preserve anatomical proportions across the dataset's non-uniform image sizes.</a:t>
            </a:r>
          </a:p>
        </p:txBody>
      </p:sp>
      <p:cxnSp>
        <p:nvCxnSpPr>
          <p:cNvPr id="723"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Data · 08</a:t>
            </a:r>
          </a:p>
        </p:txBody>
      </p:sp>
    </p:spTree>
    <p:extLst>
      <p:ext uri="{BB962C8B-B14F-4D97-AF65-F5344CB8AC3E}">
        <p14:creationId xmlns:p14="http://schemas.microsoft.com/office/powerpoint/2010/main" val="4080462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4" name="bg09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725" name="bg09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26" name="bg09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27" name="bg09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28" name="bg09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29" name="bg09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0" name="bg09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1" name="bg09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2" name="bg09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3" name="bg09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4" name="bg09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5" name="bg09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6" name="bg09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7" name="bg09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8" name="bg09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39" name="bg09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0" name="bg09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1" name="bg09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2" name="bg09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3" name="bg09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4" name="bg09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5" name="bg09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6" name="bg09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47" name="bg09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748" name="bg09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749" name="corner09_e0_4"/>
          <p:cNvCxnSpPr/>
          <p:nvPr/>
        </p:nvCxnSpPr>
        <p:spPr>
          <a:xfrm flipV="1">
            <a:off x="9488628" y="543519"/>
            <a:ext cx="304563" cy="39246"/>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50" name="corner09_e0_1"/>
          <p:cNvCxnSpPr/>
          <p:nvPr/>
        </p:nvCxnSpPr>
        <p:spPr>
          <a:xfrm flipV="1">
            <a:off x="9488628" y="207632"/>
            <a:ext cx="288177" cy="37513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51" name="corner09_e1_4"/>
          <p:cNvCxnSpPr/>
          <p:nvPr/>
        </p:nvCxnSpPr>
        <p:spPr>
          <a:xfrm>
            <a:off x="9776805" y="207632"/>
            <a:ext cx="16386" cy="33588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52" name="corner09_e2_3"/>
          <p:cNvCxnSpPr/>
          <p:nvPr/>
        </p:nvCxnSpPr>
        <p:spPr>
          <a:xfrm flipV="1">
            <a:off x="8946604" y="842925"/>
            <a:ext cx="14835" cy="15929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53" name="corner09_e2_0"/>
          <p:cNvCxnSpPr/>
          <p:nvPr/>
        </p:nvCxnSpPr>
        <p:spPr>
          <a:xfrm flipV="1">
            <a:off x="8946604" y="582765"/>
            <a:ext cx="542024" cy="41945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54" name="corner09_e3_0"/>
          <p:cNvCxnSpPr/>
          <p:nvPr/>
        </p:nvCxnSpPr>
        <p:spPr>
          <a:xfrm flipV="1">
            <a:off x="8961439" y="582765"/>
            <a:ext cx="527189" cy="26016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755" name="corner09_n0"/>
          <p:cNvSpPr/>
          <p:nvPr/>
        </p:nvSpPr>
        <p:spPr>
          <a:xfrm>
            <a:off x="9481628" y="575765"/>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56" name="corner09_n1"/>
          <p:cNvSpPr/>
          <p:nvPr/>
        </p:nvSpPr>
        <p:spPr>
          <a:xfrm>
            <a:off x="9766805" y="197632"/>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57" name="corner09_n2"/>
          <p:cNvSpPr/>
          <p:nvPr/>
        </p:nvSpPr>
        <p:spPr>
          <a:xfrm>
            <a:off x="8933604" y="989217"/>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58" name="corner09_n3"/>
          <p:cNvSpPr/>
          <p:nvPr/>
        </p:nvSpPr>
        <p:spPr>
          <a:xfrm>
            <a:off x="8954439" y="835925"/>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59" name="corner09_n4"/>
          <p:cNvSpPr/>
          <p:nvPr/>
        </p:nvSpPr>
        <p:spPr>
          <a:xfrm>
            <a:off x="9783191" y="533519"/>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2.4</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DATA</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09</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760"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Data Augmentation</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Applied to the training partition only — validation and test data stay unmodified.</a:t>
            </a:r>
          </a:p>
          <a:p>
            <a:pPr marL="228600" indent="-228600">
              <a:buClr>
                <a:srgbClr val="22D3EE"/>
              </a:buClr>
              <a:buFont typeface="Arial"/>
              <a:buChar char="▸"/>
            </a:pPr>
            <a:r>
              <a:rPr lang="en-US" altLang="ko-KR" dirty="0">
                <a:solidFill>
                  <a:srgbClr val="DCE2F5"/>
                </a:solidFill>
                <a:latin typeface="Calibri"/>
                <a:cs typeface="Calibri"/>
              </a:rPr>
              <a:t>Implemented with Albumentations, which applies identical geometric transforms to each image and its mask together.</a:t>
            </a:r>
          </a:p>
        </p:txBody>
      </p:sp>
      <p:sp>
        <p:nvSpPr>
          <p:cNvPr id="213" name="augcard_bg0"/>
          <p:cNvSpPr/>
          <p:nvPr/>
        </p:nvSpPr>
        <p:spPr>
          <a:xfrm>
            <a:off x="480000" y="4220000"/>
            <a:ext cx="20475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14" name="augcard_hdr0"/>
          <p:cNvSpPr txBox="1"/>
          <p:nvPr/>
        </p:nvSpPr>
        <p:spPr>
          <a:xfrm>
            <a:off x="643800" y="4340000"/>
            <a:ext cx="17199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Flips</a:t>
            </a:r>
          </a:p>
        </p:txBody>
      </p:sp>
      <p:sp>
        <p:nvSpPr>
          <p:cNvPr id="215" name="augcard_sub0"/>
          <p:cNvSpPr txBox="1"/>
          <p:nvPr/>
        </p:nvSpPr>
        <p:spPr>
          <a:xfrm>
            <a:off x="643800" y="4730000"/>
            <a:ext cx="1719900" cy="960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Horizontal &amp;</a:t>
            </a:r>
          </a:p>
          <a:p>
            <a:pPr algn="ctr">
              <a:spcAft>
                <a:spcPts val="300"/>
              </a:spcAft>
            </a:pPr>
            <a:r>
              <a:rPr lang="en-US" sz="1000" b="0" i="0" dirty="0">
                <a:solidFill>
                  <a:srgbClr val="E7EAF6"/>
                </a:solidFill>
                <a:latin typeface="Calibri"/>
                <a:ea typeface="Calibri"/>
                <a:cs typeface="Calibri"/>
              </a:rPr>
              <a:t>vertical</a:t>
            </a:r>
          </a:p>
        </p:txBody>
      </p:sp>
      <p:sp>
        <p:nvSpPr>
          <p:cNvPr id="216" name="augcard_bg1"/>
          <p:cNvSpPr/>
          <p:nvPr/>
        </p:nvSpPr>
        <p:spPr>
          <a:xfrm>
            <a:off x="2777500" y="4220000"/>
            <a:ext cx="20475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17" name="augcard_hdr1"/>
          <p:cNvSpPr txBox="1"/>
          <p:nvPr/>
        </p:nvSpPr>
        <p:spPr>
          <a:xfrm>
            <a:off x="2941300" y="4340000"/>
            <a:ext cx="17199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Rotation</a:t>
            </a:r>
          </a:p>
        </p:txBody>
      </p:sp>
      <p:sp>
        <p:nvSpPr>
          <p:cNvPr id="218" name="augcard_sub1"/>
          <p:cNvSpPr txBox="1"/>
          <p:nvPr/>
        </p:nvSpPr>
        <p:spPr>
          <a:xfrm>
            <a:off x="2941300" y="4730000"/>
            <a:ext cx="1719900" cy="960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Limited range</a:t>
            </a:r>
          </a:p>
          <a:p>
            <a:pPr algn="ctr">
              <a:spcAft>
                <a:spcPts val="300"/>
              </a:spcAft>
            </a:pPr>
            <a:r>
              <a:rPr lang="en-US" sz="900" b="0" i="0" dirty="0">
                <a:solidFill>
                  <a:srgbClr val="8891B0"/>
                </a:solidFill>
                <a:latin typeface="Calibri"/>
                <a:ea typeface="Calibri"/>
                <a:cs typeface="Calibri"/>
              </a:rPr>
              <a:t>(orientation matters)</a:t>
            </a:r>
          </a:p>
        </p:txBody>
      </p:sp>
      <p:sp>
        <p:nvSpPr>
          <p:cNvPr id="219" name="augcard_bg2"/>
          <p:cNvSpPr/>
          <p:nvPr/>
        </p:nvSpPr>
        <p:spPr>
          <a:xfrm>
            <a:off x="5075000" y="4220000"/>
            <a:ext cx="20475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20" name="augcard_hdr2"/>
          <p:cNvSpPr txBox="1"/>
          <p:nvPr/>
        </p:nvSpPr>
        <p:spPr>
          <a:xfrm>
            <a:off x="5238800" y="4340000"/>
            <a:ext cx="17199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Brightness /</a:t>
            </a:r>
          </a:p>
        </p:txBody>
      </p:sp>
      <p:sp>
        <p:nvSpPr>
          <p:cNvPr id="221" name="augcard_sub2"/>
          <p:cNvSpPr txBox="1"/>
          <p:nvPr/>
        </p:nvSpPr>
        <p:spPr>
          <a:xfrm>
            <a:off x="5238800" y="4730000"/>
            <a:ext cx="1719900" cy="960000"/>
          </a:xfrm>
          <a:prstGeom prst="rect">
            <a:avLst/>
          </a:prstGeom>
          <a:noFill/>
          <a:ln>
            <a:noFill/>
          </a:ln>
        </p:spPr>
        <p:txBody>
          <a:bodyPr wrap="square" lIns="0" tIns="0" rIns="0" bIns="0" anchor="t">
            <a:noAutofit/>
          </a:bodyPr>
          <a:lstStyle/>
          <a:p>
            <a:pPr algn="ctr">
              <a:spcAft>
                <a:spcPts val="300"/>
              </a:spcAft>
            </a:pPr>
            <a:r>
              <a:rPr lang="en-US" sz="1200" b="1" i="0" dirty="0">
                <a:solidFill>
                  <a:srgbClr val="22D3EE"/>
                </a:solidFill>
                <a:latin typeface="Calibri"/>
                <a:ea typeface="Calibri"/>
                <a:cs typeface="Calibri"/>
              </a:rPr>
              <a:t>Contrast</a:t>
            </a:r>
          </a:p>
          <a:p>
            <a:pPr algn="ctr">
              <a:spcAft>
                <a:spcPts val="300"/>
              </a:spcAft>
            </a:pPr>
            <a:r>
              <a:rPr lang="en-US" sz="900" b="0" i="0" dirty="0">
                <a:solidFill>
                  <a:srgbClr val="8891B0"/>
                </a:solidFill>
                <a:latin typeface="Calibri"/>
                <a:ea typeface="Calibri"/>
                <a:cs typeface="Calibri"/>
              </a:rPr>
              <a:t>Scanner robustness</a:t>
            </a:r>
          </a:p>
        </p:txBody>
      </p:sp>
      <p:sp>
        <p:nvSpPr>
          <p:cNvPr id="222" name="augcard_bg3"/>
          <p:cNvSpPr/>
          <p:nvPr/>
        </p:nvSpPr>
        <p:spPr>
          <a:xfrm>
            <a:off x="7372500" y="4220000"/>
            <a:ext cx="2047500" cy="15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23" name="augcard_hdr3"/>
          <p:cNvSpPr txBox="1"/>
          <p:nvPr/>
        </p:nvSpPr>
        <p:spPr>
          <a:xfrm>
            <a:off x="7536300" y="4340000"/>
            <a:ext cx="1719900" cy="420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Elastic</a:t>
            </a:r>
          </a:p>
        </p:txBody>
      </p:sp>
      <p:sp>
        <p:nvSpPr>
          <p:cNvPr id="224" name="augcard_sub3"/>
          <p:cNvSpPr txBox="1"/>
          <p:nvPr/>
        </p:nvSpPr>
        <p:spPr>
          <a:xfrm>
            <a:off x="7536300" y="4730000"/>
            <a:ext cx="1719900" cy="960000"/>
          </a:xfrm>
          <a:prstGeom prst="rect">
            <a:avLst/>
          </a:prstGeom>
          <a:noFill/>
          <a:ln>
            <a:noFill/>
          </a:ln>
        </p:spPr>
        <p:txBody>
          <a:bodyPr wrap="square" lIns="0" tIns="0" rIns="0" bIns="0" anchor="t">
            <a:noAutofit/>
          </a:bodyPr>
          <a:lstStyle/>
          <a:p>
            <a:pPr algn="ctr">
              <a:spcAft>
                <a:spcPts val="300"/>
              </a:spcAft>
            </a:pPr>
            <a:r>
              <a:rPr lang="en-US" sz="1200" b="1" i="0" dirty="0">
                <a:solidFill>
                  <a:srgbClr val="22D3EE"/>
                </a:solidFill>
                <a:latin typeface="Calibri"/>
                <a:ea typeface="Calibri"/>
                <a:cs typeface="Calibri"/>
              </a:rPr>
              <a:t>Deformation</a:t>
            </a:r>
          </a:p>
          <a:p>
            <a:pPr algn="ctr">
              <a:spcAft>
                <a:spcPts val="300"/>
              </a:spcAft>
            </a:pPr>
            <a:r>
              <a:rPr lang="en-US" sz="900" b="0" i="0" dirty="0">
                <a:solidFill>
                  <a:srgbClr val="8891B0"/>
                </a:solidFill>
                <a:latin typeface="Calibri"/>
                <a:ea typeface="Calibri"/>
                <a:cs typeface="Calibri"/>
              </a:rPr>
              <a:t>Anatomical variation</a:t>
            </a:r>
          </a:p>
        </p:txBody>
      </p:sp>
      <p:cxnSp>
        <p:nvCxnSpPr>
          <p:cNvPr id="761"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Data · 09</a:t>
            </a:r>
          </a:p>
        </p:txBody>
      </p:sp>
    </p:spTree>
    <p:extLst>
      <p:ext uri="{BB962C8B-B14F-4D97-AF65-F5344CB8AC3E}">
        <p14:creationId xmlns:p14="http://schemas.microsoft.com/office/powerpoint/2010/main" val="4080462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bg10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763" name="bg10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64" name="bg10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65" name="bg10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66" name="bg10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67" name="bg10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68" name="bg10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69" name="bg10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0" name="bg10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1" name="bg10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2" name="bg10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3" name="bg10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4" name="bg10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5" name="bg10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6" name="bg10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7" name="bg10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8" name="bg10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79" name="bg10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80" name="bg10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81" name="bg10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82" name="bg10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83" name="bg10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84" name="bg10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785" name="bg10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786" name="bg10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787" name="corner10_e0_4"/>
          <p:cNvCxnSpPr/>
          <p:nvPr/>
        </p:nvCxnSpPr>
        <p:spPr>
          <a:xfrm>
            <a:off x="9072509" y="399473"/>
            <a:ext cx="181579" cy="9752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88" name="corner10_e0_2"/>
          <p:cNvCxnSpPr/>
          <p:nvPr/>
        </p:nvCxnSpPr>
        <p:spPr>
          <a:xfrm>
            <a:off x="9072509" y="399473"/>
            <a:ext cx="31864" cy="29819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89" name="corner10_e1_4"/>
          <p:cNvCxnSpPr/>
          <p:nvPr/>
        </p:nvCxnSpPr>
        <p:spPr>
          <a:xfrm flipH="1">
            <a:off x="9254088" y="224386"/>
            <a:ext cx="395477" cy="27260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90" name="corner10_e1_0"/>
          <p:cNvCxnSpPr/>
          <p:nvPr/>
        </p:nvCxnSpPr>
        <p:spPr>
          <a:xfrm flipH="1">
            <a:off x="9072509" y="224386"/>
            <a:ext cx="577056" cy="17508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91" name="corner10_e2_4"/>
          <p:cNvCxnSpPr/>
          <p:nvPr/>
        </p:nvCxnSpPr>
        <p:spPr>
          <a:xfrm flipV="1">
            <a:off x="9104373" y="496994"/>
            <a:ext cx="149715" cy="200673"/>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792" name="corner10_e3_2"/>
          <p:cNvCxnSpPr/>
          <p:nvPr/>
        </p:nvCxnSpPr>
        <p:spPr>
          <a:xfrm flipH="1" flipV="1">
            <a:off x="9104373" y="697667"/>
            <a:ext cx="438578" cy="37859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793" name="corner10_e3_4"/>
          <p:cNvCxnSpPr/>
          <p:nvPr/>
        </p:nvCxnSpPr>
        <p:spPr>
          <a:xfrm flipH="1" flipV="1">
            <a:off x="9254088" y="496994"/>
            <a:ext cx="288863" cy="579269"/>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794" name="corner10_n0"/>
          <p:cNvSpPr/>
          <p:nvPr/>
        </p:nvSpPr>
        <p:spPr>
          <a:xfrm>
            <a:off x="9065509" y="392473"/>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95" name="corner10_n1"/>
          <p:cNvSpPr/>
          <p:nvPr/>
        </p:nvSpPr>
        <p:spPr>
          <a:xfrm>
            <a:off x="9639565" y="214386"/>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96" name="corner10_n2"/>
          <p:cNvSpPr/>
          <p:nvPr/>
        </p:nvSpPr>
        <p:spPr>
          <a:xfrm>
            <a:off x="9091373" y="684667"/>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97" name="corner10_n3"/>
          <p:cNvSpPr/>
          <p:nvPr/>
        </p:nvSpPr>
        <p:spPr>
          <a:xfrm>
            <a:off x="9535951" y="1069263"/>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798" name="corner10_n4"/>
          <p:cNvSpPr/>
          <p:nvPr/>
        </p:nvSpPr>
        <p:spPr>
          <a:xfrm>
            <a:off x="9244088" y="486994"/>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3.1</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AI MODELS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10</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799"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AI Models Overview</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Our team built and compared two classification approaches, plus one segmentation model.</a:t>
            </a:r>
          </a:p>
        </p:txBody>
      </p:sp>
      <p:sp>
        <p:nvSpPr>
          <p:cNvPr id="225" name="sec_clf"/>
          <p:cNvSpPr txBox="1"/>
          <p:nvPr/>
        </p:nvSpPr>
        <p:spPr>
          <a:xfrm>
            <a:off x="480000" y="3270000"/>
            <a:ext cx="8940000" cy="260000"/>
          </a:xfrm>
          <a:prstGeom prst="rect">
            <a:avLst/>
          </a:prstGeom>
          <a:noFill/>
          <a:ln>
            <a:noFill/>
          </a:ln>
        </p:spPr>
        <p:txBody>
          <a:bodyPr wrap="square" lIns="0" tIns="0" rIns="0" bIns="0" anchor="t">
            <a:noAutofit/>
          </a:bodyPr>
          <a:lstStyle/>
          <a:p>
            <a:pPr algn="l"/>
            <a:r>
              <a:rPr lang="en-US" sz="1100" b="1" i="0" dirty="0">
                <a:solidFill>
                  <a:srgbClr val="22D3EE"/>
                </a:solidFill>
                <a:latin typeface="Calibri"/>
                <a:ea typeface="Calibri"/>
                <a:cs typeface="Calibri"/>
              </a:rPr>
              <a:t>CLASSIFICATION</a:t>
            </a:r>
          </a:p>
        </p:txBody>
      </p:sp>
      <p:cxnSp>
        <p:nvCxnSpPr>
          <p:cNvPr id="226" name="sec_clf_rule"/>
          <p:cNvCxnSpPr/>
          <p:nvPr/>
        </p:nvCxnSpPr>
        <p:spPr>
          <a:xfrm>
            <a:off x="480000" y="3550000"/>
            <a:ext cx="8940000" cy="1"/>
          </a:xfrm>
          <a:prstGeom prst="line">
            <a:avLst/>
          </a:prstGeom>
          <a:ln w="9525">
            <a:solidFill>
              <a:srgbClr val="1B2350">
                <a:alpha val="100000"/>
              </a:srgbClr>
            </a:solidFill>
          </a:ln>
        </p:spPr>
        <p:style>
          <a:lnRef idx="1">
            <a:schemeClr val="accent1"/>
          </a:lnRef>
          <a:fillRef idx="0">
            <a:schemeClr val="accent1"/>
          </a:fillRef>
          <a:effectRef idx="0">
            <a:schemeClr val="accent1"/>
          </a:effectRef>
          <a:fontRef idx="minor">
            <a:schemeClr val="tx1"/>
          </a:fontRef>
        </p:style>
      </p:cxnSp>
      <p:sp>
        <p:nvSpPr>
          <p:cNvPr id="227" name="clfcard_bg0"/>
          <p:cNvSpPr/>
          <p:nvPr/>
        </p:nvSpPr>
        <p:spPr>
          <a:xfrm>
            <a:off x="480000" y="3630000"/>
            <a:ext cx="4195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28" name="clfcard_hdr0"/>
          <p:cNvSpPr txBox="1"/>
          <p:nvPr/>
        </p:nvSpPr>
        <p:spPr>
          <a:xfrm>
            <a:off x="815600" y="3722000"/>
            <a:ext cx="3523800" cy="32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EfficientNet-B0</a:t>
            </a:r>
          </a:p>
        </p:txBody>
      </p:sp>
      <p:sp>
        <p:nvSpPr>
          <p:cNvPr id="229" name="clfcard_sub0"/>
          <p:cNvSpPr txBox="1"/>
          <p:nvPr/>
        </p:nvSpPr>
        <p:spPr>
          <a:xfrm>
            <a:off x="815600" y="4021000"/>
            <a:ext cx="3523800" cy="736000"/>
          </a:xfrm>
          <a:prstGeom prst="rect">
            <a:avLst/>
          </a:prstGeom>
          <a:noFill/>
          <a:ln>
            <a:noFill/>
          </a:ln>
        </p:spPr>
        <p:txBody>
          <a:bodyPr wrap="square" lIns="0" tIns="0" rIns="0" bIns="0" anchor="t">
            <a:noAutofit/>
          </a:bodyPr>
          <a:lstStyle/>
          <a:p>
            <a:pPr algn="ctr">
              <a:spcAft>
                <a:spcPts val="300"/>
              </a:spcAft>
            </a:pPr>
            <a:r>
              <a:rPr lang="en-US" sz="1000" b="1" i="0" dirty="0">
                <a:solidFill>
                  <a:srgbClr val="22D3EE"/>
                </a:solidFill>
                <a:latin typeface="Calibri"/>
                <a:ea typeface="Calibri"/>
                <a:cs typeface="Calibri"/>
              </a:rPr>
              <a:t>Pretrained CNN — Transfer Learning</a:t>
            </a:r>
          </a:p>
          <a:p>
            <a:pPr algn="ctr">
              <a:spcAft>
                <a:spcPts val="300"/>
              </a:spcAft>
            </a:pPr>
            <a:r>
              <a:rPr lang="en-US" sz="1000" b="0" i="0" dirty="0">
                <a:solidFill>
                  <a:srgbClr val="E7EAF6"/>
                </a:solidFill>
                <a:latin typeface="Calibri"/>
                <a:ea typeface="Calibri"/>
                <a:cs typeface="Calibri"/>
              </a:rPr>
              <a:t>4-class output</a:t>
            </a:r>
          </a:p>
          <a:p>
            <a:pPr algn="ctr">
              <a:spcAft>
                <a:spcPts val="300"/>
              </a:spcAft>
            </a:pPr>
            <a:r>
              <a:rPr lang="en-US" sz="1000" b="0" i="0" dirty="0">
                <a:solidFill>
                  <a:srgbClr val="E7EAF6"/>
                </a:solidFill>
                <a:latin typeface="Calibri"/>
                <a:ea typeface="Calibri"/>
                <a:cs typeface="Calibri"/>
              </a:rPr>
              <a:t>Loss: cross-entropy (class-weighted)</a:t>
            </a:r>
          </a:p>
          <a:p>
            <a:pPr algn="ctr">
              <a:spcAft>
                <a:spcPts val="300"/>
              </a:spcAft>
            </a:pPr>
            <a:r>
              <a:rPr lang="en-US" sz="1000" b="0" i="0" dirty="0">
                <a:solidFill>
                  <a:srgbClr val="E7EAF6"/>
                </a:solidFill>
                <a:latin typeface="Calibri"/>
                <a:ea typeface="Calibri"/>
                <a:cs typeface="Calibri"/>
              </a:rPr>
              <a:t>Selection: validation macro-F1</a:t>
            </a:r>
          </a:p>
        </p:txBody>
      </p:sp>
      <p:sp>
        <p:nvSpPr>
          <p:cNvPr id="230" name="clfcard_bg1"/>
          <p:cNvSpPr/>
          <p:nvPr/>
        </p:nvSpPr>
        <p:spPr>
          <a:xfrm>
            <a:off x="5225000" y="3630000"/>
            <a:ext cx="4195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31" name="clfcard_hdr1"/>
          <p:cNvSpPr txBox="1"/>
          <p:nvPr/>
        </p:nvSpPr>
        <p:spPr>
          <a:xfrm>
            <a:off x="5560600" y="3722000"/>
            <a:ext cx="3523800" cy="32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Custom CNN</a:t>
            </a:r>
          </a:p>
        </p:txBody>
      </p:sp>
      <p:sp>
        <p:nvSpPr>
          <p:cNvPr id="232" name="clfcard_sub1"/>
          <p:cNvSpPr txBox="1"/>
          <p:nvPr/>
        </p:nvSpPr>
        <p:spPr>
          <a:xfrm>
            <a:off x="5560600" y="4021000"/>
            <a:ext cx="3523800" cy="736000"/>
          </a:xfrm>
          <a:prstGeom prst="rect">
            <a:avLst/>
          </a:prstGeom>
          <a:noFill/>
          <a:ln>
            <a:noFill/>
          </a:ln>
        </p:spPr>
        <p:txBody>
          <a:bodyPr wrap="square" lIns="0" tIns="0" rIns="0" bIns="0" anchor="t">
            <a:noAutofit/>
          </a:bodyPr>
          <a:lstStyle/>
          <a:p>
            <a:pPr algn="ctr">
              <a:spcAft>
                <a:spcPts val="300"/>
              </a:spcAft>
            </a:pPr>
            <a:r>
              <a:rPr lang="en-US" sz="1000" b="1" i="0" dirty="0">
                <a:solidFill>
                  <a:srgbClr val="22D3EE"/>
                </a:solidFill>
                <a:latin typeface="Calibri"/>
                <a:ea typeface="Calibri"/>
                <a:cs typeface="Calibri"/>
              </a:rPr>
              <a:t>Built by our team — experimental / comparison model</a:t>
            </a:r>
          </a:p>
          <a:p>
            <a:pPr algn="ctr">
              <a:spcAft>
                <a:spcPts val="300"/>
              </a:spcAft>
            </a:pPr>
            <a:r>
              <a:rPr lang="en-US" sz="1000" b="0" i="0" dirty="0">
                <a:solidFill>
                  <a:srgbClr val="E7EAF6"/>
                </a:solidFill>
                <a:latin typeface="Calibri"/>
                <a:ea typeface="Calibri"/>
                <a:cs typeface="Calibri"/>
              </a:rPr>
              <a:t>4-class output</a:t>
            </a:r>
          </a:p>
          <a:p>
            <a:pPr algn="ctr">
              <a:spcAft>
                <a:spcPts val="300"/>
              </a:spcAft>
            </a:pPr>
            <a:r>
              <a:rPr lang="en-US" sz="1000" b="0" i="0" dirty="0">
                <a:solidFill>
                  <a:srgbClr val="E7EAF6"/>
                </a:solidFill>
                <a:latin typeface="Calibri"/>
                <a:ea typeface="Calibri"/>
                <a:cs typeface="Calibri"/>
              </a:rPr>
              <a:t>Same training/evaluation protocol</a:t>
            </a:r>
          </a:p>
          <a:p>
            <a:pPr algn="ctr">
              <a:spcAft>
                <a:spcPts val="300"/>
              </a:spcAft>
            </a:pPr>
            <a:r>
              <a:rPr lang="en-US" sz="1000" b="0" i="0" dirty="0">
                <a:solidFill>
                  <a:srgbClr val="E7EAF6"/>
                </a:solidFill>
                <a:latin typeface="Calibri"/>
                <a:ea typeface="Calibri"/>
                <a:cs typeface="Calibri"/>
              </a:rPr>
              <a:t>Benchmarked against EfficientNet-B0</a:t>
            </a:r>
          </a:p>
        </p:txBody>
      </p:sp>
      <p:sp>
        <p:nvSpPr>
          <p:cNvPr id="233" name="vsbadge"/>
          <p:cNvSpPr/>
          <p:nvPr/>
        </p:nvSpPr>
        <p:spPr>
          <a:xfrm>
            <a:off x="4760000" y="4015000"/>
            <a:ext cx="380000" cy="380000"/>
          </a:xfrm>
          <a:prstGeom prst="ellipse">
            <a:avLst/>
          </a:prstGeom>
          <a:solidFill>
            <a:srgbClr val="8B5CF6">
              <a:alpha val="95000"/>
            </a:srgbClr>
          </a:solidFill>
          <a:ln>
            <a:noFill/>
          </a:ln>
          <a:effectLst>
            <a:glow rad="45000">
              <a:srgbClr val="8B5CF6">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34" name="vstxt"/>
          <p:cNvSpPr txBox="1"/>
          <p:nvPr/>
        </p:nvSpPr>
        <p:spPr>
          <a:xfrm>
            <a:off x="4760000" y="4065000"/>
            <a:ext cx="380000" cy="280000"/>
          </a:xfrm>
          <a:prstGeom prst="rect">
            <a:avLst/>
          </a:prstGeom>
          <a:noFill/>
          <a:ln>
            <a:noFill/>
          </a:ln>
        </p:spPr>
        <p:txBody>
          <a:bodyPr wrap="square" lIns="0" tIns="0" rIns="0" bIns="0" anchor="ctr">
            <a:noAutofit/>
          </a:bodyPr>
          <a:lstStyle/>
          <a:p>
            <a:pPr algn="ctr"/>
            <a:r>
              <a:rPr lang="en-US" sz="1200" b="1" i="0" dirty="0">
                <a:solidFill>
                  <a:srgbClr val="F5F7FF"/>
                </a:solidFill>
                <a:latin typeface="Calibri"/>
                <a:ea typeface="Calibri"/>
                <a:cs typeface="Calibri"/>
              </a:rPr>
              <a:t>VS</a:t>
            </a:r>
          </a:p>
        </p:txBody>
      </p:sp>
      <p:sp>
        <p:nvSpPr>
          <p:cNvPr id="235" name="sec_seg"/>
          <p:cNvSpPr txBox="1"/>
          <p:nvPr/>
        </p:nvSpPr>
        <p:spPr>
          <a:xfrm>
            <a:off x="480000" y="5060000"/>
            <a:ext cx="8940000" cy="260000"/>
          </a:xfrm>
          <a:prstGeom prst="rect">
            <a:avLst/>
          </a:prstGeom>
          <a:noFill/>
          <a:ln>
            <a:noFill/>
          </a:ln>
        </p:spPr>
        <p:txBody>
          <a:bodyPr wrap="square" lIns="0" tIns="0" rIns="0" bIns="0" anchor="t">
            <a:noAutofit/>
          </a:bodyPr>
          <a:lstStyle/>
          <a:p>
            <a:pPr algn="l"/>
            <a:r>
              <a:rPr lang="en-US" sz="1100" b="1" i="0" dirty="0">
                <a:solidFill>
                  <a:srgbClr val="22D3EE"/>
                </a:solidFill>
                <a:latin typeface="Calibri"/>
                <a:ea typeface="Calibri"/>
                <a:cs typeface="Calibri"/>
              </a:rPr>
              <a:t>SEGMENTATION</a:t>
            </a:r>
          </a:p>
        </p:txBody>
      </p:sp>
      <p:cxnSp>
        <p:nvCxnSpPr>
          <p:cNvPr id="236" name="sec_seg_rule"/>
          <p:cNvCxnSpPr/>
          <p:nvPr/>
        </p:nvCxnSpPr>
        <p:spPr>
          <a:xfrm>
            <a:off x="480000" y="5340000"/>
            <a:ext cx="8940000" cy="1"/>
          </a:xfrm>
          <a:prstGeom prst="line">
            <a:avLst/>
          </a:prstGeom>
          <a:ln w="9525">
            <a:solidFill>
              <a:srgbClr val="1B2350">
                <a:alpha val="100000"/>
              </a:srgbClr>
            </a:solidFill>
          </a:ln>
        </p:spPr>
        <p:style>
          <a:lnRef idx="1">
            <a:schemeClr val="accent1"/>
          </a:lnRef>
          <a:fillRef idx="0">
            <a:schemeClr val="accent1"/>
          </a:fillRef>
          <a:effectRef idx="0">
            <a:schemeClr val="accent1"/>
          </a:effectRef>
          <a:fontRef idx="minor">
            <a:schemeClr val="tx1"/>
          </a:fontRef>
        </p:style>
      </p:cxnSp>
      <p:sp>
        <p:nvSpPr>
          <p:cNvPr id="237" name="segcard_bg0"/>
          <p:cNvSpPr/>
          <p:nvPr/>
        </p:nvSpPr>
        <p:spPr>
          <a:xfrm>
            <a:off x="480000" y="5420000"/>
            <a:ext cx="8940000" cy="9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38" name="segcard_hdr0"/>
          <p:cNvSpPr txBox="1"/>
          <p:nvPr/>
        </p:nvSpPr>
        <p:spPr>
          <a:xfrm>
            <a:off x="1195200" y="5492000"/>
            <a:ext cx="7509600" cy="252000"/>
          </a:xfrm>
          <a:prstGeom prst="rect">
            <a:avLst/>
          </a:prstGeom>
          <a:noFill/>
          <a:ln>
            <a:noFill/>
          </a:ln>
        </p:spPr>
        <p:txBody>
          <a:bodyPr wrap="square" lIns="0" tIns="0" rIns="0" bIns="0" anchor="t">
            <a:noAutofit/>
          </a:bodyPr>
          <a:lstStyle/>
          <a:p>
            <a:pPr algn="ctr"/>
            <a:r>
              <a:rPr lang="en-US" sz="1300" b="1" i="0" dirty="0">
                <a:solidFill>
                  <a:srgbClr val="22D3EE"/>
                </a:solidFill>
                <a:latin typeface="Calibri"/>
                <a:ea typeface="Calibri"/>
                <a:cs typeface="Calibri"/>
              </a:rPr>
              <a:t>U-Net</a:t>
            </a:r>
          </a:p>
        </p:txBody>
      </p:sp>
      <p:sp>
        <p:nvSpPr>
          <p:cNvPr id="239" name="segcard_sub0"/>
          <p:cNvSpPr txBox="1"/>
          <p:nvPr/>
        </p:nvSpPr>
        <p:spPr>
          <a:xfrm>
            <a:off x="1195200" y="5726000"/>
            <a:ext cx="7509600" cy="576000"/>
          </a:xfrm>
          <a:prstGeom prst="rect">
            <a:avLst/>
          </a:prstGeom>
          <a:noFill/>
          <a:ln>
            <a:noFill/>
          </a:ln>
        </p:spPr>
        <p:txBody>
          <a:bodyPr wrap="square" lIns="0" tIns="0" rIns="0" bIns="0" anchor="t">
            <a:noAutofit/>
          </a:bodyPr>
          <a:lstStyle/>
          <a:p>
            <a:pPr algn="ctr">
              <a:spcAft>
                <a:spcPts val="300"/>
              </a:spcAft>
            </a:pPr>
            <a:r>
              <a:rPr lang="en-US" sz="1000" b="1" i="0" dirty="0">
                <a:solidFill>
                  <a:srgbClr val="22D3EE"/>
                </a:solidFill>
                <a:latin typeface="Calibri"/>
                <a:ea typeface="Calibri"/>
                <a:cs typeface="Calibri"/>
              </a:rPr>
              <a:t>Pretrained encoder (ResNet34) — Segmentation architecture</a:t>
            </a:r>
          </a:p>
          <a:p>
            <a:pPr algn="ctr">
              <a:spcAft>
                <a:spcPts val="300"/>
              </a:spcAft>
            </a:pPr>
            <a:r>
              <a:rPr lang="en-US" sz="1000" b="0" i="0" dirty="0">
                <a:solidFill>
                  <a:srgbClr val="E7EAF6"/>
                </a:solidFill>
                <a:latin typeface="Calibri"/>
                <a:ea typeface="Calibri"/>
                <a:cs typeface="Calibri"/>
              </a:rPr>
              <a:t>Encoder-decoder with skip connections · Loss: Dice + Focal loss · Selection: validation Dice Coefficient</a:t>
            </a:r>
          </a:p>
        </p:txBody>
      </p:sp>
      <p:cxnSp>
        <p:nvCxnSpPr>
          <p:cNvPr id="800"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AI Models · 10</a:t>
            </a:r>
          </a:p>
        </p:txBody>
      </p:sp>
    </p:spTree>
    <p:extLst>
      <p:ext uri="{BB962C8B-B14F-4D97-AF65-F5344CB8AC3E}">
        <p14:creationId xmlns:p14="http://schemas.microsoft.com/office/powerpoint/2010/main" val="4080462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bg11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802" name="bg11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3" name="bg11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4" name="bg11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5" name="bg11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6" name="bg11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7" name="bg11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8" name="bg11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09" name="bg11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0" name="bg11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1" name="bg11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2" name="bg11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3" name="bg11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4" name="bg11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5" name="bg11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6" name="bg11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7" name="bg11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8" name="bg11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19" name="bg11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20" name="bg11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21" name="bg11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22" name="bg11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23" name="bg11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24" name="bg11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825" name="bg11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826" name="corner11_e0_2"/>
          <p:cNvCxnSpPr/>
          <p:nvPr/>
        </p:nvCxnSpPr>
        <p:spPr>
          <a:xfrm flipH="1">
            <a:off x="9597270" y="685142"/>
            <a:ext cx="178748" cy="33826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827" name="corner11_e0_3"/>
          <p:cNvCxnSpPr/>
          <p:nvPr/>
        </p:nvCxnSpPr>
        <p:spPr>
          <a:xfrm flipH="1" flipV="1">
            <a:off x="9535330" y="303648"/>
            <a:ext cx="240688" cy="38149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828" name="corner11_e1_3"/>
          <p:cNvCxnSpPr/>
          <p:nvPr/>
        </p:nvCxnSpPr>
        <p:spPr>
          <a:xfrm>
            <a:off x="9147877" y="200336"/>
            <a:ext cx="387453" cy="10331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829" name="corner11_e1_0"/>
          <p:cNvCxnSpPr/>
          <p:nvPr/>
        </p:nvCxnSpPr>
        <p:spPr>
          <a:xfrm>
            <a:off x="9147877" y="200336"/>
            <a:ext cx="628141" cy="48480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830" name="corner11_e2_4"/>
          <p:cNvCxnSpPr/>
          <p:nvPr/>
        </p:nvCxnSpPr>
        <p:spPr>
          <a:xfrm flipH="1" flipV="1">
            <a:off x="9371365" y="967543"/>
            <a:ext cx="225905" cy="5586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831" name="corner11_e4_0"/>
          <p:cNvCxnSpPr/>
          <p:nvPr/>
        </p:nvCxnSpPr>
        <p:spPr>
          <a:xfrm flipV="1">
            <a:off x="9371365" y="685142"/>
            <a:ext cx="404653" cy="28240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sp>
        <p:nvSpPr>
          <p:cNvPr id="832" name="corner11_n0"/>
          <p:cNvSpPr/>
          <p:nvPr/>
        </p:nvSpPr>
        <p:spPr>
          <a:xfrm>
            <a:off x="9769018" y="678142"/>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33" name="corner11_n1"/>
          <p:cNvSpPr/>
          <p:nvPr/>
        </p:nvSpPr>
        <p:spPr>
          <a:xfrm>
            <a:off x="9137877" y="190336"/>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34" name="corner11_n2"/>
          <p:cNvSpPr/>
          <p:nvPr/>
        </p:nvSpPr>
        <p:spPr>
          <a:xfrm>
            <a:off x="9584270" y="1010411"/>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35" name="corner11_n3"/>
          <p:cNvSpPr/>
          <p:nvPr/>
        </p:nvSpPr>
        <p:spPr>
          <a:xfrm>
            <a:off x="9528330" y="296648"/>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36" name="corner11_n4"/>
          <p:cNvSpPr/>
          <p:nvPr/>
        </p:nvSpPr>
        <p:spPr>
          <a:xfrm>
            <a:off x="9361365" y="957543"/>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3.2</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AI MODELS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11</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837"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EfficientNet-B0 — Classification</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A pretrained CNN, adapted through transfer learning for our four-class problem.</a:t>
            </a:r>
          </a:p>
          <a:p>
            <a:pPr marL="228600" indent="-228600">
              <a:buClr>
                <a:srgbClr val="22D3EE"/>
              </a:buClr>
              <a:buFont typeface="Arial"/>
              <a:buChar char="▸"/>
            </a:pPr>
            <a:r>
              <a:rPr lang="en-US" altLang="ko-KR" dirty="0">
                <a:solidFill>
                  <a:srgbClr val="DCE2F5"/>
                </a:solidFill>
                <a:latin typeface="Calibri"/>
                <a:cs typeface="Calibri"/>
              </a:rPr>
              <a:t>Original output layer replaced with a 4-unit classification head (glioma, meningioma, pituitary, no tumor).</a:t>
            </a:r>
          </a:p>
          <a:p>
            <a:pPr marL="228600" indent="-228600">
              <a:buClr>
                <a:srgbClr val="22D3EE"/>
              </a:buClr>
              <a:buFont typeface="Arial"/>
              <a:buChar char="▸"/>
            </a:pPr>
            <a:r>
              <a:rPr lang="en-US" altLang="ko-KR" dirty="0">
                <a:solidFill>
                  <a:srgbClr val="DCE2F5"/>
                </a:solidFill>
                <a:latin typeface="Calibri"/>
                <a:cs typeface="Calibri"/>
              </a:rPr>
              <a:t>Cross-entropy loss (mildly class-weighted); best checkpoint chosen by validation macro-F1.</a:t>
            </a:r>
          </a:p>
        </p:txBody>
      </p:sp>
      <p:sp>
        <p:nvSpPr>
          <p:cNvPr id="240" name="effpipe_box0"/>
          <p:cNvSpPr/>
          <p:nvPr/>
        </p:nvSpPr>
        <p:spPr>
          <a:xfrm>
            <a:off x="1380000" y="4320000"/>
            <a:ext cx="25704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41" name="effpipe_txt0"/>
          <p:cNvSpPr txBox="1"/>
          <p:nvPr/>
        </p:nvSpPr>
        <p:spPr>
          <a:xfrm>
            <a:off x="1534224" y="4320000"/>
            <a:ext cx="2261952" cy="13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Phase 1</a:t>
            </a:r>
          </a:p>
          <a:p>
            <a:pPr algn="ctr">
              <a:spcAft>
                <a:spcPts val="300"/>
              </a:spcAft>
            </a:pPr>
            <a:r>
              <a:rPr lang="en-US" sz="1000" b="0" i="0" dirty="0">
                <a:solidFill>
                  <a:srgbClr val="F5F7FF"/>
                </a:solidFill>
                <a:latin typeface="Calibri"/>
                <a:ea typeface="Calibri"/>
                <a:cs typeface="Calibri"/>
              </a:rPr>
              <a:t>Freeze backbone,</a:t>
            </a:r>
          </a:p>
          <a:p>
            <a:pPr algn="ctr">
              <a:spcAft>
                <a:spcPts val="300"/>
              </a:spcAft>
            </a:pPr>
            <a:r>
              <a:rPr lang="en-US" sz="1000" b="0" i="0" dirty="0">
                <a:solidFill>
                  <a:srgbClr val="F5F7FF"/>
                </a:solidFill>
                <a:latin typeface="Calibri"/>
                <a:ea typeface="Calibri"/>
                <a:cs typeface="Calibri"/>
              </a:rPr>
              <a:t>train new head</a:t>
            </a:r>
          </a:p>
        </p:txBody>
      </p:sp>
      <p:sp>
        <p:nvSpPr>
          <p:cNvPr id="242" name="effpipe_arrow0"/>
          <p:cNvSpPr/>
          <p:nvPr/>
        </p:nvSpPr>
        <p:spPr>
          <a:xfrm>
            <a:off x="3950400" y="4788000"/>
            <a:ext cx="1999200" cy="364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43" name="effpipe_box1"/>
          <p:cNvSpPr/>
          <p:nvPr/>
        </p:nvSpPr>
        <p:spPr>
          <a:xfrm>
            <a:off x="5949600" y="4320000"/>
            <a:ext cx="25704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44" name="effpipe_txt1"/>
          <p:cNvSpPr txBox="1"/>
          <p:nvPr/>
        </p:nvSpPr>
        <p:spPr>
          <a:xfrm>
            <a:off x="6103824" y="4320000"/>
            <a:ext cx="2261952" cy="130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Phase 2</a:t>
            </a:r>
          </a:p>
          <a:p>
            <a:pPr algn="ctr">
              <a:spcAft>
                <a:spcPts val="300"/>
              </a:spcAft>
            </a:pPr>
            <a:r>
              <a:rPr lang="en-US" sz="1000" b="0" i="0" dirty="0">
                <a:solidFill>
                  <a:srgbClr val="F5F7FF"/>
                </a:solidFill>
                <a:latin typeface="Calibri"/>
                <a:ea typeface="Calibri"/>
                <a:cs typeface="Calibri"/>
              </a:rPr>
              <a:t>Unfreeze, fine-tune</a:t>
            </a:r>
          </a:p>
          <a:p>
            <a:pPr algn="ctr">
              <a:spcAft>
                <a:spcPts val="300"/>
              </a:spcAft>
            </a:pPr>
            <a:r>
              <a:rPr lang="en-US" sz="1000" b="0" i="0" dirty="0">
                <a:solidFill>
                  <a:srgbClr val="F5F7FF"/>
                </a:solidFill>
                <a:latin typeface="Calibri"/>
                <a:ea typeface="Calibri"/>
                <a:cs typeface="Calibri"/>
              </a:rPr>
              <a:t>end-to-end (lower LR)</a:t>
            </a:r>
          </a:p>
        </p:txBody>
      </p:sp>
      <p:sp>
        <p:nvSpPr>
          <p:cNvPr id="245" name="effnote"/>
          <p:cNvSpPr txBox="1"/>
          <p:nvPr/>
        </p:nvSpPr>
        <p:spPr>
          <a:xfrm>
            <a:off x="480000" y="5870000"/>
            <a:ext cx="8940000" cy="40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Two-phase training protects the pretrained representations from being overwritten by early, noisy gradients.</a:t>
            </a:r>
          </a:p>
        </p:txBody>
      </p:sp>
      <p:cxnSp>
        <p:nvCxnSpPr>
          <p:cNvPr id="838"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AI Models · 11</a:t>
            </a:r>
          </a:p>
        </p:txBody>
      </p:sp>
    </p:spTree>
    <p:extLst>
      <p:ext uri="{BB962C8B-B14F-4D97-AF65-F5344CB8AC3E}">
        <p14:creationId xmlns:p14="http://schemas.microsoft.com/office/powerpoint/2010/main" val="4080462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 name="bg12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840" name="bg12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1" name="bg12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2" name="bg12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3" name="bg12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4" name="bg12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5" name="bg12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6" name="bg12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7" name="bg12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8" name="bg12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49" name="bg12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0" name="bg12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1" name="bg12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2" name="bg12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3" name="bg12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4" name="bg12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5" name="bg12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6" name="bg12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7" name="bg12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8" name="bg12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59" name="bg12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60" name="bg12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61" name="bg12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62" name="bg12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863" name="bg12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864" name="corner12_e0_3"/>
          <p:cNvCxnSpPr/>
          <p:nvPr/>
        </p:nvCxnSpPr>
        <p:spPr>
          <a:xfrm flipH="1">
            <a:off x="9166487" y="651700"/>
            <a:ext cx="320849" cy="28867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865" name="corner12_e0_2"/>
          <p:cNvCxnSpPr/>
          <p:nvPr/>
        </p:nvCxnSpPr>
        <p:spPr>
          <a:xfrm flipH="1">
            <a:off x="9222024" y="651700"/>
            <a:ext cx="265312" cy="36164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866" name="corner12_e1_3"/>
          <p:cNvCxnSpPr/>
          <p:nvPr/>
        </p:nvCxnSpPr>
        <p:spPr>
          <a:xfrm flipV="1">
            <a:off x="9003070" y="940376"/>
            <a:ext cx="163417" cy="48857"/>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867" name="corner12_e1_2"/>
          <p:cNvCxnSpPr/>
          <p:nvPr/>
        </p:nvCxnSpPr>
        <p:spPr>
          <a:xfrm>
            <a:off x="9003070" y="989233"/>
            <a:ext cx="218954" cy="2411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868" name="corner12_e2_3"/>
          <p:cNvCxnSpPr/>
          <p:nvPr/>
        </p:nvCxnSpPr>
        <p:spPr>
          <a:xfrm flipH="1" flipV="1">
            <a:off x="9166487" y="940376"/>
            <a:ext cx="55537" cy="7297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869" name="corner12_e4_0"/>
          <p:cNvCxnSpPr/>
          <p:nvPr/>
        </p:nvCxnSpPr>
        <p:spPr>
          <a:xfrm flipH="1">
            <a:off x="9487336" y="221489"/>
            <a:ext cx="171398" cy="43021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870" name="corner12_e4_3"/>
          <p:cNvCxnSpPr/>
          <p:nvPr/>
        </p:nvCxnSpPr>
        <p:spPr>
          <a:xfrm flipH="1">
            <a:off x="9166487" y="221489"/>
            <a:ext cx="492247" cy="71888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871" name="corner12_n0"/>
          <p:cNvSpPr/>
          <p:nvPr/>
        </p:nvSpPr>
        <p:spPr>
          <a:xfrm>
            <a:off x="9480336" y="644700"/>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72" name="corner12_n1"/>
          <p:cNvSpPr/>
          <p:nvPr/>
        </p:nvSpPr>
        <p:spPr>
          <a:xfrm>
            <a:off x="8993070" y="979233"/>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73" name="corner12_n2"/>
          <p:cNvSpPr/>
          <p:nvPr/>
        </p:nvSpPr>
        <p:spPr>
          <a:xfrm>
            <a:off x="9209024" y="1000349"/>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74" name="corner12_n3"/>
          <p:cNvSpPr/>
          <p:nvPr/>
        </p:nvSpPr>
        <p:spPr>
          <a:xfrm>
            <a:off x="9159487" y="933376"/>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875" name="corner12_n4"/>
          <p:cNvSpPr/>
          <p:nvPr/>
        </p:nvSpPr>
        <p:spPr>
          <a:xfrm>
            <a:off x="9648734" y="211489"/>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3.3</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AI MODELS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12</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876"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Custom CNN — Classification</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An experimental classification model designed and built by our team, used as a comparison point.</a:t>
            </a:r>
          </a:p>
          <a:p>
            <a:pPr marL="228600" indent="-228600">
              <a:buClr>
                <a:srgbClr val="22D3EE"/>
              </a:buClr>
              <a:buFont typeface="Arial"/>
              <a:buChar char="▸"/>
            </a:pPr>
            <a:r>
              <a:rPr lang="en-US" altLang="ko-KR" dirty="0">
                <a:solidFill>
                  <a:srgbClr val="DCE2F5"/>
                </a:solidFill>
                <a:latin typeface="Calibri"/>
                <a:cs typeface="Calibri"/>
              </a:rPr>
              <a:t>Trained and evaluated under the same protocol as EfficientNet-B0, on the same classification data splits.</a:t>
            </a:r>
          </a:p>
          <a:p>
            <a:pPr marL="228600" indent="-228600">
              <a:buClr>
                <a:srgbClr val="22D3EE"/>
              </a:buClr>
              <a:buFont typeface="Arial"/>
              <a:buChar char="▸"/>
            </a:pPr>
            <a:r>
              <a:rPr lang="en-US" altLang="ko-KR" dirty="0">
                <a:solidFill>
                  <a:srgbClr val="DCE2F5"/>
                </a:solidFill>
                <a:latin typeface="Calibri"/>
                <a:cs typeface="Calibri"/>
              </a:rPr>
              <a:t>Purpose: test whether a custom architecture can compete with a transfer-learning approach on this task.</a:t>
            </a:r>
          </a:p>
        </p:txBody>
      </p:sp>
      <p:sp>
        <p:nvSpPr>
          <p:cNvPr id="246" name="ccnncard_bg0"/>
          <p:cNvSpPr/>
          <p:nvPr/>
        </p:nvSpPr>
        <p:spPr>
          <a:xfrm>
            <a:off x="780000" y="4220000"/>
            <a:ext cx="2580000" cy="13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47" name="ccnncard_hdr0"/>
          <p:cNvSpPr txBox="1"/>
          <p:nvPr/>
        </p:nvSpPr>
        <p:spPr>
          <a:xfrm>
            <a:off x="986400" y="4324000"/>
            <a:ext cx="2167200" cy="364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Built in-house</a:t>
            </a:r>
          </a:p>
        </p:txBody>
      </p:sp>
      <p:sp>
        <p:nvSpPr>
          <p:cNvPr id="248" name="ccnncard_sub0"/>
          <p:cNvSpPr txBox="1"/>
          <p:nvPr/>
        </p:nvSpPr>
        <p:spPr>
          <a:xfrm>
            <a:off x="986400" y="4662000"/>
            <a:ext cx="2167200" cy="832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No pretrained weights</a:t>
            </a:r>
          </a:p>
        </p:txBody>
      </p:sp>
      <p:sp>
        <p:nvSpPr>
          <p:cNvPr id="249" name="ccnncard_bg1"/>
          <p:cNvSpPr/>
          <p:nvPr/>
        </p:nvSpPr>
        <p:spPr>
          <a:xfrm>
            <a:off x="3660000" y="4220000"/>
            <a:ext cx="2580000" cy="13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50" name="ccnncard_hdr1"/>
          <p:cNvSpPr txBox="1"/>
          <p:nvPr/>
        </p:nvSpPr>
        <p:spPr>
          <a:xfrm>
            <a:off x="3866400" y="4324000"/>
            <a:ext cx="2167200" cy="364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Same protocol</a:t>
            </a:r>
          </a:p>
        </p:txBody>
      </p:sp>
      <p:sp>
        <p:nvSpPr>
          <p:cNvPr id="251" name="ccnncard_sub1"/>
          <p:cNvSpPr txBox="1"/>
          <p:nvPr/>
        </p:nvSpPr>
        <p:spPr>
          <a:xfrm>
            <a:off x="3866400" y="4662000"/>
            <a:ext cx="2167200" cy="832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Same data, loss &amp; metrics</a:t>
            </a:r>
          </a:p>
        </p:txBody>
      </p:sp>
      <p:sp>
        <p:nvSpPr>
          <p:cNvPr id="252" name="ccnncard_bg2"/>
          <p:cNvSpPr/>
          <p:nvPr/>
        </p:nvSpPr>
        <p:spPr>
          <a:xfrm>
            <a:off x="6540000" y="4220000"/>
            <a:ext cx="2580000" cy="13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53" name="ccnncard_hdr2"/>
          <p:cNvSpPr txBox="1"/>
          <p:nvPr/>
        </p:nvSpPr>
        <p:spPr>
          <a:xfrm>
            <a:off x="6746400" y="4324000"/>
            <a:ext cx="2167200" cy="364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Comparison model</a:t>
            </a:r>
          </a:p>
        </p:txBody>
      </p:sp>
      <p:sp>
        <p:nvSpPr>
          <p:cNvPr id="254" name="ccnncard_sub2"/>
          <p:cNvSpPr txBox="1"/>
          <p:nvPr/>
        </p:nvSpPr>
        <p:spPr>
          <a:xfrm>
            <a:off x="6746400" y="4662000"/>
            <a:ext cx="2167200" cy="832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Benchmarked vs.</a:t>
            </a:r>
          </a:p>
          <a:p>
            <a:pPr algn="ctr">
              <a:spcAft>
                <a:spcPts val="300"/>
              </a:spcAft>
            </a:pPr>
            <a:r>
              <a:rPr lang="en-US" sz="1000" b="0" i="0" dirty="0">
                <a:solidFill>
                  <a:srgbClr val="E7EAF6"/>
                </a:solidFill>
                <a:latin typeface="Calibri"/>
                <a:ea typeface="Calibri"/>
                <a:cs typeface="Calibri"/>
              </a:rPr>
              <a:t>EfficientNet-B0</a:t>
            </a:r>
          </a:p>
        </p:txBody>
      </p:sp>
      <p:sp>
        <p:nvSpPr>
          <p:cNvPr id="255" name="ccnnnote"/>
          <p:cNvSpPr txBox="1"/>
          <p:nvPr/>
        </p:nvSpPr>
        <p:spPr>
          <a:xfrm>
            <a:off x="480000" y="5820000"/>
            <a:ext cx="8940000" cy="45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Architecture specifics are still being finalized by the team; results will be reported once training and evaluation are complete.</a:t>
            </a:r>
          </a:p>
        </p:txBody>
      </p:sp>
      <p:cxnSp>
        <p:nvCxnSpPr>
          <p:cNvPr id="877"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AI Models · 12</a:t>
            </a:r>
          </a:p>
        </p:txBody>
      </p:sp>
    </p:spTree>
    <p:extLst>
      <p:ext uri="{BB962C8B-B14F-4D97-AF65-F5344CB8AC3E}">
        <p14:creationId xmlns:p14="http://schemas.microsoft.com/office/powerpoint/2010/main" val="40804627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8" name="bg13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879" name="bg13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0" name="bg13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1" name="bg13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2" name="bg13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3" name="bg13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4" name="bg13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5" name="bg13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6" name="bg13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7" name="bg13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8" name="bg13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89" name="bg13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0" name="bg13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1" name="bg13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2" name="bg13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3" name="bg13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4" name="bg13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5" name="bg13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6" name="bg13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7" name="bg13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8" name="bg13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899" name="bg13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00" name="bg13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01" name="bg13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902" name="bg13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903" name="corner13_e0_2"/>
          <p:cNvCxnSpPr/>
          <p:nvPr/>
        </p:nvCxnSpPr>
        <p:spPr>
          <a:xfrm flipH="1" flipV="1">
            <a:off x="9337008" y="456355"/>
            <a:ext cx="92807" cy="47227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04" name="corner13_e0_4"/>
          <p:cNvCxnSpPr/>
          <p:nvPr/>
        </p:nvCxnSpPr>
        <p:spPr>
          <a:xfrm flipV="1">
            <a:off x="9429815" y="429072"/>
            <a:ext cx="21857" cy="49956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05" name="corner13_e1_0"/>
          <p:cNvCxnSpPr/>
          <p:nvPr/>
        </p:nvCxnSpPr>
        <p:spPr>
          <a:xfrm flipV="1">
            <a:off x="8938154" y="928633"/>
            <a:ext cx="491661" cy="11711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06" name="corner13_e1_2"/>
          <p:cNvCxnSpPr/>
          <p:nvPr/>
        </p:nvCxnSpPr>
        <p:spPr>
          <a:xfrm flipV="1">
            <a:off x="8938154" y="456355"/>
            <a:ext cx="398854" cy="589395"/>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07" name="corner13_e2_3"/>
          <p:cNvCxnSpPr/>
          <p:nvPr/>
        </p:nvCxnSpPr>
        <p:spPr>
          <a:xfrm flipV="1">
            <a:off x="9337008" y="428695"/>
            <a:ext cx="56137" cy="2766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08" name="corner13_e2_4"/>
          <p:cNvCxnSpPr/>
          <p:nvPr/>
        </p:nvCxnSpPr>
        <p:spPr>
          <a:xfrm flipV="1">
            <a:off x="9337008" y="429072"/>
            <a:ext cx="114664" cy="27283"/>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09" name="corner13_e3_4"/>
          <p:cNvCxnSpPr/>
          <p:nvPr/>
        </p:nvCxnSpPr>
        <p:spPr>
          <a:xfrm>
            <a:off x="9393145" y="428695"/>
            <a:ext cx="58527" cy="37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910" name="corner13_n0"/>
          <p:cNvSpPr/>
          <p:nvPr/>
        </p:nvSpPr>
        <p:spPr>
          <a:xfrm>
            <a:off x="9422815" y="921633"/>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11" name="corner13_n1"/>
          <p:cNvSpPr/>
          <p:nvPr/>
        </p:nvSpPr>
        <p:spPr>
          <a:xfrm>
            <a:off x="8928154" y="1035750"/>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12" name="corner13_n2"/>
          <p:cNvSpPr/>
          <p:nvPr/>
        </p:nvSpPr>
        <p:spPr>
          <a:xfrm>
            <a:off x="9324008" y="443355"/>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13" name="corner13_n3"/>
          <p:cNvSpPr/>
          <p:nvPr/>
        </p:nvSpPr>
        <p:spPr>
          <a:xfrm>
            <a:off x="9386145" y="421695"/>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14" name="corner13_n4"/>
          <p:cNvSpPr/>
          <p:nvPr/>
        </p:nvSpPr>
        <p:spPr>
          <a:xfrm>
            <a:off x="9441672" y="419072"/>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3.4</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AI MODELS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13</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915"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5300000" cy="680000"/>
          </a:xfrm>
        </p:spPr>
        <p:txBody>
          <a:bodyPr>
            <a:normAutofit fontScale="90000"/>
          </a:bodyPr>
          <a:lstStyle/>
          <a:p>
            <a:r>
              <a:rPr lang="en-US" altLang="ko-KR" sz="3200" b="1" dirty="0">
                <a:solidFill>
                  <a:srgbClr val="FFFFFF"/>
                </a:solidFill>
                <a:latin typeface="Calibri"/>
                <a:cs typeface="Calibri"/>
              </a:rPr>
              <a:t>U-Net + ResNet34 — Segmentation</a:t>
            </a:r>
            <a:endParaRPr lang="ko-KR" altLang="en-US" sz="3200" dirty="0"/>
          </a:p>
        </p:txBody>
      </p:sp>
      <p:sp>
        <p:nvSpPr>
          <p:cNvPr id="7" name="Body"/>
          <p:cNvSpPr>
            <a:spLocks noGrp="1"/>
          </p:cNvSpPr>
          <p:nvPr>
            <p:ph type="body" sz="quarter" idx="15"/>
          </p:nvPr>
        </p:nvSpPr>
        <p:spPr>
          <a:xfrm>
            <a:off x="522288" y="1650000"/>
            <a:ext cx="5100000"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Encoder-decoder segmentation architecture with a pretrained ResNet34 encoder.</a:t>
            </a:r>
          </a:p>
          <a:p>
            <a:pPr marL="228600" indent="-228600">
              <a:buClr>
                <a:srgbClr val="22D3EE"/>
              </a:buClr>
              <a:buFont typeface="Arial"/>
              <a:buChar char="▸"/>
            </a:pPr>
            <a:r>
              <a:rPr lang="en-US" altLang="ko-KR" dirty="0">
                <a:solidFill>
                  <a:srgbClr val="DCE2F5"/>
                </a:solidFill>
                <a:latin typeface="Calibri"/>
                <a:cs typeface="Calibri"/>
              </a:rPr>
              <a:t>Skip connections carry fine spatial detail from encoder to decoder, so tumor boundaries aren't lost to compression.</a:t>
            </a:r>
          </a:p>
          <a:p>
            <a:pPr marL="228600" indent="-228600">
              <a:buClr>
                <a:srgbClr val="22D3EE"/>
              </a:buClr>
              <a:buFont typeface="Arial"/>
              <a:buChar char="▸"/>
            </a:pPr>
            <a:r>
              <a:rPr lang="en-US" altLang="ko-KR" dirty="0">
                <a:solidFill>
                  <a:srgbClr val="DCE2F5"/>
                </a:solidFill>
                <a:latin typeface="Calibri"/>
                <a:cs typeface="Calibri"/>
              </a:rPr>
              <a:t>Loss: Dice + Focal (built for the small tumor-region-to-background imbalance); selection by validation Dice.</a:t>
            </a:r>
          </a:p>
        </p:txBody>
      </p:sp>
      <p:sp>
        <p:nvSpPr>
          <p:cNvPr id="256" name="unetpipe_box0"/>
          <p:cNvSpPr/>
          <p:nvPr/>
        </p:nvSpPr>
        <p:spPr>
          <a:xfrm>
            <a:off x="480000" y="4770000"/>
            <a:ext cx="1200000" cy="11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57" name="unetpipe_txt0"/>
          <p:cNvSpPr txBox="1"/>
          <p:nvPr/>
        </p:nvSpPr>
        <p:spPr>
          <a:xfrm>
            <a:off x="552000" y="4770000"/>
            <a:ext cx="1056000" cy="11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5F7FF"/>
                </a:solidFill>
                <a:latin typeface="Calibri"/>
                <a:ea typeface="Calibri"/>
                <a:cs typeface="Calibri"/>
              </a:rPr>
              <a:t>Encoder</a:t>
            </a:r>
          </a:p>
          <a:p>
            <a:pPr algn="ctr">
              <a:spcAft>
                <a:spcPts val="300"/>
              </a:spcAft>
            </a:pPr>
            <a:r>
              <a:rPr lang="en-US" sz="900" b="0" i="0" dirty="0">
                <a:solidFill>
                  <a:srgbClr val="F5F7FF"/>
                </a:solidFill>
                <a:latin typeface="Calibri"/>
                <a:ea typeface="Calibri"/>
                <a:cs typeface="Calibri"/>
              </a:rPr>
              <a:t>(ResNet34)</a:t>
            </a:r>
          </a:p>
        </p:txBody>
      </p:sp>
      <p:sp>
        <p:nvSpPr>
          <p:cNvPr id="258" name="unetpipe_arrow0"/>
          <p:cNvSpPr/>
          <p:nvPr/>
        </p:nvSpPr>
        <p:spPr>
          <a:xfrm>
            <a:off x="1680000" y="5166000"/>
            <a:ext cx="700000" cy="308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59" name="unetpipe_box1"/>
          <p:cNvSpPr/>
          <p:nvPr/>
        </p:nvSpPr>
        <p:spPr>
          <a:xfrm>
            <a:off x="2380000" y="4770000"/>
            <a:ext cx="1200000" cy="11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60" name="unetpipe_txt1"/>
          <p:cNvSpPr txBox="1"/>
          <p:nvPr/>
        </p:nvSpPr>
        <p:spPr>
          <a:xfrm>
            <a:off x="2452000" y="4770000"/>
            <a:ext cx="1056000" cy="11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5F7FF"/>
                </a:solidFill>
                <a:latin typeface="Calibri"/>
                <a:ea typeface="Calibri"/>
                <a:cs typeface="Calibri"/>
              </a:rPr>
              <a:t>Decoder +</a:t>
            </a:r>
          </a:p>
          <a:p>
            <a:pPr algn="ctr">
              <a:spcAft>
                <a:spcPts val="300"/>
              </a:spcAft>
            </a:pPr>
            <a:r>
              <a:rPr lang="en-US" sz="900" b="0" i="0" dirty="0">
                <a:solidFill>
                  <a:srgbClr val="F5F7FF"/>
                </a:solidFill>
                <a:latin typeface="Calibri"/>
                <a:ea typeface="Calibri"/>
                <a:cs typeface="Calibri"/>
              </a:rPr>
              <a:t>Skip Conn.</a:t>
            </a:r>
          </a:p>
        </p:txBody>
      </p:sp>
      <p:sp>
        <p:nvSpPr>
          <p:cNvPr id="261" name="unetpipe_arrow1"/>
          <p:cNvSpPr/>
          <p:nvPr/>
        </p:nvSpPr>
        <p:spPr>
          <a:xfrm>
            <a:off x="3580000" y="5166000"/>
            <a:ext cx="700000" cy="308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262" name="unetpipe_box2"/>
          <p:cNvSpPr/>
          <p:nvPr/>
        </p:nvSpPr>
        <p:spPr>
          <a:xfrm>
            <a:off x="4280000" y="4770000"/>
            <a:ext cx="1200000" cy="1100000"/>
          </a:xfrm>
          <a:prstGeom prst="roundRect">
            <a:avLst>
              <a:gd name="adj" fmla="val 8000"/>
            </a:avLst>
          </a:prstGeom>
          <a:solidFill>
            <a:srgbClr val="8B5CF6">
              <a:alpha val="90000"/>
            </a:srgbClr>
          </a:solidFill>
          <a:ln w="9525">
            <a:solidFill>
              <a:srgbClr val="C4B5FD">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63" name="unetpipe_txt2"/>
          <p:cNvSpPr txBox="1"/>
          <p:nvPr/>
        </p:nvSpPr>
        <p:spPr>
          <a:xfrm>
            <a:off x="4352000" y="4770000"/>
            <a:ext cx="1056000" cy="11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5F7FF"/>
                </a:solidFill>
                <a:latin typeface="Calibri"/>
                <a:ea typeface="Calibri"/>
                <a:cs typeface="Calibri"/>
              </a:rPr>
              <a:t>Tumor Mask</a:t>
            </a:r>
          </a:p>
        </p:txBody>
      </p:sp>
      <p:sp>
        <p:nvSpPr>
          <p:cNvPr id="264" name="unetnote"/>
          <p:cNvSpPr txBox="1"/>
          <p:nvPr/>
        </p:nvSpPr>
        <p:spPr>
          <a:xfrm>
            <a:off x="480000" y="6020000"/>
            <a:ext cx="5000000" cy="350000"/>
          </a:xfrm>
          <a:prstGeom prst="rect">
            <a:avLst/>
          </a:prstGeom>
          <a:noFill/>
          <a:ln>
            <a:noFill/>
          </a:ln>
        </p:spPr>
        <p:txBody>
          <a:bodyPr wrap="square" lIns="0" tIns="0" rIns="0" bIns="0" anchor="t">
            <a:noAutofit/>
          </a:bodyPr>
          <a:lstStyle/>
          <a:p>
            <a:pPr algn="l"/>
            <a:r>
              <a:rPr lang="en-US" sz="1000" b="0" i="1" dirty="0">
                <a:solidFill>
                  <a:srgbClr val="8891B0"/>
                </a:solidFill>
                <a:latin typeface="Calibri"/>
                <a:ea typeface="Calibri"/>
                <a:cs typeface="Calibri"/>
              </a:rPr>
              <a:t>MRI + predicted tumor mask overlay — the segmentation output.</a:t>
            </a:r>
          </a:p>
        </p:txBody>
      </p:sp>
      <p:sp>
        <p:nvSpPr>
          <p:cNvPr id="265" name="unetmri_bg"/>
          <p:cNvSpPr/>
          <p:nvPr/>
        </p:nvSpPr>
        <p:spPr>
          <a:xfrm>
            <a:off x="5930000" y="3270000"/>
            <a:ext cx="3400000" cy="3400000"/>
          </a:xfrm>
          <a:prstGeom prst="roundRect">
            <a:avLst>
              <a:gd name="adj" fmla="val 6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66" name="unetmri_border"/>
          <p:cNvSpPr/>
          <p:nvPr/>
        </p:nvSpPr>
        <p:spPr>
          <a:xfrm>
            <a:off x="5930000" y="3270000"/>
            <a:ext cx="3400000" cy="3400000"/>
          </a:xfrm>
          <a:prstGeom prst="roundRect">
            <a:avLst>
              <a:gd name="adj" fmla="val 6000"/>
            </a:avLst>
          </a:prstGeom>
          <a:no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cxnSp>
        <p:nvCxnSpPr>
          <p:cNvPr id="267" name="unetmri_ck1"/>
          <p:cNvCxnSpPr/>
          <p:nvPr/>
        </p:nvCxnSpPr>
        <p:spPr>
          <a:xfrm>
            <a:off x="6083000" y="3423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68" name="unetmri_ck2"/>
          <p:cNvCxnSpPr/>
          <p:nvPr/>
        </p:nvCxnSpPr>
        <p:spPr>
          <a:xfrm>
            <a:off x="6083000" y="3423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69" name="unetmri_ck1"/>
          <p:cNvCxnSpPr/>
          <p:nvPr/>
        </p:nvCxnSpPr>
        <p:spPr>
          <a:xfrm flipH="1">
            <a:off x="8871000" y="3423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70" name="unetmri_ck2"/>
          <p:cNvCxnSpPr/>
          <p:nvPr/>
        </p:nvCxnSpPr>
        <p:spPr>
          <a:xfrm>
            <a:off x="9177000" y="3423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71" name="unetmri_ck1"/>
          <p:cNvCxnSpPr/>
          <p:nvPr/>
        </p:nvCxnSpPr>
        <p:spPr>
          <a:xfrm>
            <a:off x="6083000" y="6517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72" name="unetmri_ck2"/>
          <p:cNvCxnSpPr/>
          <p:nvPr/>
        </p:nvCxnSpPr>
        <p:spPr>
          <a:xfrm flipV="1">
            <a:off x="6083000" y="6211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73" name="unetmri_ck1"/>
          <p:cNvCxnSpPr/>
          <p:nvPr/>
        </p:nvCxnSpPr>
        <p:spPr>
          <a:xfrm flipH="1">
            <a:off x="8871000" y="6517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274" name="unetmri_ck2"/>
          <p:cNvCxnSpPr/>
          <p:nvPr/>
        </p:nvCxnSpPr>
        <p:spPr>
          <a:xfrm flipV="1">
            <a:off x="9177000" y="6211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sp>
        <p:nvSpPr>
          <p:cNvPr id="275" name="unetmri_brain"/>
          <p:cNvSpPr/>
          <p:nvPr/>
        </p:nvSpPr>
        <p:spPr>
          <a:xfrm>
            <a:off x="6576000" y="3712000"/>
            <a:ext cx="2108000" cy="168640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3000"/>
            </a:srgbClr>
          </a:solidFill>
          <a:ln w="15875">
            <a:solidFill>
              <a:srgbClr val="67E8F9">
                <a:alpha val="60000"/>
              </a:srgbClr>
            </a:solidFill>
          </a:ln>
        </p:spPr>
        <p:txBody>
          <a:bodyPr/>
          <a:lstStyle/>
          <a:p>
            <a:endParaRPr lang="en-US"/>
          </a:p>
        </p:txBody>
      </p:sp>
      <p:sp>
        <p:nvSpPr>
          <p:cNvPr id="276" name="unetmri_fissure"/>
          <p:cNvSpPr/>
          <p:nvPr/>
        </p:nvSpPr>
        <p:spPr>
          <a:xfrm>
            <a:off x="6576000" y="3712000"/>
            <a:ext cx="2108000" cy="1686400"/>
          </a:xfrm>
          <a:custGeom>
            <a:avLst/>
            <a:gdLst/>
            <a:ahLst/>
            <a:cxnLst/>
            <a:rect l="0" t="0" r="0" b="0"/>
            <a:pathLst>
              <a:path w="1000" h="1000">
                <a:moveTo>
                  <a:pt x="500" y="90"/>
                </a:moveTo>
                <a:cubicBezTo>
                  <a:pt x="530" y="250"/>
                  <a:pt x="470" y="420"/>
                  <a:pt x="500" y="560"/>
                </a:cubicBezTo>
                <a:cubicBezTo>
                  <a:pt x="515" y="630"/>
                  <a:pt x="495" y="690"/>
                  <a:pt x="500" y="740"/>
                </a:cubicBezTo>
              </a:path>
            </a:pathLst>
          </a:custGeom>
          <a:noFill/>
          <a:ln w="9525">
            <a:solidFill>
              <a:srgbClr val="67E8F9">
                <a:alpha val="30000"/>
              </a:srgbClr>
            </a:solidFill>
          </a:ln>
        </p:spPr>
        <p:txBody>
          <a:bodyPr/>
          <a:lstStyle/>
          <a:p>
            <a:endParaRPr lang="en-US"/>
          </a:p>
        </p:txBody>
      </p:sp>
      <p:sp>
        <p:nvSpPr>
          <p:cNvPr id="277" name="unetmri_brain2"/>
          <p:cNvSpPr/>
          <p:nvPr/>
        </p:nvSpPr>
        <p:spPr>
          <a:xfrm>
            <a:off x="6744640" y="3880640"/>
            <a:ext cx="1770720" cy="1416576"/>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noFill/>
          <a:ln w="15875">
            <a:solidFill>
              <a:srgbClr val="C4B5FD">
                <a:alpha val="22000"/>
              </a:srgbClr>
            </a:solidFill>
          </a:ln>
        </p:spPr>
        <p:txBody>
          <a:bodyPr/>
          <a:lstStyle/>
          <a:p>
            <a:endParaRPr lang="en-US"/>
          </a:p>
        </p:txBody>
      </p:sp>
      <p:sp>
        <p:nvSpPr>
          <p:cNvPr id="278" name="unetmri_tumorglow0"/>
          <p:cNvSpPr/>
          <p:nvPr/>
        </p:nvSpPr>
        <p:spPr>
          <a:xfrm>
            <a:off x="7692960" y="4365200"/>
            <a:ext cx="380000" cy="380000"/>
          </a:xfrm>
          <a:prstGeom prst="ellipse">
            <a:avLst/>
          </a:prstGeom>
          <a:solidFill>
            <a:srgbClr val="FF4D6D">
              <a:alpha val="1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79" name="unetmri_tumorglow1"/>
          <p:cNvSpPr/>
          <p:nvPr/>
        </p:nvSpPr>
        <p:spPr>
          <a:xfrm>
            <a:off x="7742960" y="4415200"/>
            <a:ext cx="280000" cy="280000"/>
          </a:xfrm>
          <a:prstGeom prst="ellipse">
            <a:avLst/>
          </a:prstGeom>
          <a:solidFill>
            <a:srgbClr val="FF4D6D">
              <a:alpha val="18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80" name="unetmri_tumorglow2"/>
          <p:cNvSpPr/>
          <p:nvPr/>
        </p:nvSpPr>
        <p:spPr>
          <a:xfrm>
            <a:off x="7787960" y="4460200"/>
            <a:ext cx="190000" cy="190000"/>
          </a:xfrm>
          <a:prstGeom prst="ellipse">
            <a:avLst/>
          </a:prstGeom>
          <a:solidFill>
            <a:srgbClr val="FF4D6D">
              <a:alpha val="3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81" name="unetmri_tumorglow3"/>
          <p:cNvSpPr/>
          <p:nvPr/>
        </p:nvSpPr>
        <p:spPr>
          <a:xfrm>
            <a:off x="7827960" y="4500200"/>
            <a:ext cx="110000" cy="110000"/>
          </a:xfrm>
          <a:prstGeom prst="ellipse">
            <a:avLst/>
          </a:prstGeom>
          <a:solidFill>
            <a:srgbClr val="FF4D6D">
              <a:alpha val="55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82" name="unetmri_tumorcore"/>
          <p:cNvSpPr/>
          <p:nvPr/>
        </p:nvSpPr>
        <p:spPr>
          <a:xfrm>
            <a:off x="7850960" y="4523200"/>
            <a:ext cx="64000" cy="64000"/>
          </a:xfrm>
          <a:prstGeom prst="ellipse">
            <a:avLst/>
          </a:prstGeom>
          <a:solidFill>
            <a:srgbClr val="FF4D6D">
              <a:alpha val="95000"/>
            </a:srgbClr>
          </a:solidFill>
          <a:ln>
            <a:noFill/>
          </a:ln>
          <a:effectLst>
            <a:glow rad="45000">
              <a:srgbClr val="FF4D6D">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283" name="unetmri_scanline"/>
          <p:cNvCxnSpPr/>
          <p:nvPr/>
        </p:nvCxnSpPr>
        <p:spPr>
          <a:xfrm>
            <a:off x="6134000" y="5378000"/>
            <a:ext cx="2992000" cy="1"/>
          </a:xfrm>
          <a:prstGeom prst="line">
            <a:avLst/>
          </a:prstGeom>
          <a:ln w="12700">
            <a:solidFill>
              <a:srgbClr val="22D3EE">
                <a:alpha val="55000"/>
              </a:srgbClr>
            </a:solidFill>
          </a:ln>
          <a:effectLst>
            <a:glow rad="45000">
              <a:srgbClr val="22D3EE">
                <a:alpha val="55000"/>
              </a:srgbClr>
            </a:glow>
          </a:effectLst>
        </p:spPr>
        <p:style>
          <a:lnRef idx="1">
            <a:schemeClr val="accent1"/>
          </a:lnRef>
          <a:fillRef idx="0">
            <a:schemeClr val="accent1"/>
          </a:fillRef>
          <a:effectRef idx="0">
            <a:schemeClr val="accent1"/>
          </a:effectRef>
          <a:fontRef idx="minor">
            <a:schemeClr val="tx1"/>
          </a:fontRef>
        </p:style>
      </p:cxnSp>
      <p:cxnSp>
        <p:nvCxnSpPr>
          <p:cNvPr id="284" name="unetmri_edge0_4"/>
          <p:cNvCxnSpPr/>
          <p:nvPr/>
        </p:nvCxnSpPr>
        <p:spPr>
          <a:xfrm>
            <a:off x="6463455" y="3584277"/>
            <a:ext cx="446170" cy="197532"/>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285" name="unetmri_edge1_3"/>
          <p:cNvCxnSpPr/>
          <p:nvPr/>
        </p:nvCxnSpPr>
        <p:spPr>
          <a:xfrm flipH="1">
            <a:off x="7524492" y="6287022"/>
            <a:ext cx="1403420" cy="166226"/>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286" name="unetmri_edge2_4"/>
          <p:cNvCxnSpPr/>
          <p:nvPr/>
        </p:nvCxnSpPr>
        <p:spPr>
          <a:xfrm flipH="1">
            <a:off x="6909625" y="3607062"/>
            <a:ext cx="1945389" cy="174747"/>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sp>
        <p:nvSpPr>
          <p:cNvPr id="287" name="unetmri_node0"/>
          <p:cNvSpPr/>
          <p:nvPr/>
        </p:nvSpPr>
        <p:spPr>
          <a:xfrm>
            <a:off x="6453455" y="3574277"/>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88" name="unetmri_node1"/>
          <p:cNvSpPr/>
          <p:nvPr/>
        </p:nvSpPr>
        <p:spPr>
          <a:xfrm>
            <a:off x="8917912" y="6277022"/>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89" name="unetmri_node2"/>
          <p:cNvSpPr/>
          <p:nvPr/>
        </p:nvSpPr>
        <p:spPr>
          <a:xfrm>
            <a:off x="8845014" y="3597062"/>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90" name="unetmri_node3"/>
          <p:cNvSpPr/>
          <p:nvPr/>
        </p:nvSpPr>
        <p:spPr>
          <a:xfrm>
            <a:off x="7514492" y="6443248"/>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291" name="unetmri_node4"/>
          <p:cNvSpPr/>
          <p:nvPr/>
        </p:nvSpPr>
        <p:spPr>
          <a:xfrm>
            <a:off x="6899625" y="3771809"/>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916"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AI Models · 13</a:t>
            </a:r>
          </a:p>
        </p:txBody>
      </p:sp>
    </p:spTree>
    <p:extLst>
      <p:ext uri="{BB962C8B-B14F-4D97-AF65-F5344CB8AC3E}">
        <p14:creationId xmlns:p14="http://schemas.microsoft.com/office/powerpoint/2010/main" val="4080462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bg14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918" name="bg14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19" name="bg14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0" name="bg14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1" name="bg14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2" name="bg14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3" name="bg14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4" name="bg14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5" name="bg14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6" name="bg14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7" name="bg14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8" name="bg14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29" name="bg14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0" name="bg14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1" name="bg14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2" name="bg14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3" name="bg14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4" name="bg14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5" name="bg14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6" name="bg14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7" name="bg14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8" name="bg14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39" name="bg14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40" name="bg14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941" name="bg14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942" name="corner14_e0_4"/>
          <p:cNvCxnSpPr/>
          <p:nvPr/>
        </p:nvCxnSpPr>
        <p:spPr>
          <a:xfrm flipV="1">
            <a:off x="9729826" y="546342"/>
            <a:ext cx="29245" cy="51667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43" name="corner14_e0_3"/>
          <p:cNvCxnSpPr/>
          <p:nvPr/>
        </p:nvCxnSpPr>
        <p:spPr>
          <a:xfrm flipV="1">
            <a:off x="9729826" y="354383"/>
            <a:ext cx="47861" cy="708631"/>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44" name="corner14_e1_2"/>
          <p:cNvCxnSpPr/>
          <p:nvPr/>
        </p:nvCxnSpPr>
        <p:spPr>
          <a:xfrm>
            <a:off x="9037281" y="281643"/>
            <a:ext cx="54964" cy="36407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45" name="corner14_e1_3"/>
          <p:cNvCxnSpPr/>
          <p:nvPr/>
        </p:nvCxnSpPr>
        <p:spPr>
          <a:xfrm>
            <a:off x="9037281" y="281643"/>
            <a:ext cx="740406" cy="72740"/>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46" name="corner14_e2_4"/>
          <p:cNvCxnSpPr/>
          <p:nvPr/>
        </p:nvCxnSpPr>
        <p:spPr>
          <a:xfrm flipV="1">
            <a:off x="9092245" y="546342"/>
            <a:ext cx="666826" cy="9937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47" name="corner14_e3_4"/>
          <p:cNvCxnSpPr/>
          <p:nvPr/>
        </p:nvCxnSpPr>
        <p:spPr>
          <a:xfrm flipH="1">
            <a:off x="9759071" y="354383"/>
            <a:ext cx="18616" cy="191959"/>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948" name="corner14_n0"/>
          <p:cNvSpPr/>
          <p:nvPr/>
        </p:nvSpPr>
        <p:spPr>
          <a:xfrm>
            <a:off x="9722826" y="1056014"/>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49" name="corner14_n1"/>
          <p:cNvSpPr/>
          <p:nvPr/>
        </p:nvSpPr>
        <p:spPr>
          <a:xfrm>
            <a:off x="9027281" y="271643"/>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50" name="corner14_n2"/>
          <p:cNvSpPr/>
          <p:nvPr/>
        </p:nvSpPr>
        <p:spPr>
          <a:xfrm>
            <a:off x="9079245" y="632720"/>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51" name="corner14_n3"/>
          <p:cNvSpPr/>
          <p:nvPr/>
        </p:nvSpPr>
        <p:spPr>
          <a:xfrm>
            <a:off x="9770687" y="347383"/>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52" name="corner14_n4"/>
          <p:cNvSpPr/>
          <p:nvPr/>
        </p:nvSpPr>
        <p:spPr>
          <a:xfrm>
            <a:off x="9749071" y="536342"/>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3.5</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AI MODELS</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14</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953"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Model Comparison &amp; Selection</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b="1" dirty="0">
                <a:solidFill>
                  <a:srgbClr val="22D3EE"/>
                </a:solidFill>
                <a:latin typeface="Calibri"/>
                <a:cs typeface="Calibri"/>
              </a:rPr>
              <a:t>We compare EfficientNet-B0 and our custom CNN on methodology — not yet on measured results.</a:t>
            </a:r>
          </a:p>
        </p:txBody>
      </p:sp>
      <p:sp>
        <p:nvSpPr>
          <p:cNvPr id="292" name="cmptbl_c0_0"/>
          <p:cNvSpPr/>
          <p:nvPr/>
        </p:nvSpPr>
        <p:spPr>
          <a:xfrm>
            <a:off x="480000" y="3270000"/>
            <a:ext cx="2380000" cy="500000"/>
          </a:xfrm>
          <a:prstGeom prst="rect">
            <a:avLst/>
          </a:prstGeom>
          <a:solidFill>
            <a:srgbClr val="1B2E6B">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93" name="cmptbl_t0_0"/>
          <p:cNvSpPr txBox="1"/>
          <p:nvPr/>
        </p:nvSpPr>
        <p:spPr>
          <a:xfrm>
            <a:off x="560000" y="3270000"/>
            <a:ext cx="2220000" cy="500000"/>
          </a:xfrm>
          <a:prstGeom prst="rect">
            <a:avLst/>
          </a:prstGeom>
          <a:noFill/>
          <a:ln>
            <a:noFill/>
          </a:ln>
        </p:spPr>
        <p:txBody>
          <a:bodyPr wrap="square" lIns="0" tIns="0" rIns="0" bIns="0" anchor="ctr">
            <a:noAutofit/>
          </a:bodyPr>
          <a:lstStyle/>
          <a:p>
            <a:pPr algn="l"/>
            <a:r>
              <a:rPr lang="en-US" sz="1100" b="1" i="0" dirty="0">
                <a:solidFill>
                  <a:srgbClr val="22D3EE"/>
                </a:solidFill>
                <a:latin typeface="Calibri"/>
                <a:ea typeface="Calibri"/>
                <a:cs typeface="Calibri"/>
              </a:rPr>
              <a:t>Dimension</a:t>
            </a:r>
          </a:p>
        </p:txBody>
      </p:sp>
      <p:sp>
        <p:nvSpPr>
          <p:cNvPr id="294" name="cmptbl_c0_1"/>
          <p:cNvSpPr/>
          <p:nvPr/>
        </p:nvSpPr>
        <p:spPr>
          <a:xfrm>
            <a:off x="2880000" y="3270000"/>
            <a:ext cx="3250000" cy="500000"/>
          </a:xfrm>
          <a:prstGeom prst="rect">
            <a:avLst/>
          </a:prstGeom>
          <a:solidFill>
            <a:srgbClr val="1B2E6B">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95" name="cmptbl_t0_1"/>
          <p:cNvSpPr txBox="1"/>
          <p:nvPr/>
        </p:nvSpPr>
        <p:spPr>
          <a:xfrm>
            <a:off x="2960000" y="3270000"/>
            <a:ext cx="3090000" cy="500000"/>
          </a:xfrm>
          <a:prstGeom prst="rect">
            <a:avLst/>
          </a:prstGeom>
          <a:noFill/>
          <a:ln>
            <a:noFill/>
          </a:ln>
        </p:spPr>
        <p:txBody>
          <a:bodyPr wrap="square" lIns="0" tIns="0" rIns="0" bIns="0" anchor="ctr">
            <a:noAutofit/>
          </a:bodyPr>
          <a:lstStyle/>
          <a:p>
            <a:pPr algn="ctr"/>
            <a:r>
              <a:rPr lang="en-US" sz="1100" b="1" i="0" dirty="0">
                <a:solidFill>
                  <a:srgbClr val="22D3EE"/>
                </a:solidFill>
                <a:latin typeface="Calibri"/>
                <a:ea typeface="Calibri"/>
                <a:cs typeface="Calibri"/>
              </a:rPr>
              <a:t>EfficientNet-B0</a:t>
            </a:r>
          </a:p>
        </p:txBody>
      </p:sp>
      <p:sp>
        <p:nvSpPr>
          <p:cNvPr id="296" name="cmptbl_c0_2"/>
          <p:cNvSpPr/>
          <p:nvPr/>
        </p:nvSpPr>
        <p:spPr>
          <a:xfrm>
            <a:off x="6150000" y="3270000"/>
            <a:ext cx="3250000" cy="500000"/>
          </a:xfrm>
          <a:prstGeom prst="rect">
            <a:avLst/>
          </a:prstGeom>
          <a:solidFill>
            <a:srgbClr val="1B2E6B">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97" name="cmptbl_t0_2"/>
          <p:cNvSpPr txBox="1"/>
          <p:nvPr/>
        </p:nvSpPr>
        <p:spPr>
          <a:xfrm>
            <a:off x="6230000" y="3270000"/>
            <a:ext cx="3090000" cy="500000"/>
          </a:xfrm>
          <a:prstGeom prst="rect">
            <a:avLst/>
          </a:prstGeom>
          <a:noFill/>
          <a:ln>
            <a:noFill/>
          </a:ln>
        </p:spPr>
        <p:txBody>
          <a:bodyPr wrap="square" lIns="0" tIns="0" rIns="0" bIns="0" anchor="ctr">
            <a:noAutofit/>
          </a:bodyPr>
          <a:lstStyle/>
          <a:p>
            <a:pPr algn="ctr"/>
            <a:r>
              <a:rPr lang="en-US" sz="1100" b="1" i="0" dirty="0">
                <a:solidFill>
                  <a:srgbClr val="22D3EE"/>
                </a:solidFill>
                <a:latin typeface="Calibri"/>
                <a:ea typeface="Calibri"/>
                <a:cs typeface="Calibri"/>
              </a:rPr>
              <a:t>Custom CNN</a:t>
            </a:r>
          </a:p>
        </p:txBody>
      </p:sp>
      <p:sp>
        <p:nvSpPr>
          <p:cNvPr id="298" name="cmptbl_c1_0"/>
          <p:cNvSpPr/>
          <p:nvPr/>
        </p:nvSpPr>
        <p:spPr>
          <a:xfrm>
            <a:off x="480000" y="3790000"/>
            <a:ext cx="2380000" cy="500000"/>
          </a:xfrm>
          <a:prstGeom prst="rect">
            <a:avLst/>
          </a:prstGeom>
          <a:solidFill>
            <a:srgbClr val="10163A">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299" name="cmptbl_t1_0"/>
          <p:cNvSpPr txBox="1"/>
          <p:nvPr/>
        </p:nvSpPr>
        <p:spPr>
          <a:xfrm>
            <a:off x="560000" y="3790000"/>
            <a:ext cx="2220000" cy="500000"/>
          </a:xfrm>
          <a:prstGeom prst="rect">
            <a:avLst/>
          </a:prstGeom>
          <a:noFill/>
          <a:ln>
            <a:noFill/>
          </a:ln>
        </p:spPr>
        <p:txBody>
          <a:bodyPr wrap="square" lIns="0" tIns="0" rIns="0" bIns="0" anchor="ctr">
            <a:noAutofit/>
          </a:bodyPr>
          <a:lstStyle/>
          <a:p>
            <a:pPr algn="l"/>
            <a:r>
              <a:rPr lang="en-US" sz="1050" b="1" i="0" dirty="0">
                <a:solidFill>
                  <a:srgbClr val="67E8F9"/>
                </a:solidFill>
                <a:latin typeface="Calibri"/>
                <a:ea typeface="Calibri"/>
                <a:cs typeface="Calibri"/>
              </a:rPr>
              <a:t>Starting point</a:t>
            </a:r>
          </a:p>
        </p:txBody>
      </p:sp>
      <p:sp>
        <p:nvSpPr>
          <p:cNvPr id="300" name="cmptbl_c1_1"/>
          <p:cNvSpPr/>
          <p:nvPr/>
        </p:nvSpPr>
        <p:spPr>
          <a:xfrm>
            <a:off x="2880000" y="379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01" name="cmptbl_t1_1"/>
          <p:cNvSpPr txBox="1"/>
          <p:nvPr/>
        </p:nvSpPr>
        <p:spPr>
          <a:xfrm>
            <a:off x="2960000" y="379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Pretrained on a large image corpus</a:t>
            </a:r>
          </a:p>
        </p:txBody>
      </p:sp>
      <p:sp>
        <p:nvSpPr>
          <p:cNvPr id="302" name="cmptbl_c1_2"/>
          <p:cNvSpPr/>
          <p:nvPr/>
        </p:nvSpPr>
        <p:spPr>
          <a:xfrm>
            <a:off x="6150000" y="379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03" name="cmptbl_t1_2"/>
          <p:cNvSpPr txBox="1"/>
          <p:nvPr/>
        </p:nvSpPr>
        <p:spPr>
          <a:xfrm>
            <a:off x="6230000" y="379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Trained from scratch by our team</a:t>
            </a:r>
          </a:p>
        </p:txBody>
      </p:sp>
      <p:sp>
        <p:nvSpPr>
          <p:cNvPr id="304" name="cmptbl_c2_0"/>
          <p:cNvSpPr/>
          <p:nvPr/>
        </p:nvSpPr>
        <p:spPr>
          <a:xfrm>
            <a:off x="480000" y="4310000"/>
            <a:ext cx="2380000" cy="500000"/>
          </a:xfrm>
          <a:prstGeom prst="rect">
            <a:avLst/>
          </a:prstGeom>
          <a:solidFill>
            <a:srgbClr val="10163A">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05" name="cmptbl_t2_0"/>
          <p:cNvSpPr txBox="1"/>
          <p:nvPr/>
        </p:nvSpPr>
        <p:spPr>
          <a:xfrm>
            <a:off x="560000" y="4310000"/>
            <a:ext cx="2220000" cy="500000"/>
          </a:xfrm>
          <a:prstGeom prst="rect">
            <a:avLst/>
          </a:prstGeom>
          <a:noFill/>
          <a:ln>
            <a:noFill/>
          </a:ln>
        </p:spPr>
        <p:txBody>
          <a:bodyPr wrap="square" lIns="0" tIns="0" rIns="0" bIns="0" anchor="ctr">
            <a:noAutofit/>
          </a:bodyPr>
          <a:lstStyle/>
          <a:p>
            <a:pPr algn="l"/>
            <a:r>
              <a:rPr lang="en-US" sz="1050" b="1" i="0" dirty="0">
                <a:solidFill>
                  <a:srgbClr val="67E8F9"/>
                </a:solidFill>
                <a:latin typeface="Calibri"/>
                <a:ea typeface="Calibri"/>
                <a:cs typeface="Calibri"/>
              </a:rPr>
              <a:t>Training approach</a:t>
            </a:r>
          </a:p>
        </p:txBody>
      </p:sp>
      <p:sp>
        <p:nvSpPr>
          <p:cNvPr id="306" name="cmptbl_c2_1"/>
          <p:cNvSpPr/>
          <p:nvPr/>
        </p:nvSpPr>
        <p:spPr>
          <a:xfrm>
            <a:off x="2880000" y="431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07" name="cmptbl_t2_1"/>
          <p:cNvSpPr txBox="1"/>
          <p:nvPr/>
        </p:nvSpPr>
        <p:spPr>
          <a:xfrm>
            <a:off x="2960000" y="431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Two-phase freeze → fine-tune</a:t>
            </a:r>
          </a:p>
        </p:txBody>
      </p:sp>
      <p:sp>
        <p:nvSpPr>
          <p:cNvPr id="308" name="cmptbl_c2_2"/>
          <p:cNvSpPr/>
          <p:nvPr/>
        </p:nvSpPr>
        <p:spPr>
          <a:xfrm>
            <a:off x="6150000" y="431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09" name="cmptbl_t2_2"/>
          <p:cNvSpPr txBox="1"/>
          <p:nvPr/>
        </p:nvSpPr>
        <p:spPr>
          <a:xfrm>
            <a:off x="6230000" y="431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Same protocol, end-to-end</a:t>
            </a:r>
          </a:p>
        </p:txBody>
      </p:sp>
      <p:sp>
        <p:nvSpPr>
          <p:cNvPr id="310" name="cmptbl_c3_0"/>
          <p:cNvSpPr/>
          <p:nvPr/>
        </p:nvSpPr>
        <p:spPr>
          <a:xfrm>
            <a:off x="480000" y="4830000"/>
            <a:ext cx="2380000" cy="500000"/>
          </a:xfrm>
          <a:prstGeom prst="rect">
            <a:avLst/>
          </a:prstGeom>
          <a:solidFill>
            <a:srgbClr val="10163A">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11" name="cmptbl_t3_0"/>
          <p:cNvSpPr txBox="1"/>
          <p:nvPr/>
        </p:nvSpPr>
        <p:spPr>
          <a:xfrm>
            <a:off x="560000" y="4830000"/>
            <a:ext cx="2220000" cy="500000"/>
          </a:xfrm>
          <a:prstGeom prst="rect">
            <a:avLst/>
          </a:prstGeom>
          <a:noFill/>
          <a:ln>
            <a:noFill/>
          </a:ln>
        </p:spPr>
        <p:txBody>
          <a:bodyPr wrap="square" lIns="0" tIns="0" rIns="0" bIns="0" anchor="ctr">
            <a:noAutofit/>
          </a:bodyPr>
          <a:lstStyle/>
          <a:p>
            <a:pPr algn="l"/>
            <a:r>
              <a:rPr lang="en-US" sz="1050" b="1" i="0" dirty="0">
                <a:solidFill>
                  <a:srgbClr val="67E8F9"/>
                </a:solidFill>
                <a:latin typeface="Calibri"/>
                <a:ea typeface="Calibri"/>
                <a:cs typeface="Calibri"/>
              </a:rPr>
              <a:t>Evaluation</a:t>
            </a:r>
          </a:p>
        </p:txBody>
      </p:sp>
      <p:sp>
        <p:nvSpPr>
          <p:cNvPr id="312" name="cmptbl_c3_1"/>
          <p:cNvSpPr/>
          <p:nvPr/>
        </p:nvSpPr>
        <p:spPr>
          <a:xfrm>
            <a:off x="2880000" y="483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13" name="cmptbl_t3_1"/>
          <p:cNvSpPr txBox="1"/>
          <p:nvPr/>
        </p:nvSpPr>
        <p:spPr>
          <a:xfrm>
            <a:off x="2960000" y="483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Classification test set (1,000 imgs)</a:t>
            </a:r>
          </a:p>
        </p:txBody>
      </p:sp>
      <p:sp>
        <p:nvSpPr>
          <p:cNvPr id="314" name="cmptbl_c3_2"/>
          <p:cNvSpPr/>
          <p:nvPr/>
        </p:nvSpPr>
        <p:spPr>
          <a:xfrm>
            <a:off x="6150000" y="483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15" name="cmptbl_t3_2"/>
          <p:cNvSpPr txBox="1"/>
          <p:nvPr/>
        </p:nvSpPr>
        <p:spPr>
          <a:xfrm>
            <a:off x="6230000" y="483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Classification test set (1,000 imgs)</a:t>
            </a:r>
          </a:p>
        </p:txBody>
      </p:sp>
      <p:sp>
        <p:nvSpPr>
          <p:cNvPr id="316" name="cmptbl_c4_0"/>
          <p:cNvSpPr/>
          <p:nvPr/>
        </p:nvSpPr>
        <p:spPr>
          <a:xfrm>
            <a:off x="480000" y="5350000"/>
            <a:ext cx="2380000" cy="500000"/>
          </a:xfrm>
          <a:prstGeom prst="rect">
            <a:avLst/>
          </a:prstGeom>
          <a:solidFill>
            <a:srgbClr val="10163A">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17" name="cmptbl_t4_0"/>
          <p:cNvSpPr txBox="1"/>
          <p:nvPr/>
        </p:nvSpPr>
        <p:spPr>
          <a:xfrm>
            <a:off x="560000" y="5350000"/>
            <a:ext cx="2220000" cy="500000"/>
          </a:xfrm>
          <a:prstGeom prst="rect">
            <a:avLst/>
          </a:prstGeom>
          <a:noFill/>
          <a:ln>
            <a:noFill/>
          </a:ln>
        </p:spPr>
        <p:txBody>
          <a:bodyPr wrap="square" lIns="0" tIns="0" rIns="0" bIns="0" anchor="ctr">
            <a:noAutofit/>
          </a:bodyPr>
          <a:lstStyle/>
          <a:p>
            <a:pPr algn="l"/>
            <a:r>
              <a:rPr lang="en-US" sz="1050" b="1" i="0" dirty="0">
                <a:solidFill>
                  <a:srgbClr val="67E8F9"/>
                </a:solidFill>
                <a:latin typeface="Calibri"/>
                <a:ea typeface="Calibri"/>
                <a:cs typeface="Calibri"/>
              </a:rPr>
              <a:t>Role in final pipeline</a:t>
            </a:r>
          </a:p>
        </p:txBody>
      </p:sp>
      <p:sp>
        <p:nvSpPr>
          <p:cNvPr id="318" name="cmptbl_c4_1"/>
          <p:cNvSpPr/>
          <p:nvPr/>
        </p:nvSpPr>
        <p:spPr>
          <a:xfrm>
            <a:off x="2880000" y="535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19" name="cmptbl_t4_1"/>
          <p:cNvSpPr txBox="1"/>
          <p:nvPr/>
        </p:nvSpPr>
        <p:spPr>
          <a:xfrm>
            <a:off x="2960000" y="535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Candidate</a:t>
            </a:r>
          </a:p>
        </p:txBody>
      </p:sp>
      <p:sp>
        <p:nvSpPr>
          <p:cNvPr id="320" name="cmptbl_c4_2"/>
          <p:cNvSpPr/>
          <p:nvPr/>
        </p:nvSpPr>
        <p:spPr>
          <a:xfrm>
            <a:off x="6150000" y="5350000"/>
            <a:ext cx="3250000" cy="500000"/>
          </a:xfrm>
          <a:prstGeom prst="rect">
            <a:avLst/>
          </a:prstGeom>
          <a:solidFill>
            <a:srgbClr val="131A44">
              <a:alpha val="92000"/>
            </a:srgbClr>
          </a:solidFill>
          <a:ln w="6350">
            <a:solidFill>
              <a:srgbClr val="22D3EE">
                <a:alpha val="22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21" name="cmptbl_t4_2"/>
          <p:cNvSpPr txBox="1"/>
          <p:nvPr/>
        </p:nvSpPr>
        <p:spPr>
          <a:xfrm>
            <a:off x="6230000" y="5350000"/>
            <a:ext cx="3090000" cy="500000"/>
          </a:xfrm>
          <a:prstGeom prst="rect">
            <a:avLst/>
          </a:prstGeom>
          <a:noFill/>
          <a:ln>
            <a:noFill/>
          </a:ln>
        </p:spPr>
        <p:txBody>
          <a:bodyPr wrap="square" lIns="0" tIns="0" rIns="0" bIns="0" anchor="ctr">
            <a:noAutofit/>
          </a:bodyPr>
          <a:lstStyle/>
          <a:p>
            <a:pPr algn="ctr"/>
            <a:r>
              <a:rPr lang="en-US" sz="1050" b="0" i="0" dirty="0">
                <a:solidFill>
                  <a:srgbClr val="E7EAF6"/>
                </a:solidFill>
                <a:latin typeface="Calibri"/>
                <a:ea typeface="Calibri"/>
                <a:cs typeface="Calibri"/>
              </a:rPr>
              <a:t>Candidate</a:t>
            </a:r>
          </a:p>
        </p:txBody>
      </p:sp>
      <p:sp>
        <p:nvSpPr>
          <p:cNvPr id="322" name="cmpnote"/>
          <p:cNvSpPr txBox="1"/>
          <p:nvPr/>
        </p:nvSpPr>
        <p:spPr>
          <a:xfrm>
            <a:off x="480000" y="5970000"/>
            <a:ext cx="8940000" cy="320000"/>
          </a:xfrm>
          <a:prstGeom prst="rect">
            <a:avLst/>
          </a:prstGeom>
          <a:noFill/>
          <a:ln>
            <a:noFill/>
          </a:ln>
        </p:spPr>
        <p:txBody>
          <a:bodyPr wrap="square" lIns="0" tIns="0" rIns="0" bIns="0" anchor="t">
            <a:noAutofit/>
          </a:bodyPr>
          <a:lstStyle/>
          <a:p>
            <a:pPr algn="ctr"/>
            <a:r>
              <a:rPr lang="en-US" sz="1000" b="1" i="0" dirty="0">
                <a:solidFill>
                  <a:srgbClr val="22D3EE"/>
                </a:solidFill>
                <a:latin typeface="Calibri"/>
                <a:ea typeface="Calibri"/>
                <a:cs typeface="Calibri"/>
              </a:rPr>
              <a:t>The classification model with the best validated performance (macro-F1) will be selected for the final pipeline.</a:t>
            </a:r>
          </a:p>
        </p:txBody>
      </p:sp>
      <p:cxnSp>
        <p:nvCxnSpPr>
          <p:cNvPr id="954"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AI Models · 14</a:t>
            </a:r>
          </a:p>
        </p:txBody>
      </p:sp>
    </p:spTree>
    <p:extLst>
      <p:ext uri="{BB962C8B-B14F-4D97-AF65-F5344CB8AC3E}">
        <p14:creationId xmlns:p14="http://schemas.microsoft.com/office/powerpoint/2010/main" val="40804627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5" name="bg15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956" name="bg15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57" name="bg15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58" name="bg15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59" name="bg15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0" name="bg15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1" name="bg15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2" name="bg15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3" name="bg15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4" name="bg15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5" name="bg15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6" name="bg15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7" name="bg15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8" name="bg15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69" name="bg15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0" name="bg15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1" name="bg15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2" name="bg15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3" name="bg15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4" name="bg15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5" name="bg15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6" name="bg15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7" name="bg15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78" name="bg15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979" name="bg15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980" name="corner15_e0_2"/>
          <p:cNvCxnSpPr/>
          <p:nvPr/>
        </p:nvCxnSpPr>
        <p:spPr>
          <a:xfrm>
            <a:off x="9032066" y="215943"/>
            <a:ext cx="101552" cy="143527"/>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81" name="corner15_e0_1"/>
          <p:cNvCxnSpPr/>
          <p:nvPr/>
        </p:nvCxnSpPr>
        <p:spPr>
          <a:xfrm>
            <a:off x="9032066" y="215943"/>
            <a:ext cx="206384" cy="13449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82" name="corner15_e1_2"/>
          <p:cNvCxnSpPr/>
          <p:nvPr/>
        </p:nvCxnSpPr>
        <p:spPr>
          <a:xfrm flipH="1">
            <a:off x="9133618" y="350436"/>
            <a:ext cx="104832" cy="9034"/>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83" name="corner15_e3_4"/>
          <p:cNvCxnSpPr/>
          <p:nvPr/>
        </p:nvCxnSpPr>
        <p:spPr>
          <a:xfrm>
            <a:off x="9369974" y="803834"/>
            <a:ext cx="370274" cy="15913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984" name="corner15_e3_1"/>
          <p:cNvCxnSpPr/>
          <p:nvPr/>
        </p:nvCxnSpPr>
        <p:spPr>
          <a:xfrm flipH="1" flipV="1">
            <a:off x="9238450" y="350436"/>
            <a:ext cx="131524" cy="45339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985" name="corner15_e4_1"/>
          <p:cNvCxnSpPr/>
          <p:nvPr/>
        </p:nvCxnSpPr>
        <p:spPr>
          <a:xfrm flipH="1" flipV="1">
            <a:off x="9238450" y="350436"/>
            <a:ext cx="501798" cy="61253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986" name="corner15_n0"/>
          <p:cNvSpPr/>
          <p:nvPr/>
        </p:nvSpPr>
        <p:spPr>
          <a:xfrm>
            <a:off x="9025066" y="208943"/>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87" name="corner15_n1"/>
          <p:cNvSpPr/>
          <p:nvPr/>
        </p:nvSpPr>
        <p:spPr>
          <a:xfrm>
            <a:off x="9228450" y="340436"/>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88" name="corner15_n2"/>
          <p:cNvSpPr/>
          <p:nvPr/>
        </p:nvSpPr>
        <p:spPr>
          <a:xfrm>
            <a:off x="9120618" y="346470"/>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89" name="corner15_n3"/>
          <p:cNvSpPr/>
          <p:nvPr/>
        </p:nvSpPr>
        <p:spPr>
          <a:xfrm>
            <a:off x="9362974" y="796834"/>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990" name="corner15_n4"/>
          <p:cNvSpPr/>
          <p:nvPr/>
        </p:nvSpPr>
        <p:spPr>
          <a:xfrm>
            <a:off x="9730248" y="952966"/>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4.1</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SYSTEM &amp; EVALUATION</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15</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991"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System Workflow &amp; Architecture</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Our selected classifier and U-Net are combined into a single cascaded pipeline.</a:t>
            </a:r>
          </a:p>
          <a:p>
            <a:pPr marL="228600" indent="-228600">
              <a:buClr>
                <a:srgbClr val="22D3EE"/>
              </a:buClr>
              <a:buFont typeface="Arial"/>
              <a:buChar char="▸"/>
            </a:pPr>
            <a:r>
              <a:rPr lang="en-US" altLang="ko-KR" dirty="0">
                <a:solidFill>
                  <a:srgbClr val="DCE2F5"/>
                </a:solidFill>
                <a:latin typeface="Calibri"/>
                <a:cs typeface="Calibri"/>
              </a:rPr>
              <a:t>Classification uses the best of EfficientNet-B0 or our custom CNN; the interface returns a class prediction and, for tumor cases, a mask overlay — via Gradio.</a:t>
            </a:r>
          </a:p>
        </p:txBody>
      </p:sp>
      <p:sp>
        <p:nvSpPr>
          <p:cNvPr id="323" name="wf_input"/>
          <p:cNvSpPr/>
          <p:nvPr/>
        </p:nvSpPr>
        <p:spPr>
          <a:xfrm>
            <a:off x="480000" y="3150000"/>
            <a:ext cx="1750000" cy="560000"/>
          </a:xfrm>
          <a:prstGeom prst="roundRect">
            <a:avLst>
              <a:gd name="adj" fmla="val 8000"/>
            </a:avLst>
          </a:prstGeom>
          <a:solidFill>
            <a:srgbClr val="22D3EE">
              <a:alpha val="20000"/>
            </a:srgbClr>
          </a:solidFill>
          <a:ln w="9525">
            <a:solidFill>
              <a:srgbClr val="22D3EE">
                <a:alpha val="8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24" name="text"/>
          <p:cNvSpPr txBox="1"/>
          <p:nvPr/>
        </p:nvSpPr>
        <p:spPr>
          <a:xfrm>
            <a:off x="480000" y="3150000"/>
            <a:ext cx="1750000" cy="56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5F7FF"/>
                </a:solidFill>
                <a:latin typeface="Calibri"/>
                <a:ea typeface="Calibri"/>
                <a:cs typeface="Calibri"/>
              </a:rPr>
              <a:t>MRI Input</a:t>
            </a:r>
          </a:p>
        </p:txBody>
      </p:sp>
      <p:sp>
        <p:nvSpPr>
          <p:cNvPr id="325" name="arrow"/>
          <p:cNvSpPr/>
          <p:nvPr/>
        </p:nvSpPr>
        <p:spPr>
          <a:xfrm>
            <a:off x="2230000" y="3360000"/>
            <a:ext cx="320000" cy="140000"/>
          </a:xfrm>
          <a:prstGeom prst="rightArrow">
            <a:avLst>
              <a:gd name="adj1" fmla="val 60000"/>
              <a:gd name="adj2" fmla="val 60000"/>
            </a:avLst>
          </a:prstGeom>
          <a:solidFill>
            <a:srgbClr val="8891B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326" name="wf_clf"/>
          <p:cNvSpPr/>
          <p:nvPr/>
        </p:nvSpPr>
        <p:spPr>
          <a:xfrm>
            <a:off x="2550000" y="3150000"/>
            <a:ext cx="2500000" cy="560000"/>
          </a:xfrm>
          <a:prstGeom prst="roundRect">
            <a:avLst>
              <a:gd name="adj" fmla="val 8000"/>
            </a:avLst>
          </a:prstGeom>
          <a:solidFill>
            <a:srgbClr val="22D3EE">
              <a:alpha val="20000"/>
            </a:srgbClr>
          </a:solidFill>
          <a:ln w="9525">
            <a:solidFill>
              <a:srgbClr val="22D3EE">
                <a:alpha val="8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27" name="text"/>
          <p:cNvSpPr txBox="1"/>
          <p:nvPr/>
        </p:nvSpPr>
        <p:spPr>
          <a:xfrm>
            <a:off x="2550000" y="3150000"/>
            <a:ext cx="2500000" cy="56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5F7FF"/>
                </a:solidFill>
                <a:latin typeface="Calibri"/>
                <a:ea typeface="Calibri"/>
                <a:cs typeface="Calibri"/>
              </a:rPr>
              <a:t>Classification</a:t>
            </a:r>
          </a:p>
          <a:p>
            <a:pPr algn="ctr">
              <a:spcAft>
                <a:spcPts val="300"/>
              </a:spcAft>
            </a:pPr>
            <a:r>
              <a:rPr lang="en-US" sz="900" b="0" i="0" dirty="0">
                <a:solidFill>
                  <a:srgbClr val="F5F7FF"/>
                </a:solidFill>
                <a:latin typeface="Calibri"/>
                <a:ea typeface="Calibri"/>
                <a:cs typeface="Calibri"/>
              </a:rPr>
              <a:t>(best of EfficientNet-B0 / custom CNN)</a:t>
            </a:r>
          </a:p>
        </p:txBody>
      </p:sp>
      <p:sp>
        <p:nvSpPr>
          <p:cNvPr id="328" name="arrow"/>
          <p:cNvSpPr/>
          <p:nvPr/>
        </p:nvSpPr>
        <p:spPr>
          <a:xfrm>
            <a:off x="5050000" y="3360000"/>
            <a:ext cx="320000" cy="140000"/>
          </a:xfrm>
          <a:prstGeom prst="rightArrow">
            <a:avLst>
              <a:gd name="adj1" fmla="val 60000"/>
              <a:gd name="adj2" fmla="val 60000"/>
            </a:avLst>
          </a:prstGeom>
          <a:solidFill>
            <a:srgbClr val="8891B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329" name="wf_branch"/>
          <p:cNvSpPr/>
          <p:nvPr/>
        </p:nvSpPr>
        <p:spPr>
          <a:xfrm>
            <a:off x="5370000" y="3150000"/>
            <a:ext cx="1450000" cy="560000"/>
          </a:xfrm>
          <a:prstGeom prst="roundRect">
            <a:avLst>
              <a:gd name="adj" fmla="val 8000"/>
            </a:avLst>
          </a:prstGeom>
          <a:solidFill>
            <a:srgbClr val="8B5CF6">
              <a:alpha val="24000"/>
            </a:srgbClr>
          </a:solidFill>
          <a:ln w="9525">
            <a:solidFill>
              <a:srgbClr val="C4B5FD">
                <a:alpha val="8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30" name="text"/>
          <p:cNvSpPr txBox="1"/>
          <p:nvPr/>
        </p:nvSpPr>
        <p:spPr>
          <a:xfrm>
            <a:off x="5370000" y="3150000"/>
            <a:ext cx="1450000" cy="560000"/>
          </a:xfrm>
          <a:prstGeom prst="rect">
            <a:avLst/>
          </a:prstGeom>
          <a:noFill/>
          <a:ln>
            <a:noFill/>
          </a:ln>
        </p:spPr>
        <p:txBody>
          <a:bodyPr wrap="square" lIns="0" tIns="0" rIns="0" bIns="0" anchor="ctr">
            <a:noAutofit/>
          </a:bodyPr>
          <a:lstStyle/>
          <a:p>
            <a:pPr algn="ctr">
              <a:spcAft>
                <a:spcPts val="300"/>
              </a:spcAft>
            </a:pPr>
            <a:r>
              <a:rPr lang="en-US" sz="1300" b="1" i="0" dirty="0">
                <a:solidFill>
                  <a:srgbClr val="F5F7FF"/>
                </a:solidFill>
                <a:latin typeface="Calibri"/>
                <a:ea typeface="Calibri"/>
                <a:cs typeface="Calibri"/>
              </a:rPr>
              <a:t>Tumor?</a:t>
            </a:r>
          </a:p>
        </p:txBody>
      </p:sp>
      <p:cxnSp>
        <p:nvCxnSpPr>
          <p:cNvPr id="331" name="wf_lineno"/>
          <p:cNvCxnSpPr/>
          <p:nvPr/>
        </p:nvCxnSpPr>
        <p:spPr>
          <a:xfrm flipH="1">
            <a:off x="4845000" y="3710000"/>
            <a:ext cx="1100000" cy="430000"/>
          </a:xfrm>
          <a:prstGeom prst="line">
            <a:avLst/>
          </a:prstGeom>
          <a:ln w="12700">
            <a:solidFill>
              <a:srgbClr val="8891B0">
                <a:alpha val="100000"/>
              </a:srgbClr>
            </a:solidFill>
            <a:tailEnd type="arrow"/>
          </a:ln>
        </p:spPr>
        <p:style>
          <a:lnRef idx="1">
            <a:schemeClr val="accent1"/>
          </a:lnRef>
          <a:fillRef idx="0">
            <a:schemeClr val="accent1"/>
          </a:fillRef>
          <a:effectRef idx="0">
            <a:schemeClr val="accent1"/>
          </a:effectRef>
          <a:fontRef idx="minor">
            <a:schemeClr val="tx1"/>
          </a:fontRef>
        </p:style>
      </p:cxnSp>
      <p:sp>
        <p:nvSpPr>
          <p:cNvPr id="332" name="text"/>
          <p:cNvSpPr txBox="1"/>
          <p:nvPr/>
        </p:nvSpPr>
        <p:spPr>
          <a:xfrm>
            <a:off x="4345000" y="3750000"/>
            <a:ext cx="500000" cy="240000"/>
          </a:xfrm>
          <a:prstGeom prst="rect">
            <a:avLst/>
          </a:prstGeom>
          <a:noFill/>
          <a:ln>
            <a:noFill/>
          </a:ln>
        </p:spPr>
        <p:txBody>
          <a:bodyPr wrap="square" lIns="0" tIns="0" rIns="0" bIns="0" anchor="t">
            <a:noAutofit/>
          </a:bodyPr>
          <a:lstStyle/>
          <a:p>
            <a:pPr algn="r"/>
            <a:r>
              <a:rPr lang="en-US" sz="1000" b="1" i="0" dirty="0">
                <a:solidFill>
                  <a:srgbClr val="8891B0"/>
                </a:solidFill>
                <a:latin typeface="Calibri"/>
                <a:ea typeface="Calibri"/>
                <a:cs typeface="Calibri"/>
              </a:rPr>
              <a:t>No</a:t>
            </a:r>
          </a:p>
        </p:txBody>
      </p:sp>
      <p:sp>
        <p:nvSpPr>
          <p:cNvPr id="333" name="wf_nobox"/>
          <p:cNvSpPr/>
          <p:nvPr/>
        </p:nvSpPr>
        <p:spPr>
          <a:xfrm>
            <a:off x="4070000" y="4140000"/>
            <a:ext cx="1550000" cy="560000"/>
          </a:xfrm>
          <a:prstGeom prst="roundRect">
            <a:avLst>
              <a:gd name="adj" fmla="val 8000"/>
            </a:avLst>
          </a:prstGeom>
          <a:solidFill>
            <a:srgbClr val="1B2350">
              <a:alpha val="100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34" name="text"/>
          <p:cNvSpPr txBox="1"/>
          <p:nvPr/>
        </p:nvSpPr>
        <p:spPr>
          <a:xfrm>
            <a:off x="4070000" y="4140000"/>
            <a:ext cx="1550000" cy="560000"/>
          </a:xfrm>
          <a:prstGeom prst="rect">
            <a:avLst/>
          </a:prstGeom>
          <a:noFill/>
          <a:ln>
            <a:noFill/>
          </a:ln>
        </p:spPr>
        <p:txBody>
          <a:bodyPr wrap="square" lIns="0" tIns="0" rIns="0" bIns="0" anchor="ctr">
            <a:noAutofit/>
          </a:bodyPr>
          <a:lstStyle/>
          <a:p>
            <a:pPr algn="ctr">
              <a:spcAft>
                <a:spcPts val="300"/>
              </a:spcAft>
            </a:pPr>
            <a:r>
              <a:rPr lang="en-US" sz="1000" b="1" i="0" dirty="0">
                <a:solidFill>
                  <a:srgbClr val="E7EAF6"/>
                </a:solidFill>
                <a:latin typeface="Calibri"/>
                <a:ea typeface="Calibri"/>
                <a:cs typeface="Calibri"/>
              </a:rPr>
              <a:t>Final Classification</a:t>
            </a:r>
          </a:p>
          <a:p>
            <a:pPr algn="ctr">
              <a:spcAft>
                <a:spcPts val="300"/>
              </a:spcAft>
            </a:pPr>
            <a:r>
              <a:rPr lang="en-US" sz="900" b="0" i="0" dirty="0">
                <a:solidFill>
                  <a:srgbClr val="8891B0"/>
                </a:solidFill>
                <a:latin typeface="Calibri"/>
                <a:ea typeface="Calibri"/>
                <a:cs typeface="Calibri"/>
              </a:rPr>
              <a:t>(no tumor)</a:t>
            </a:r>
          </a:p>
        </p:txBody>
      </p:sp>
      <p:cxnSp>
        <p:nvCxnSpPr>
          <p:cNvPr id="335" name="wf_lineyes"/>
          <p:cNvCxnSpPr/>
          <p:nvPr/>
        </p:nvCxnSpPr>
        <p:spPr>
          <a:xfrm>
            <a:off x="6245000" y="3710000"/>
            <a:ext cx="400000" cy="430000"/>
          </a:xfrm>
          <a:prstGeom prst="line">
            <a:avLst/>
          </a:prstGeom>
          <a:ln w="12700">
            <a:solidFill>
              <a:srgbClr val="8891B0">
                <a:alpha val="100000"/>
              </a:srgbClr>
            </a:solidFill>
            <a:tailEnd type="arrow"/>
          </a:ln>
        </p:spPr>
        <p:style>
          <a:lnRef idx="1">
            <a:schemeClr val="accent1"/>
          </a:lnRef>
          <a:fillRef idx="0">
            <a:schemeClr val="accent1"/>
          </a:fillRef>
          <a:effectRef idx="0">
            <a:schemeClr val="accent1"/>
          </a:effectRef>
          <a:fontRef idx="minor">
            <a:schemeClr val="tx1"/>
          </a:fontRef>
        </p:style>
      </p:cxnSp>
      <p:sp>
        <p:nvSpPr>
          <p:cNvPr id="336" name="text"/>
          <p:cNvSpPr txBox="1"/>
          <p:nvPr/>
        </p:nvSpPr>
        <p:spPr>
          <a:xfrm>
            <a:off x="6645000" y="3750000"/>
            <a:ext cx="500000" cy="240000"/>
          </a:xfrm>
          <a:prstGeom prst="rect">
            <a:avLst/>
          </a:prstGeom>
          <a:noFill/>
          <a:ln>
            <a:noFill/>
          </a:ln>
        </p:spPr>
        <p:txBody>
          <a:bodyPr wrap="square" lIns="0" tIns="0" rIns="0" bIns="0" anchor="t">
            <a:noAutofit/>
          </a:bodyPr>
          <a:lstStyle/>
          <a:p>
            <a:pPr algn="l"/>
            <a:r>
              <a:rPr lang="en-US" sz="1000" b="1" i="0" dirty="0">
                <a:solidFill>
                  <a:srgbClr val="8891B0"/>
                </a:solidFill>
                <a:latin typeface="Calibri"/>
                <a:ea typeface="Calibri"/>
                <a:cs typeface="Calibri"/>
              </a:rPr>
              <a:t>Yes</a:t>
            </a:r>
          </a:p>
        </p:txBody>
      </p:sp>
      <p:sp>
        <p:nvSpPr>
          <p:cNvPr id="337" name="wf_unet"/>
          <p:cNvSpPr/>
          <p:nvPr/>
        </p:nvSpPr>
        <p:spPr>
          <a:xfrm>
            <a:off x="5670000" y="4140000"/>
            <a:ext cx="1950000" cy="560000"/>
          </a:xfrm>
          <a:prstGeom prst="roundRect">
            <a:avLst>
              <a:gd name="adj" fmla="val 8000"/>
            </a:avLst>
          </a:prstGeom>
          <a:solidFill>
            <a:srgbClr val="22D3EE">
              <a:alpha val="20000"/>
            </a:srgbClr>
          </a:solidFill>
          <a:ln w="9525">
            <a:solidFill>
              <a:srgbClr val="22D3EE">
                <a:alpha val="8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38" name="text"/>
          <p:cNvSpPr txBox="1"/>
          <p:nvPr/>
        </p:nvSpPr>
        <p:spPr>
          <a:xfrm>
            <a:off x="5670000" y="4140000"/>
            <a:ext cx="1950000" cy="560000"/>
          </a:xfrm>
          <a:prstGeom prst="rect">
            <a:avLst/>
          </a:prstGeom>
          <a:noFill/>
          <a:ln>
            <a:noFill/>
          </a:ln>
        </p:spPr>
        <p:txBody>
          <a:bodyPr wrap="square" lIns="0" tIns="0" rIns="0" bIns="0" anchor="ctr">
            <a:noAutofit/>
          </a:bodyPr>
          <a:lstStyle/>
          <a:p>
            <a:pPr algn="ctr">
              <a:spcAft>
                <a:spcPts val="300"/>
              </a:spcAft>
            </a:pPr>
            <a:r>
              <a:rPr lang="en-US" sz="1000" b="1" i="0" dirty="0">
                <a:solidFill>
                  <a:srgbClr val="F5F7FF"/>
                </a:solidFill>
                <a:latin typeface="Calibri"/>
                <a:ea typeface="Calibri"/>
                <a:cs typeface="Calibri"/>
              </a:rPr>
              <a:t>U-Net Segmentation</a:t>
            </a:r>
          </a:p>
          <a:p>
            <a:pPr algn="ctr">
              <a:spcAft>
                <a:spcPts val="300"/>
              </a:spcAft>
            </a:pPr>
            <a:r>
              <a:rPr lang="en-US" sz="900" b="0" i="0" dirty="0">
                <a:solidFill>
                  <a:srgbClr val="F5F7FF"/>
                </a:solidFill>
                <a:latin typeface="Calibri"/>
                <a:ea typeface="Calibri"/>
                <a:cs typeface="Calibri"/>
              </a:rPr>
              <a:t>(ResNet34 encoder)</a:t>
            </a:r>
          </a:p>
        </p:txBody>
      </p:sp>
      <p:sp>
        <p:nvSpPr>
          <p:cNvPr id="339" name="arrow"/>
          <p:cNvSpPr/>
          <p:nvPr/>
        </p:nvSpPr>
        <p:spPr>
          <a:xfrm>
            <a:off x="6575000" y="4730000"/>
            <a:ext cx="140000" cy="220000"/>
          </a:xfrm>
          <a:prstGeom prst="downArrow">
            <a:avLst>
              <a:gd name="adj1" fmla="val 60000"/>
              <a:gd name="adj2" fmla="val 60000"/>
            </a:avLst>
          </a:prstGeom>
          <a:solidFill>
            <a:srgbClr val="8891B0"/>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340" name="wf_overlay"/>
          <p:cNvSpPr/>
          <p:nvPr/>
        </p:nvSpPr>
        <p:spPr>
          <a:xfrm>
            <a:off x="5670000" y="5000000"/>
            <a:ext cx="1950000" cy="560000"/>
          </a:xfrm>
          <a:prstGeom prst="roundRect">
            <a:avLst>
              <a:gd name="adj" fmla="val 8000"/>
            </a:avLst>
          </a:prstGeom>
          <a:solidFill>
            <a:srgbClr val="8B5CF6">
              <a:alpha val="24000"/>
            </a:srgbClr>
          </a:solidFill>
          <a:ln w="9525">
            <a:solidFill>
              <a:srgbClr val="C4B5FD">
                <a:alpha val="8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41" name="text"/>
          <p:cNvSpPr txBox="1"/>
          <p:nvPr/>
        </p:nvSpPr>
        <p:spPr>
          <a:xfrm>
            <a:off x="5670000" y="5000000"/>
            <a:ext cx="1950000" cy="560000"/>
          </a:xfrm>
          <a:prstGeom prst="rect">
            <a:avLst/>
          </a:prstGeom>
          <a:noFill/>
          <a:ln>
            <a:noFill/>
          </a:ln>
        </p:spPr>
        <p:txBody>
          <a:bodyPr wrap="square" lIns="0" tIns="0" rIns="0" bIns="0" anchor="ctr">
            <a:noAutofit/>
          </a:bodyPr>
          <a:lstStyle/>
          <a:p>
            <a:pPr algn="ctr">
              <a:spcAft>
                <a:spcPts val="300"/>
              </a:spcAft>
            </a:pPr>
            <a:r>
              <a:rPr lang="en-US" sz="1000" b="1" i="0" dirty="0">
                <a:solidFill>
                  <a:srgbClr val="F5F7FF"/>
                </a:solidFill>
                <a:latin typeface="Calibri"/>
                <a:ea typeface="Calibri"/>
                <a:cs typeface="Calibri"/>
              </a:rPr>
              <a:t>Tumor Mask Overlay</a:t>
            </a:r>
          </a:p>
        </p:txBody>
      </p:sp>
      <p:sp>
        <p:nvSpPr>
          <p:cNvPr id="342" name="wf_gradio"/>
          <p:cNvSpPr/>
          <p:nvPr/>
        </p:nvSpPr>
        <p:spPr>
          <a:xfrm>
            <a:off x="1300000" y="5880000"/>
            <a:ext cx="6900000" cy="560000"/>
          </a:xfrm>
          <a:prstGeom prst="roundRect">
            <a:avLst>
              <a:gd name="adj" fmla="val 8000"/>
            </a:avLst>
          </a:prstGeom>
          <a:solidFill>
            <a:srgbClr val="F0A500">
              <a:alpha val="100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43" name="text"/>
          <p:cNvSpPr txBox="1"/>
          <p:nvPr/>
        </p:nvSpPr>
        <p:spPr>
          <a:xfrm>
            <a:off x="1300000" y="5880000"/>
            <a:ext cx="6900000" cy="560000"/>
          </a:xfrm>
          <a:prstGeom prst="rect">
            <a:avLst/>
          </a:prstGeom>
          <a:noFill/>
          <a:ln>
            <a:noFill/>
          </a:ln>
        </p:spPr>
        <p:txBody>
          <a:bodyPr wrap="square" lIns="0" tIns="0" rIns="0" bIns="0" anchor="ctr">
            <a:noAutofit/>
          </a:bodyPr>
          <a:lstStyle/>
          <a:p>
            <a:pPr algn="ctr">
              <a:spcAft>
                <a:spcPts val="300"/>
              </a:spcAft>
            </a:pPr>
            <a:r>
              <a:rPr lang="en-US" sz="1100" b="1" i="0" dirty="0">
                <a:solidFill>
                  <a:srgbClr val="3A2900"/>
                </a:solidFill>
                <a:latin typeface="Calibri"/>
                <a:ea typeface="Calibri"/>
                <a:cs typeface="Calibri"/>
              </a:rPr>
              <a:t>Gradio Interface (hosted on Hugging Face)</a:t>
            </a:r>
          </a:p>
        </p:txBody>
      </p:sp>
      <p:cxnSp>
        <p:nvCxnSpPr>
          <p:cNvPr id="344" name="wf_l1"/>
          <p:cNvCxnSpPr/>
          <p:nvPr/>
        </p:nvCxnSpPr>
        <p:spPr>
          <a:xfrm flipH="1">
            <a:off x="4350000" y="4700000"/>
            <a:ext cx="495000" cy="1180000"/>
          </a:xfrm>
          <a:prstGeom prst="line">
            <a:avLst/>
          </a:prstGeom>
          <a:ln w="12700">
            <a:solidFill>
              <a:srgbClr val="8891B0">
                <a:alpha val="10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345" name="wf_l2"/>
          <p:cNvCxnSpPr/>
          <p:nvPr/>
        </p:nvCxnSpPr>
        <p:spPr>
          <a:xfrm flipH="1">
            <a:off x="5150000" y="5560000"/>
            <a:ext cx="1495000" cy="320000"/>
          </a:xfrm>
          <a:prstGeom prst="line">
            <a:avLst/>
          </a:prstGeom>
          <a:ln w="12700">
            <a:solidFill>
              <a:srgbClr val="8891B0">
                <a:alpha val="100000"/>
              </a:srgbClr>
            </a:solidFill>
            <a:tailEnd type="arrow"/>
          </a:ln>
        </p:spPr>
        <p:style>
          <a:lnRef idx="1">
            <a:schemeClr val="accent1"/>
          </a:lnRef>
          <a:fillRef idx="0">
            <a:schemeClr val="accent1"/>
          </a:fillRef>
          <a:effectRef idx="0">
            <a:schemeClr val="accent1"/>
          </a:effectRef>
          <a:fontRef idx="minor">
            <a:schemeClr val="tx1"/>
          </a:fontRef>
        </p:style>
      </p:cxnSp>
      <p:cxnSp>
        <p:nvCxnSpPr>
          <p:cNvPr id="992"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System &amp; Evaluation · 15</a:t>
            </a:r>
          </a:p>
        </p:txBody>
      </p:sp>
    </p:spTree>
    <p:extLst>
      <p:ext uri="{BB962C8B-B14F-4D97-AF65-F5344CB8AC3E}">
        <p14:creationId xmlns:p14="http://schemas.microsoft.com/office/powerpoint/2010/main" val="4080462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bg16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994" name="bg16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95" name="bg16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96" name="bg16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97" name="bg16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98" name="bg16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999" name="bg16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0" name="bg16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1" name="bg16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2" name="bg16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3" name="bg16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4" name="bg16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5" name="bg16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6" name="bg16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7" name="bg16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8" name="bg16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09" name="bg16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0" name="bg16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1" name="bg16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2" name="bg16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3" name="bg16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4" name="bg16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5" name="bg16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16" name="bg16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017" name="bg16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018" name="corner16_e0_2"/>
          <p:cNvCxnSpPr/>
          <p:nvPr/>
        </p:nvCxnSpPr>
        <p:spPr>
          <a:xfrm flipV="1">
            <a:off x="9487503" y="599603"/>
            <a:ext cx="75281" cy="5998"/>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019" name="corner16_e0_3"/>
          <p:cNvCxnSpPr/>
          <p:nvPr/>
        </p:nvCxnSpPr>
        <p:spPr>
          <a:xfrm flipV="1">
            <a:off x="9487503" y="318083"/>
            <a:ext cx="141390" cy="28751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20" name="corner16_e1_0"/>
          <p:cNvCxnSpPr/>
          <p:nvPr/>
        </p:nvCxnSpPr>
        <p:spPr>
          <a:xfrm flipV="1">
            <a:off x="9414783" y="605601"/>
            <a:ext cx="72720" cy="42498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21" name="corner16_e1_4"/>
          <p:cNvCxnSpPr/>
          <p:nvPr/>
        </p:nvCxnSpPr>
        <p:spPr>
          <a:xfrm flipH="1" flipV="1">
            <a:off x="9003838" y="840833"/>
            <a:ext cx="410945" cy="18975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22" name="corner16_e2_3"/>
          <p:cNvCxnSpPr/>
          <p:nvPr/>
        </p:nvCxnSpPr>
        <p:spPr>
          <a:xfrm flipV="1">
            <a:off x="9562784" y="318083"/>
            <a:ext cx="66109" cy="28152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23" name="corner16_e4_0"/>
          <p:cNvCxnSpPr/>
          <p:nvPr/>
        </p:nvCxnSpPr>
        <p:spPr>
          <a:xfrm flipV="1">
            <a:off x="9003838" y="605601"/>
            <a:ext cx="483665" cy="23523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sp>
        <p:nvSpPr>
          <p:cNvPr id="1024" name="corner16_n0"/>
          <p:cNvSpPr/>
          <p:nvPr/>
        </p:nvSpPr>
        <p:spPr>
          <a:xfrm>
            <a:off x="9480503" y="598601"/>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25" name="corner16_n1"/>
          <p:cNvSpPr/>
          <p:nvPr/>
        </p:nvSpPr>
        <p:spPr>
          <a:xfrm>
            <a:off x="9404783" y="1020589"/>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26" name="corner16_n2"/>
          <p:cNvSpPr/>
          <p:nvPr/>
        </p:nvSpPr>
        <p:spPr>
          <a:xfrm>
            <a:off x="9549784" y="586603"/>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27" name="corner16_n3"/>
          <p:cNvSpPr/>
          <p:nvPr/>
        </p:nvSpPr>
        <p:spPr>
          <a:xfrm>
            <a:off x="9621893" y="311083"/>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28" name="corner16_n4"/>
          <p:cNvSpPr/>
          <p:nvPr/>
        </p:nvSpPr>
        <p:spPr>
          <a:xfrm>
            <a:off x="8993838" y="830833"/>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4.2</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SYSTEM &amp; EVALUATION</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16</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1029"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Evaluation Methodology</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b="1" dirty="0">
                <a:solidFill>
                  <a:srgbClr val="22D3EE"/>
                </a:solidFill>
                <a:latin typeface="Calibri"/>
                <a:cs typeface="Calibri"/>
              </a:rPr>
              <a:t>Classification and segmentation are evaluated on their own separate held-out test sets — not one shared partition.</a:t>
            </a:r>
          </a:p>
        </p:txBody>
      </p:sp>
      <p:sp>
        <p:nvSpPr>
          <p:cNvPr id="346" name="evalcard_bg0"/>
          <p:cNvSpPr/>
          <p:nvPr/>
        </p:nvSpPr>
        <p:spPr>
          <a:xfrm>
            <a:off x="480000" y="3370000"/>
            <a:ext cx="4295000" cy="22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47" name="evalcard_hdr0"/>
          <p:cNvSpPr txBox="1"/>
          <p:nvPr/>
        </p:nvSpPr>
        <p:spPr>
          <a:xfrm>
            <a:off x="823600" y="3546000"/>
            <a:ext cx="3607800" cy="616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Classification Metrics</a:t>
            </a:r>
          </a:p>
        </p:txBody>
      </p:sp>
      <p:sp>
        <p:nvSpPr>
          <p:cNvPr id="348" name="evalcard_sub0"/>
          <p:cNvSpPr txBox="1"/>
          <p:nvPr/>
        </p:nvSpPr>
        <p:spPr>
          <a:xfrm>
            <a:off x="823600" y="4118000"/>
            <a:ext cx="3607800" cy="1408000"/>
          </a:xfrm>
          <a:prstGeom prst="rect">
            <a:avLst/>
          </a:prstGeom>
          <a:noFill/>
          <a:ln>
            <a:noFill/>
          </a:ln>
        </p:spPr>
        <p:txBody>
          <a:bodyPr wrap="square" lIns="0" tIns="0" rIns="0" bIns="0" anchor="t">
            <a:noAutofit/>
          </a:bodyPr>
          <a:lstStyle/>
          <a:p>
            <a:pPr algn="ctr">
              <a:spcAft>
                <a:spcPts val="300"/>
              </a:spcAft>
            </a:pPr>
            <a:r>
              <a:rPr lang="en-US" sz="1000" b="1" i="0" dirty="0">
                <a:solidFill>
                  <a:srgbClr val="22D3EE"/>
                </a:solidFill>
                <a:latin typeface="Calibri"/>
                <a:ea typeface="Calibri"/>
                <a:cs typeface="Calibri"/>
              </a:rPr>
              <a:t>1,000-image classification test set</a:t>
            </a:r>
          </a:p>
          <a:p>
            <a:pPr algn="ctr">
              <a:spcAft>
                <a:spcPts val="300"/>
              </a:spcAft>
            </a:pPr>
            <a:r>
              <a:rPr lang="en-US" sz="900" b="0" i="0" dirty="0">
                <a:solidFill>
                  <a:srgbClr val="E7EAF6"/>
                </a:solidFill>
                <a:latin typeface="Calibri"/>
                <a:ea typeface="Calibri"/>
                <a:cs typeface="Calibri"/>
              </a:rPr>
              <a:t>Applied identically to EfficientNet-B0 &amp; Custom CNN</a:t>
            </a:r>
          </a:p>
          <a:p>
            <a:pPr algn="ctr">
              <a:spcAft>
                <a:spcPts val="300"/>
              </a:spcAft>
            </a:pPr>
            <a:r>
              <a:rPr lang="en-US" sz="900" b="0" i="0" dirty="0">
                <a:solidFill>
                  <a:srgbClr val="E7EAF6"/>
                </a:solidFill>
                <a:latin typeface="Calibri"/>
                <a:ea typeface="Calibri"/>
                <a:cs typeface="Calibri"/>
              </a:rPr>
              <a:t>Accuracy, per-class precision &amp; recall</a:t>
            </a:r>
          </a:p>
          <a:p>
            <a:pPr algn="ctr">
              <a:spcAft>
                <a:spcPts val="300"/>
              </a:spcAft>
            </a:pPr>
            <a:r>
              <a:rPr lang="en-US" sz="900" b="0" i="0" dirty="0">
                <a:solidFill>
                  <a:srgbClr val="E7EAF6"/>
                </a:solidFill>
                <a:latin typeface="Calibri"/>
                <a:ea typeface="Calibri"/>
                <a:cs typeface="Calibri"/>
              </a:rPr>
              <a:t>Macro-F1, confusion matrix, calibration (ECE)</a:t>
            </a:r>
          </a:p>
        </p:txBody>
      </p:sp>
      <p:sp>
        <p:nvSpPr>
          <p:cNvPr id="349" name="evalcard_bg1"/>
          <p:cNvSpPr/>
          <p:nvPr/>
        </p:nvSpPr>
        <p:spPr>
          <a:xfrm>
            <a:off x="5125000" y="3370000"/>
            <a:ext cx="4295000" cy="22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50" name="evalcard_hdr1"/>
          <p:cNvSpPr txBox="1"/>
          <p:nvPr/>
        </p:nvSpPr>
        <p:spPr>
          <a:xfrm>
            <a:off x="5468600" y="3546000"/>
            <a:ext cx="3607800" cy="616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Segmentation Metrics</a:t>
            </a:r>
          </a:p>
        </p:txBody>
      </p:sp>
      <p:sp>
        <p:nvSpPr>
          <p:cNvPr id="351" name="evalcard_sub1"/>
          <p:cNvSpPr txBox="1"/>
          <p:nvPr/>
        </p:nvSpPr>
        <p:spPr>
          <a:xfrm>
            <a:off x="5468600" y="4118000"/>
            <a:ext cx="3607800" cy="1408000"/>
          </a:xfrm>
          <a:prstGeom prst="rect">
            <a:avLst/>
          </a:prstGeom>
          <a:noFill/>
          <a:ln>
            <a:noFill/>
          </a:ln>
        </p:spPr>
        <p:txBody>
          <a:bodyPr wrap="square" lIns="0" tIns="0" rIns="0" bIns="0" anchor="t">
            <a:noAutofit/>
          </a:bodyPr>
          <a:lstStyle/>
          <a:p>
            <a:pPr algn="ctr">
              <a:spcAft>
                <a:spcPts val="300"/>
              </a:spcAft>
            </a:pPr>
            <a:r>
              <a:rPr lang="en-US" sz="1000" b="1" i="0" dirty="0">
                <a:solidFill>
                  <a:srgbClr val="22D3EE"/>
                </a:solidFill>
                <a:latin typeface="Calibri"/>
                <a:ea typeface="Calibri"/>
                <a:cs typeface="Calibri"/>
              </a:rPr>
              <a:t>860-image segmentation test set</a:t>
            </a:r>
          </a:p>
          <a:p>
            <a:pPr algn="ctr">
              <a:spcAft>
                <a:spcPts val="300"/>
              </a:spcAft>
            </a:pPr>
            <a:r>
              <a:rPr lang="en-US" sz="900" b="0" i="0" dirty="0">
                <a:solidFill>
                  <a:srgbClr val="E7EAF6"/>
                </a:solidFill>
                <a:latin typeface="Calibri"/>
                <a:ea typeface="Calibri"/>
                <a:cs typeface="Calibri"/>
              </a:rPr>
              <a:t>Applied to U-Net</a:t>
            </a:r>
          </a:p>
          <a:p>
            <a:pPr algn="ctr">
              <a:spcAft>
                <a:spcPts val="300"/>
              </a:spcAft>
            </a:pPr>
            <a:r>
              <a:rPr lang="en-US" sz="900" b="0" i="0" dirty="0">
                <a:solidFill>
                  <a:srgbClr val="E7EAF6"/>
                </a:solidFill>
                <a:latin typeface="Calibri"/>
                <a:ea typeface="Calibri"/>
                <a:cs typeface="Calibri"/>
              </a:rPr>
              <a:t>Dice Coefficient and IoU</a:t>
            </a:r>
          </a:p>
          <a:p>
            <a:pPr algn="ctr">
              <a:spcAft>
                <a:spcPts val="300"/>
              </a:spcAft>
            </a:pPr>
            <a:r>
              <a:rPr lang="en-US" sz="900" b="0" i="0" dirty="0">
                <a:solidFill>
                  <a:srgbClr val="E7EAF6"/>
                </a:solidFill>
                <a:latin typeface="Calibri"/>
                <a:ea typeface="Calibri"/>
                <a:cs typeface="Calibri"/>
              </a:rPr>
              <a:t>Precision, recall, per-image distribution</a:t>
            </a:r>
          </a:p>
        </p:txBody>
      </p:sp>
      <p:sp>
        <p:nvSpPr>
          <p:cNvPr id="352" name="evalnote"/>
          <p:cNvSpPr txBox="1"/>
          <p:nvPr/>
        </p:nvSpPr>
        <p:spPr>
          <a:xfrm>
            <a:off x="480000" y="5690000"/>
            <a:ext cx="8940000" cy="40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Current evaluation focuses on T1-weighted axial MRI images. Coronal and sagittal planes are reserved for future work.</a:t>
            </a:r>
          </a:p>
        </p:txBody>
      </p:sp>
      <p:cxnSp>
        <p:nvCxnSpPr>
          <p:cNvPr id="1030"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System &amp; Evaluation · 16</a:t>
            </a:r>
          </a:p>
        </p:txBody>
      </p:sp>
    </p:spTree>
    <p:extLst>
      <p:ext uri="{BB962C8B-B14F-4D97-AF65-F5344CB8AC3E}">
        <p14:creationId xmlns:p14="http://schemas.microsoft.com/office/powerpoint/2010/main" val="4080462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 name="bg17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1032" name="bg17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3" name="bg17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4" name="bg17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5" name="bg17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6" name="bg17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7" name="bg17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8" name="bg17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9" name="bg17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0" name="bg17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1" name="bg17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2" name="bg17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3" name="bg17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4" name="bg17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5" name="bg17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6" name="bg17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7" name="bg17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8" name="bg17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9" name="bg17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0" name="bg17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1" name="bg17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2" name="bg17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3" name="bg17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4" name="bg17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055" name="bg17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056" name="corner17_e0_3"/>
          <p:cNvCxnSpPr/>
          <p:nvPr/>
        </p:nvCxnSpPr>
        <p:spPr>
          <a:xfrm flipH="1">
            <a:off x="9314435" y="631027"/>
            <a:ext cx="191417" cy="149138"/>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57" name="corner17_e0_2"/>
          <p:cNvCxnSpPr/>
          <p:nvPr/>
        </p:nvCxnSpPr>
        <p:spPr>
          <a:xfrm flipH="1">
            <a:off x="9144303" y="631027"/>
            <a:ext cx="361549" cy="100345"/>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058" name="corner17_e1_2"/>
          <p:cNvCxnSpPr/>
          <p:nvPr/>
        </p:nvCxnSpPr>
        <p:spPr>
          <a:xfrm flipV="1">
            <a:off x="9137911" y="731372"/>
            <a:ext cx="6392" cy="3048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59" name="corner17_e1_4"/>
          <p:cNvCxnSpPr/>
          <p:nvPr/>
        </p:nvCxnSpPr>
        <p:spPr>
          <a:xfrm flipH="1" flipV="1">
            <a:off x="9024871" y="688909"/>
            <a:ext cx="113040" cy="7294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60" name="corner17_e2_4"/>
          <p:cNvCxnSpPr/>
          <p:nvPr/>
        </p:nvCxnSpPr>
        <p:spPr>
          <a:xfrm flipH="1" flipV="1">
            <a:off x="9024871" y="688909"/>
            <a:ext cx="119432" cy="42463"/>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061" name="corner17_e3_2"/>
          <p:cNvCxnSpPr/>
          <p:nvPr/>
        </p:nvCxnSpPr>
        <p:spPr>
          <a:xfrm flipH="1" flipV="1">
            <a:off x="9144303" y="731372"/>
            <a:ext cx="170132" cy="4879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62" name="corner17_e3_1"/>
          <p:cNvCxnSpPr/>
          <p:nvPr/>
        </p:nvCxnSpPr>
        <p:spPr>
          <a:xfrm flipH="1" flipV="1">
            <a:off x="9137911" y="761852"/>
            <a:ext cx="176524" cy="18313"/>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sp>
        <p:nvSpPr>
          <p:cNvPr id="1063" name="corner17_n0"/>
          <p:cNvSpPr/>
          <p:nvPr/>
        </p:nvSpPr>
        <p:spPr>
          <a:xfrm>
            <a:off x="9498852" y="624027"/>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64" name="corner17_n1"/>
          <p:cNvSpPr/>
          <p:nvPr/>
        </p:nvSpPr>
        <p:spPr>
          <a:xfrm>
            <a:off x="9127911" y="751852"/>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65" name="corner17_n2"/>
          <p:cNvSpPr/>
          <p:nvPr/>
        </p:nvSpPr>
        <p:spPr>
          <a:xfrm>
            <a:off x="9131303" y="718372"/>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66" name="corner17_n3"/>
          <p:cNvSpPr/>
          <p:nvPr/>
        </p:nvSpPr>
        <p:spPr>
          <a:xfrm>
            <a:off x="9307435" y="773165"/>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067" name="corner17_n4"/>
          <p:cNvSpPr/>
          <p:nvPr/>
        </p:nvSpPr>
        <p:spPr>
          <a:xfrm>
            <a:off x="9014871" y="678909"/>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4.3</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SYSTEM &amp; EVALUATION</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17</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1068"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Expected Results (Project Targets)</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b="1" dirty="0">
                <a:solidFill>
                  <a:srgbClr val="22D3EE"/>
                </a:solidFill>
                <a:latin typeface="Calibri"/>
                <a:cs typeface="Calibri"/>
              </a:rPr>
              <a:t>The figures below are our project's performance targets — not final test results. They will be verified on the held-out test partitions once training and evaluation are complete.</a:t>
            </a:r>
          </a:p>
        </p:txBody>
      </p:sp>
      <p:sp>
        <p:nvSpPr>
          <p:cNvPr id="353" name="stat1_bg0"/>
          <p:cNvSpPr/>
          <p:nvPr/>
        </p:nvSpPr>
        <p:spPr>
          <a:xfrm>
            <a:off x="480000" y="3470000"/>
            <a:ext cx="2780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54" name="stat1_big0"/>
          <p:cNvSpPr txBox="1"/>
          <p:nvPr/>
        </p:nvSpPr>
        <p:spPr>
          <a:xfrm>
            <a:off x="480000" y="3585000"/>
            <a:ext cx="2780000" cy="483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 0.95</a:t>
            </a:r>
          </a:p>
        </p:txBody>
      </p:sp>
      <p:sp>
        <p:nvSpPr>
          <p:cNvPr id="355" name="stat1_lbl0"/>
          <p:cNvSpPr txBox="1"/>
          <p:nvPr/>
        </p:nvSpPr>
        <p:spPr>
          <a:xfrm>
            <a:off x="646800" y="4091000"/>
            <a:ext cx="24464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Classification</a:t>
            </a:r>
          </a:p>
          <a:p>
            <a:pPr algn="ctr">
              <a:spcAft>
                <a:spcPts val="300"/>
              </a:spcAft>
            </a:pPr>
            <a:r>
              <a:rPr lang="en-US" sz="1000" b="0" i="0" dirty="0">
                <a:solidFill>
                  <a:srgbClr val="8891B0"/>
                </a:solidFill>
                <a:latin typeface="Calibri"/>
                <a:ea typeface="Calibri"/>
                <a:cs typeface="Calibri"/>
              </a:rPr>
              <a:t>Macro-F1 (target)</a:t>
            </a:r>
          </a:p>
        </p:txBody>
      </p:sp>
      <p:sp>
        <p:nvSpPr>
          <p:cNvPr id="356" name="stat1_bg1"/>
          <p:cNvSpPr/>
          <p:nvPr/>
        </p:nvSpPr>
        <p:spPr>
          <a:xfrm>
            <a:off x="3560000" y="3470000"/>
            <a:ext cx="2780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57" name="stat1_big1"/>
          <p:cNvSpPr txBox="1"/>
          <p:nvPr/>
        </p:nvSpPr>
        <p:spPr>
          <a:xfrm>
            <a:off x="3560000" y="3585000"/>
            <a:ext cx="2780000" cy="483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 95%</a:t>
            </a:r>
          </a:p>
        </p:txBody>
      </p:sp>
      <p:sp>
        <p:nvSpPr>
          <p:cNvPr id="358" name="stat1_lbl1"/>
          <p:cNvSpPr txBox="1"/>
          <p:nvPr/>
        </p:nvSpPr>
        <p:spPr>
          <a:xfrm>
            <a:off x="3726800" y="4091000"/>
            <a:ext cx="24464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Overall Accuracy</a:t>
            </a:r>
          </a:p>
          <a:p>
            <a:pPr algn="ctr">
              <a:spcAft>
                <a:spcPts val="300"/>
              </a:spcAft>
            </a:pPr>
            <a:r>
              <a:rPr lang="en-US" sz="1000" b="0" i="0" dirty="0">
                <a:solidFill>
                  <a:srgbClr val="8891B0"/>
                </a:solidFill>
                <a:latin typeface="Calibri"/>
                <a:ea typeface="Calibri"/>
                <a:cs typeface="Calibri"/>
              </a:rPr>
              <a:t>(target)</a:t>
            </a:r>
          </a:p>
        </p:txBody>
      </p:sp>
      <p:sp>
        <p:nvSpPr>
          <p:cNvPr id="359" name="stat1_bg2"/>
          <p:cNvSpPr/>
          <p:nvPr/>
        </p:nvSpPr>
        <p:spPr>
          <a:xfrm>
            <a:off x="6640000" y="3470000"/>
            <a:ext cx="2780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60" name="stat1_big2"/>
          <p:cNvSpPr txBox="1"/>
          <p:nvPr/>
        </p:nvSpPr>
        <p:spPr>
          <a:xfrm>
            <a:off x="6640000" y="3585000"/>
            <a:ext cx="2780000" cy="483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 0.90</a:t>
            </a:r>
          </a:p>
        </p:txBody>
      </p:sp>
      <p:sp>
        <p:nvSpPr>
          <p:cNvPr id="361" name="stat1_lbl2"/>
          <p:cNvSpPr txBox="1"/>
          <p:nvPr/>
        </p:nvSpPr>
        <p:spPr>
          <a:xfrm>
            <a:off x="6806800" y="4091000"/>
            <a:ext cx="24464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Per-class Recall</a:t>
            </a:r>
          </a:p>
          <a:p>
            <a:pPr algn="ctr">
              <a:spcAft>
                <a:spcPts val="300"/>
              </a:spcAft>
            </a:pPr>
            <a:r>
              <a:rPr lang="en-US" sz="1000" b="0" i="0" dirty="0">
                <a:solidFill>
                  <a:srgbClr val="8891B0"/>
                </a:solidFill>
                <a:latin typeface="Calibri"/>
                <a:ea typeface="Calibri"/>
                <a:cs typeface="Calibri"/>
              </a:rPr>
              <a:t>(target, each class)</a:t>
            </a:r>
          </a:p>
        </p:txBody>
      </p:sp>
      <p:sp>
        <p:nvSpPr>
          <p:cNvPr id="362" name="stat2_bg0"/>
          <p:cNvSpPr/>
          <p:nvPr/>
        </p:nvSpPr>
        <p:spPr>
          <a:xfrm>
            <a:off x="1980000" y="4920000"/>
            <a:ext cx="2820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63" name="stat2_big0"/>
          <p:cNvSpPr txBox="1"/>
          <p:nvPr/>
        </p:nvSpPr>
        <p:spPr>
          <a:xfrm>
            <a:off x="1980000" y="5035000"/>
            <a:ext cx="2820000" cy="483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 0.80</a:t>
            </a:r>
          </a:p>
        </p:txBody>
      </p:sp>
      <p:sp>
        <p:nvSpPr>
          <p:cNvPr id="364" name="stat2_lbl0"/>
          <p:cNvSpPr txBox="1"/>
          <p:nvPr/>
        </p:nvSpPr>
        <p:spPr>
          <a:xfrm>
            <a:off x="2149200" y="5541000"/>
            <a:ext cx="24816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Segmentation</a:t>
            </a:r>
          </a:p>
          <a:p>
            <a:pPr algn="ctr">
              <a:spcAft>
                <a:spcPts val="300"/>
              </a:spcAft>
            </a:pPr>
            <a:r>
              <a:rPr lang="en-US" sz="1000" b="0" i="0" dirty="0">
                <a:solidFill>
                  <a:srgbClr val="8891B0"/>
                </a:solidFill>
                <a:latin typeface="Calibri"/>
                <a:ea typeface="Calibri"/>
                <a:cs typeface="Calibri"/>
              </a:rPr>
              <a:t>Dice Coefficient (target)</a:t>
            </a:r>
          </a:p>
        </p:txBody>
      </p:sp>
      <p:sp>
        <p:nvSpPr>
          <p:cNvPr id="365" name="stat2_bg1"/>
          <p:cNvSpPr/>
          <p:nvPr/>
        </p:nvSpPr>
        <p:spPr>
          <a:xfrm>
            <a:off x="5100000" y="4920000"/>
            <a:ext cx="2820000" cy="115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66" name="stat2_big1"/>
          <p:cNvSpPr txBox="1"/>
          <p:nvPr/>
        </p:nvSpPr>
        <p:spPr>
          <a:xfrm>
            <a:off x="5100000" y="5035000"/>
            <a:ext cx="2820000" cy="483000"/>
          </a:xfrm>
          <a:prstGeom prst="rect">
            <a:avLst/>
          </a:prstGeom>
          <a:noFill/>
          <a:ln>
            <a:noFill/>
          </a:ln>
        </p:spPr>
        <p:txBody>
          <a:bodyPr wrap="square" lIns="0" tIns="0" rIns="0" bIns="0" anchor="ctr">
            <a:noAutofit/>
          </a:bodyPr>
          <a:lstStyle/>
          <a:p>
            <a:pPr algn="ctr"/>
            <a:r>
              <a:rPr lang="en-US" sz="2000" b="1" i="0" dirty="0">
                <a:solidFill>
                  <a:srgbClr val="22D3EE"/>
                </a:solidFill>
                <a:latin typeface="Calibri"/>
                <a:ea typeface="Calibri"/>
                <a:cs typeface="Calibri"/>
              </a:rPr>
              <a:t>≥ 0.70</a:t>
            </a:r>
          </a:p>
        </p:txBody>
      </p:sp>
      <p:sp>
        <p:nvSpPr>
          <p:cNvPr id="367" name="stat2_lbl1"/>
          <p:cNvSpPr txBox="1"/>
          <p:nvPr/>
        </p:nvSpPr>
        <p:spPr>
          <a:xfrm>
            <a:off x="5269200" y="5541000"/>
            <a:ext cx="2481600" cy="483000"/>
          </a:xfrm>
          <a:prstGeom prst="rect">
            <a:avLst/>
          </a:prstGeom>
          <a:noFill/>
          <a:ln>
            <a:noFill/>
          </a:ln>
        </p:spPr>
        <p:txBody>
          <a:bodyPr wrap="square" lIns="0" tIns="0" rIns="0" bIns="0" anchor="t">
            <a:noAutofit/>
          </a:bodyPr>
          <a:lstStyle/>
          <a:p>
            <a:pPr algn="ctr">
              <a:spcAft>
                <a:spcPts val="300"/>
              </a:spcAft>
            </a:pPr>
            <a:r>
              <a:rPr lang="en-US" sz="1000" b="0" i="0" dirty="0">
                <a:solidFill>
                  <a:srgbClr val="8891B0"/>
                </a:solidFill>
                <a:latin typeface="Calibri"/>
                <a:ea typeface="Calibri"/>
                <a:cs typeface="Calibri"/>
              </a:rPr>
              <a:t>Segmentation</a:t>
            </a:r>
          </a:p>
          <a:p>
            <a:pPr algn="ctr">
              <a:spcAft>
                <a:spcPts val="300"/>
              </a:spcAft>
            </a:pPr>
            <a:r>
              <a:rPr lang="en-US" sz="1000" b="0" i="0" dirty="0">
                <a:solidFill>
                  <a:srgbClr val="8891B0"/>
                </a:solidFill>
                <a:latin typeface="Calibri"/>
                <a:ea typeface="Calibri"/>
                <a:cs typeface="Calibri"/>
              </a:rPr>
              <a:t>IoU (target)</a:t>
            </a:r>
          </a:p>
        </p:txBody>
      </p:sp>
      <p:sp>
        <p:nvSpPr>
          <p:cNvPr id="368" name="targetnote"/>
          <p:cNvSpPr txBox="1"/>
          <p:nvPr/>
        </p:nvSpPr>
        <p:spPr>
          <a:xfrm>
            <a:off x="480000" y="6190000"/>
            <a:ext cx="8940000" cy="32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Classification targets apply to whichever model — EfficientNet-B0 or our custom CNN — performs best in our comparison.</a:t>
            </a:r>
          </a:p>
        </p:txBody>
      </p:sp>
      <p:cxnSp>
        <p:nvCxnSpPr>
          <p:cNvPr id="1069"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System &amp; Evaluation · 17</a:t>
            </a:r>
          </a:p>
        </p:txBody>
      </p:sp>
    </p:spTree>
    <p:extLst>
      <p:ext uri="{BB962C8B-B14F-4D97-AF65-F5344CB8AC3E}">
        <p14:creationId xmlns:p14="http://schemas.microsoft.com/office/powerpoint/2010/main" val="4080462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 name="bg18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1071" name="bg18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2" name="bg18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3" name="bg18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4" name="bg18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5" name="bg18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6" name="bg18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7" name="bg18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8" name="bg18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9" name="bg18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0" name="bg18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1" name="bg18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2" name="bg18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3" name="bg18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4" name="bg18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5" name="bg18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6" name="bg18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7" name="bg18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8" name="bg18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9" name="bg18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90" name="bg18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91" name="bg18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92" name="bg18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93" name="bg18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094" name="bg18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095" name="corner18_e0_2"/>
          <p:cNvCxnSpPr/>
          <p:nvPr/>
        </p:nvCxnSpPr>
        <p:spPr>
          <a:xfrm flipH="1" flipV="1">
            <a:off x="8901770" y="394984"/>
            <a:ext cx="86117" cy="78432"/>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096" name="corner18_e0_3"/>
          <p:cNvCxnSpPr/>
          <p:nvPr/>
        </p:nvCxnSpPr>
        <p:spPr>
          <a:xfrm>
            <a:off x="8987887" y="473416"/>
            <a:ext cx="210701" cy="18663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97" name="corner18_e1_3"/>
          <p:cNvCxnSpPr/>
          <p:nvPr/>
        </p:nvCxnSpPr>
        <p:spPr>
          <a:xfrm flipH="1">
            <a:off x="9198588" y="423405"/>
            <a:ext cx="73917" cy="23664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098" name="corner18_e1_0"/>
          <p:cNvCxnSpPr/>
          <p:nvPr/>
        </p:nvCxnSpPr>
        <p:spPr>
          <a:xfrm flipH="1">
            <a:off x="8987887" y="423405"/>
            <a:ext cx="284618" cy="50011"/>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099" name="corner18_e2_1"/>
          <p:cNvCxnSpPr/>
          <p:nvPr/>
        </p:nvCxnSpPr>
        <p:spPr>
          <a:xfrm>
            <a:off x="8901770" y="394984"/>
            <a:ext cx="370735" cy="28421"/>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100" name="corner18_e4_1"/>
          <p:cNvCxnSpPr/>
          <p:nvPr/>
        </p:nvCxnSpPr>
        <p:spPr>
          <a:xfrm flipH="1" flipV="1">
            <a:off x="9272505" y="423405"/>
            <a:ext cx="299537" cy="6080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101" name="corner18_e4_3"/>
          <p:cNvCxnSpPr/>
          <p:nvPr/>
        </p:nvCxnSpPr>
        <p:spPr>
          <a:xfrm flipH="1">
            <a:off x="9198588" y="484207"/>
            <a:ext cx="373454" cy="17584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1102" name="corner18_n0"/>
          <p:cNvSpPr/>
          <p:nvPr/>
        </p:nvSpPr>
        <p:spPr>
          <a:xfrm>
            <a:off x="8980887" y="466416"/>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03" name="corner18_n1"/>
          <p:cNvSpPr/>
          <p:nvPr/>
        </p:nvSpPr>
        <p:spPr>
          <a:xfrm>
            <a:off x="9262505" y="413405"/>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04" name="corner18_n2"/>
          <p:cNvSpPr/>
          <p:nvPr/>
        </p:nvSpPr>
        <p:spPr>
          <a:xfrm>
            <a:off x="8888770" y="381984"/>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05" name="corner18_n3"/>
          <p:cNvSpPr/>
          <p:nvPr/>
        </p:nvSpPr>
        <p:spPr>
          <a:xfrm>
            <a:off x="9191588" y="653049"/>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06" name="corner18_n4"/>
          <p:cNvSpPr/>
          <p:nvPr/>
        </p:nvSpPr>
        <p:spPr>
          <a:xfrm>
            <a:off x="9562042" y="474207"/>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5.1</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APPLICATION &amp; IMPACT</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18</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1107"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User Interface &amp; Deployment</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b="1" dirty="0">
                <a:solidFill>
                  <a:srgbClr val="22D3EE"/>
                </a:solidFill>
                <a:latin typeface="Calibri"/>
                <a:cs typeface="Calibri"/>
              </a:rPr>
              <a:t>Our final prototype will be deployed through a Gradio interface hosted on Hugging Face.</a:t>
            </a:r>
          </a:p>
          <a:p>
            <a:pPr marL="228600" indent="-228600">
              <a:buClr>
                <a:srgbClr val="22D3EE"/>
              </a:buClr>
              <a:buFont typeface="Arial"/>
              <a:buChar char="▸"/>
            </a:pPr>
            <a:r>
              <a:rPr lang="en-US" altLang="ko-KR" dirty="0">
                <a:solidFill>
                  <a:srgbClr val="DCE2F5"/>
                </a:solidFill>
                <a:latin typeface="Calibri"/>
                <a:cs typeface="Calibri"/>
              </a:rPr>
              <a:t>A user will upload a single MRI scan and receive the predicted class with its confidence values.</a:t>
            </a:r>
          </a:p>
          <a:p>
            <a:pPr marL="228600" indent="-228600">
              <a:buClr>
                <a:srgbClr val="22D3EE"/>
              </a:buClr>
              <a:buFont typeface="Arial"/>
              <a:buChar char="▸"/>
            </a:pPr>
            <a:r>
              <a:rPr lang="en-US" altLang="ko-KR" dirty="0">
                <a:solidFill>
                  <a:srgbClr val="DCE2F5"/>
                </a:solidFill>
                <a:latin typeface="Calibri"/>
                <a:cs typeface="Calibri"/>
              </a:rPr>
              <a:t>If a tumor class is predicted, the interface will overlay the tumor-region mask on the original image.</a:t>
            </a:r>
          </a:p>
        </p:txBody>
      </p:sp>
      <p:sp>
        <p:nvSpPr>
          <p:cNvPr id="369" name="uipipe_box0"/>
          <p:cNvSpPr/>
          <p:nvPr/>
        </p:nvSpPr>
        <p:spPr>
          <a:xfrm>
            <a:off x="480000" y="4320000"/>
            <a:ext cx="16092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70" name="uipipe_txt0"/>
          <p:cNvSpPr txBox="1"/>
          <p:nvPr/>
        </p:nvSpPr>
        <p:spPr>
          <a:xfrm>
            <a:off x="5765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5F7FF"/>
                </a:solidFill>
                <a:latin typeface="Calibri"/>
                <a:ea typeface="Calibri"/>
                <a:cs typeface="Calibri"/>
              </a:rPr>
              <a:t>Upload MRI</a:t>
            </a:r>
          </a:p>
        </p:txBody>
      </p:sp>
      <p:sp>
        <p:nvSpPr>
          <p:cNvPr id="371" name="uipipe_arrow0"/>
          <p:cNvSpPr/>
          <p:nvPr/>
        </p:nvSpPr>
        <p:spPr>
          <a:xfrm>
            <a:off x="2089200" y="4788000"/>
            <a:ext cx="834400" cy="364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372" name="uipipe_box1"/>
          <p:cNvSpPr/>
          <p:nvPr/>
        </p:nvSpPr>
        <p:spPr>
          <a:xfrm>
            <a:off x="2923600" y="4320000"/>
            <a:ext cx="16092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73" name="uipipe_txt1"/>
          <p:cNvSpPr txBox="1"/>
          <p:nvPr/>
        </p:nvSpPr>
        <p:spPr>
          <a:xfrm>
            <a:off x="3020152" y="4320000"/>
            <a:ext cx="1416096" cy="1300000"/>
          </a:xfrm>
          <a:prstGeom prst="rect">
            <a:avLst/>
          </a:prstGeom>
          <a:noFill/>
          <a:ln>
            <a:noFill/>
          </a:ln>
        </p:spPr>
        <p:txBody>
          <a:bodyPr wrap="square" lIns="0" tIns="0" rIns="0" bIns="0" anchor="ctr">
            <a:noAutofit/>
          </a:bodyPr>
          <a:lstStyle/>
          <a:p>
            <a:pPr algn="ctr">
              <a:spcAft>
                <a:spcPts val="300"/>
              </a:spcAft>
            </a:pPr>
            <a:r>
              <a:rPr lang="en-US" sz="1200" b="1" i="0" dirty="0">
                <a:solidFill>
                  <a:srgbClr val="F5F7FF"/>
                </a:solidFill>
                <a:latin typeface="Calibri"/>
                <a:ea typeface="Calibri"/>
                <a:cs typeface="Calibri"/>
              </a:rPr>
              <a:t>Gradio App</a:t>
            </a:r>
          </a:p>
        </p:txBody>
      </p:sp>
      <p:sp>
        <p:nvSpPr>
          <p:cNvPr id="374" name="uipipe_arrow1"/>
          <p:cNvSpPr/>
          <p:nvPr/>
        </p:nvSpPr>
        <p:spPr>
          <a:xfrm>
            <a:off x="4532800" y="4788000"/>
            <a:ext cx="834400" cy="364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375" name="uipipe_box2"/>
          <p:cNvSpPr/>
          <p:nvPr/>
        </p:nvSpPr>
        <p:spPr>
          <a:xfrm>
            <a:off x="5367200" y="4320000"/>
            <a:ext cx="1609200" cy="1300000"/>
          </a:xfrm>
          <a:prstGeom prst="roundRect">
            <a:avLst>
              <a:gd name="adj" fmla="val 8000"/>
            </a:avLst>
          </a:prstGeom>
          <a:solidFill>
            <a:srgbClr val="131A44">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76" name="uipipe_txt2"/>
          <p:cNvSpPr txBox="1"/>
          <p:nvPr/>
        </p:nvSpPr>
        <p:spPr>
          <a:xfrm>
            <a:off x="5463752" y="4320000"/>
            <a:ext cx="1416096" cy="13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5F7FF"/>
                </a:solidFill>
                <a:latin typeface="Calibri"/>
                <a:ea typeface="Calibri"/>
                <a:cs typeface="Calibri"/>
              </a:rPr>
              <a:t>Prediction +</a:t>
            </a:r>
          </a:p>
          <a:p>
            <a:pPr algn="ctr">
              <a:spcAft>
                <a:spcPts val="300"/>
              </a:spcAft>
            </a:pPr>
            <a:r>
              <a:rPr lang="en-US" sz="1000" b="0" i="0" dirty="0">
                <a:solidFill>
                  <a:srgbClr val="F5F7FF"/>
                </a:solidFill>
                <a:latin typeface="Calibri"/>
                <a:ea typeface="Calibri"/>
                <a:cs typeface="Calibri"/>
              </a:rPr>
              <a:t>mask (if tumor)</a:t>
            </a:r>
          </a:p>
        </p:txBody>
      </p:sp>
      <p:sp>
        <p:nvSpPr>
          <p:cNvPr id="377" name="uipipe_arrow2"/>
          <p:cNvSpPr/>
          <p:nvPr/>
        </p:nvSpPr>
        <p:spPr>
          <a:xfrm>
            <a:off x="6976400" y="4788000"/>
            <a:ext cx="834400" cy="364000"/>
          </a:xfrm>
          <a:prstGeom prst="rightArrow">
            <a:avLst>
              <a:gd name="adj1" fmla="val 60000"/>
              <a:gd name="adj2" fmla="val 60000"/>
            </a:avLst>
          </a:prstGeom>
          <a:solidFill>
            <a:srgbClr val="22D3EE"/>
          </a:solidFill>
          <a:ln>
            <a:noFill/>
          </a:ln>
        </p:spPr>
        <p:style>
          <a:lnRef idx="0">
            <a:schemeClr val="accent1"/>
          </a:lnRef>
          <a:fillRef idx="0">
            <a:schemeClr val="accent1"/>
          </a:fillRef>
          <a:effectRef idx="0">
            <a:schemeClr val="accent1"/>
          </a:effectRef>
          <a:fontRef idx="minor">
            <a:schemeClr val="tx1"/>
          </a:fontRef>
        </p:style>
        <p:txBody>
          <a:bodyPr/>
          <a:lstStyle/>
          <a:p>
            <a:endParaRPr lang="en-US"/>
          </a:p>
        </p:txBody>
      </p:sp>
      <p:sp>
        <p:nvSpPr>
          <p:cNvPr id="378" name="uipipe_box3"/>
          <p:cNvSpPr/>
          <p:nvPr/>
        </p:nvSpPr>
        <p:spPr>
          <a:xfrm>
            <a:off x="7810800" y="4320000"/>
            <a:ext cx="1609200" cy="1300000"/>
          </a:xfrm>
          <a:prstGeom prst="roundRect">
            <a:avLst>
              <a:gd name="adj" fmla="val 8000"/>
            </a:avLst>
          </a:prstGeom>
          <a:solidFill>
            <a:srgbClr val="0B0F2E">
              <a:alpha val="90000"/>
            </a:srgbClr>
          </a:solid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79" name="uipipe_txt3"/>
          <p:cNvSpPr txBox="1"/>
          <p:nvPr/>
        </p:nvSpPr>
        <p:spPr>
          <a:xfrm>
            <a:off x="7907352" y="4320000"/>
            <a:ext cx="1416096" cy="1300000"/>
          </a:xfrm>
          <a:prstGeom prst="rect">
            <a:avLst/>
          </a:prstGeom>
          <a:noFill/>
          <a:ln>
            <a:noFill/>
          </a:ln>
        </p:spPr>
        <p:txBody>
          <a:bodyPr wrap="square" lIns="0" tIns="0" rIns="0" bIns="0" anchor="ctr">
            <a:noAutofit/>
          </a:bodyPr>
          <a:lstStyle/>
          <a:p>
            <a:pPr algn="ctr">
              <a:spcAft>
                <a:spcPts val="300"/>
              </a:spcAft>
            </a:pPr>
            <a:r>
              <a:rPr lang="en-US" sz="1100" b="1" i="0" dirty="0">
                <a:solidFill>
                  <a:srgbClr val="F5F7FF"/>
                </a:solidFill>
                <a:latin typeface="Calibri"/>
                <a:ea typeface="Calibri"/>
                <a:cs typeface="Calibri"/>
              </a:rPr>
              <a:t>Hosted on</a:t>
            </a:r>
          </a:p>
          <a:p>
            <a:pPr algn="ctr">
              <a:spcAft>
                <a:spcPts val="300"/>
              </a:spcAft>
            </a:pPr>
            <a:r>
              <a:rPr lang="en-US" sz="1100" b="1" i="0" dirty="0">
                <a:solidFill>
                  <a:srgbClr val="F5F7FF"/>
                </a:solidFill>
                <a:latin typeface="Calibri"/>
                <a:ea typeface="Calibri"/>
                <a:cs typeface="Calibri"/>
              </a:rPr>
              <a:t>Hugging Face</a:t>
            </a:r>
          </a:p>
        </p:txBody>
      </p:sp>
      <p:sp>
        <p:nvSpPr>
          <p:cNvPr id="380" name="uinote"/>
          <p:cNvSpPr txBox="1"/>
          <p:nvPr/>
        </p:nvSpPr>
        <p:spPr>
          <a:xfrm>
            <a:off x="480000" y="5870000"/>
            <a:ext cx="8940000" cy="400000"/>
          </a:xfrm>
          <a:prstGeom prst="rect">
            <a:avLst/>
          </a:prstGeom>
          <a:noFill/>
          <a:ln>
            <a:noFill/>
          </a:ln>
        </p:spPr>
        <p:txBody>
          <a:bodyPr wrap="square" lIns="0" tIns="0" rIns="0" bIns="0" anchor="t">
            <a:noAutofit/>
          </a:bodyPr>
          <a:lstStyle/>
          <a:p>
            <a:pPr algn="ctr"/>
            <a:r>
              <a:rPr lang="en-US" sz="1000" b="0" i="1" dirty="0">
                <a:solidFill>
                  <a:srgbClr val="8891B0"/>
                </a:solidFill>
                <a:latin typeface="Calibri"/>
                <a:ea typeface="Calibri"/>
                <a:cs typeface="Calibri"/>
              </a:rPr>
              <a:t>Presented explicitly as a decision-support / educational demonstration — not a diagnostic tool.</a:t>
            </a:r>
          </a:p>
        </p:txBody>
      </p:sp>
      <p:cxnSp>
        <p:nvCxnSpPr>
          <p:cNvPr id="1108"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Application &amp; Impact · 18</a:t>
            </a:r>
          </a:p>
        </p:txBody>
      </p:sp>
    </p:spTree>
    <p:extLst>
      <p:ext uri="{BB962C8B-B14F-4D97-AF65-F5344CB8AC3E}">
        <p14:creationId xmlns:p14="http://schemas.microsoft.com/office/powerpoint/2010/main" val="4080462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9" name="bg19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1110" name="bg19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1" name="bg19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2" name="bg19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3" name="bg19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4" name="bg19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5" name="bg19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6" name="bg19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7" name="bg19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8" name="bg19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9" name="bg19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0" name="bg19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1" name="bg19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2" name="bg19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3" name="bg19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4" name="bg19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5" name="bg19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6" name="bg19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7" name="bg19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8" name="bg19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9" name="bg19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30" name="bg19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31" name="bg19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32" name="bg19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133" name="bg19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134" name="corner19_e0_2"/>
          <p:cNvCxnSpPr/>
          <p:nvPr/>
        </p:nvCxnSpPr>
        <p:spPr>
          <a:xfrm>
            <a:off x="9428161" y="1074014"/>
            <a:ext cx="296285" cy="20575"/>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135" name="corner19_e0_4"/>
          <p:cNvCxnSpPr/>
          <p:nvPr/>
        </p:nvCxnSpPr>
        <p:spPr>
          <a:xfrm flipH="1" flipV="1">
            <a:off x="9408169" y="700088"/>
            <a:ext cx="19992" cy="373926"/>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136" name="corner19_e1_3"/>
          <p:cNvCxnSpPr/>
          <p:nvPr/>
        </p:nvCxnSpPr>
        <p:spPr>
          <a:xfrm flipV="1">
            <a:off x="9507054" y="220088"/>
            <a:ext cx="103114" cy="190273"/>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137" name="corner19_e1_4"/>
          <p:cNvCxnSpPr/>
          <p:nvPr/>
        </p:nvCxnSpPr>
        <p:spPr>
          <a:xfrm flipH="1">
            <a:off x="9408169" y="410361"/>
            <a:ext cx="98885" cy="289727"/>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138" name="corner19_e2_4"/>
          <p:cNvCxnSpPr/>
          <p:nvPr/>
        </p:nvCxnSpPr>
        <p:spPr>
          <a:xfrm flipH="1" flipV="1">
            <a:off x="9408169" y="700088"/>
            <a:ext cx="316277" cy="394501"/>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139" name="corner19_e3_4"/>
          <p:cNvCxnSpPr/>
          <p:nvPr/>
        </p:nvCxnSpPr>
        <p:spPr>
          <a:xfrm flipH="1">
            <a:off x="9408169" y="220088"/>
            <a:ext cx="201999" cy="48000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1140" name="corner19_n0"/>
          <p:cNvSpPr/>
          <p:nvPr/>
        </p:nvSpPr>
        <p:spPr>
          <a:xfrm>
            <a:off x="9421161" y="1067014"/>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41" name="corner19_n1"/>
          <p:cNvSpPr/>
          <p:nvPr/>
        </p:nvSpPr>
        <p:spPr>
          <a:xfrm>
            <a:off x="9497054" y="400361"/>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42" name="corner19_n2"/>
          <p:cNvSpPr/>
          <p:nvPr/>
        </p:nvSpPr>
        <p:spPr>
          <a:xfrm>
            <a:off x="9711446" y="1081589"/>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43" name="corner19_n3"/>
          <p:cNvSpPr/>
          <p:nvPr/>
        </p:nvSpPr>
        <p:spPr>
          <a:xfrm>
            <a:off x="9603168" y="213088"/>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44" name="corner19_n4"/>
          <p:cNvSpPr/>
          <p:nvPr/>
        </p:nvSpPr>
        <p:spPr>
          <a:xfrm>
            <a:off x="9398169" y="690088"/>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5.2</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APPLICATION &amp; IMPACT</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19</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1145"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8600000" cy="680000"/>
          </a:xfrm>
        </p:spPr>
        <p:txBody>
          <a:bodyPr>
            <a:normAutofit/>
          </a:bodyPr>
          <a:lstStyle/>
          <a:p>
            <a:r>
              <a:rPr lang="en-US" altLang="ko-KR" sz="3200" b="1" dirty="0">
                <a:solidFill>
                  <a:srgbClr val="FFFFFF"/>
                </a:solidFill>
                <a:latin typeface="Calibri"/>
                <a:cs typeface="Calibri"/>
              </a:rPr>
              <a:t>Limitations &amp; Future Improvements</a:t>
            </a:r>
            <a:endParaRPr lang="ko-KR" altLang="en-US" sz="3200" dirty="0"/>
          </a:p>
        </p:txBody>
      </p:sp>
      <p:sp>
        <p:nvSpPr>
          <p:cNvPr id="7" name="Body"/>
          <p:cNvSpPr>
            <a:spLocks noGrp="1"/>
          </p:cNvSpPr>
          <p:nvPr>
            <p:ph type="body" sz="quarter" idx="15"/>
          </p:nvPr>
        </p:nvSpPr>
        <p:spPr>
          <a:xfrm>
            <a:off x="522288" y="1650000"/>
            <a:ext cx="8055439"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We state our limitations in advance, together with the corresponding future work.</a:t>
            </a:r>
          </a:p>
        </p:txBody>
      </p:sp>
      <p:sp>
        <p:nvSpPr>
          <p:cNvPr id="381" name="limcard_bg0"/>
          <p:cNvSpPr/>
          <p:nvPr/>
        </p:nvSpPr>
        <p:spPr>
          <a:xfrm>
            <a:off x="480000" y="3370000"/>
            <a:ext cx="4295000" cy="2100000"/>
          </a:xfrm>
          <a:prstGeom prst="roundRect">
            <a:avLst>
              <a:gd name="adj" fmla="val 8000"/>
            </a:avLst>
          </a:prstGeom>
          <a:solidFill>
            <a:srgbClr val="3A1030">
              <a:alpha val="90000"/>
            </a:srgbClr>
          </a:solidFill>
          <a:ln w="9525">
            <a:solidFill>
              <a:srgbClr val="FF4D6D">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82" name="limcard_hdr0"/>
          <p:cNvSpPr txBox="1"/>
          <p:nvPr/>
        </p:nvSpPr>
        <p:spPr>
          <a:xfrm>
            <a:off x="823600" y="3538000"/>
            <a:ext cx="3607800" cy="588000"/>
          </a:xfrm>
          <a:prstGeom prst="rect">
            <a:avLst/>
          </a:prstGeom>
          <a:noFill/>
          <a:ln>
            <a:noFill/>
          </a:ln>
        </p:spPr>
        <p:txBody>
          <a:bodyPr wrap="square" lIns="0" tIns="0" rIns="0" bIns="0" anchor="t">
            <a:noAutofit/>
          </a:bodyPr>
          <a:lstStyle/>
          <a:p>
            <a:pPr algn="ctr"/>
            <a:r>
              <a:rPr lang="en-US" sz="1200" b="1" i="0" dirty="0">
                <a:solidFill>
                  <a:srgbClr val="FF4D6D"/>
                </a:solidFill>
                <a:latin typeface="Calibri"/>
                <a:ea typeface="Calibri"/>
                <a:cs typeface="Calibri"/>
              </a:rPr>
              <a:t>Limitations</a:t>
            </a:r>
          </a:p>
        </p:txBody>
      </p:sp>
      <p:sp>
        <p:nvSpPr>
          <p:cNvPr id="383" name="limcard_sub0"/>
          <p:cNvSpPr txBox="1"/>
          <p:nvPr/>
        </p:nvSpPr>
        <p:spPr>
          <a:xfrm>
            <a:off x="823600" y="4084000"/>
            <a:ext cx="3607800" cy="1344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No patient ID — patient-level split not possible; residual leakage cannot be excluded</a:t>
            </a:r>
          </a:p>
          <a:p>
            <a:pPr algn="ctr">
              <a:spcAft>
                <a:spcPts val="300"/>
              </a:spcAft>
            </a:pPr>
            <a:r>
              <a:rPr lang="en-US" sz="1000" b="0" i="0" dirty="0">
                <a:solidFill>
                  <a:srgbClr val="E7EAF6"/>
                </a:solidFill>
                <a:latin typeface="Calibri"/>
                <a:ea typeface="Calibri"/>
                <a:cs typeface="Calibri"/>
              </a:rPr>
              <a:t>All evaluation is retrospective, on one curated dataset</a:t>
            </a:r>
          </a:p>
          <a:p>
            <a:pPr algn="ctr">
              <a:spcAft>
                <a:spcPts val="300"/>
              </a:spcAft>
            </a:pPr>
            <a:r>
              <a:rPr lang="en-US" sz="1000" b="0" i="0" dirty="0">
                <a:solidFill>
                  <a:srgbClr val="E7EAF6"/>
                </a:solidFill>
                <a:latin typeface="Calibri"/>
                <a:ea typeface="Calibri"/>
                <a:cs typeface="Calibri"/>
              </a:rPr>
              <a:t>Clinical use would need independent prospective validation + regulatory approval</a:t>
            </a:r>
          </a:p>
        </p:txBody>
      </p:sp>
      <p:sp>
        <p:nvSpPr>
          <p:cNvPr id="384" name="limcard_bg1"/>
          <p:cNvSpPr/>
          <p:nvPr/>
        </p:nvSpPr>
        <p:spPr>
          <a:xfrm>
            <a:off x="5125000" y="3370000"/>
            <a:ext cx="4295000" cy="2100000"/>
          </a:xfrm>
          <a:prstGeom prst="roundRect">
            <a:avLst>
              <a:gd name="adj" fmla="val 8000"/>
            </a:avLst>
          </a:prstGeom>
          <a:solidFill>
            <a:srgbClr val="131A44">
              <a:alpha val="90000"/>
            </a:srgbClr>
          </a:solidFill>
          <a:ln w="9525">
            <a:solidFill>
              <a:srgbClr val="22D3EE">
                <a:alpha val="40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85" name="limcard_hdr1"/>
          <p:cNvSpPr txBox="1"/>
          <p:nvPr/>
        </p:nvSpPr>
        <p:spPr>
          <a:xfrm>
            <a:off x="5468600" y="3538000"/>
            <a:ext cx="3607800" cy="588000"/>
          </a:xfrm>
          <a:prstGeom prst="rect">
            <a:avLst/>
          </a:prstGeom>
          <a:noFill/>
          <a:ln>
            <a:noFill/>
          </a:ln>
        </p:spPr>
        <p:txBody>
          <a:bodyPr wrap="square" lIns="0" tIns="0" rIns="0" bIns="0" anchor="t">
            <a:noAutofit/>
          </a:bodyPr>
          <a:lstStyle/>
          <a:p>
            <a:pPr algn="ctr"/>
            <a:r>
              <a:rPr lang="en-US" sz="1200" b="1" i="0" dirty="0">
                <a:solidFill>
                  <a:srgbClr val="22D3EE"/>
                </a:solidFill>
                <a:latin typeface="Calibri"/>
                <a:ea typeface="Calibri"/>
                <a:cs typeface="Calibri"/>
              </a:rPr>
              <a:t>Future Improvements</a:t>
            </a:r>
          </a:p>
        </p:txBody>
      </p:sp>
      <p:sp>
        <p:nvSpPr>
          <p:cNvPr id="386" name="limcard_sub1"/>
          <p:cNvSpPr txBox="1"/>
          <p:nvPr/>
        </p:nvSpPr>
        <p:spPr>
          <a:xfrm>
            <a:off x="5468600" y="4084000"/>
            <a:ext cx="3607800" cy="1344000"/>
          </a:xfrm>
          <a:prstGeom prst="rect">
            <a:avLst/>
          </a:prstGeom>
          <a:noFill/>
          <a:ln>
            <a:noFill/>
          </a:ln>
        </p:spPr>
        <p:txBody>
          <a:bodyPr wrap="square" lIns="0" tIns="0" rIns="0" bIns="0" anchor="t">
            <a:noAutofit/>
          </a:bodyPr>
          <a:lstStyle/>
          <a:p>
            <a:pPr algn="ctr">
              <a:spcAft>
                <a:spcPts val="300"/>
              </a:spcAft>
            </a:pPr>
            <a:r>
              <a:rPr lang="en-US" sz="1000" b="0" i="0" dirty="0">
                <a:solidFill>
                  <a:srgbClr val="E7EAF6"/>
                </a:solidFill>
                <a:latin typeface="Calibri"/>
                <a:ea typeface="Calibri"/>
                <a:cs typeface="Calibri"/>
              </a:rPr>
              <a:t>Extend to coronal and sagittal image planes</a:t>
            </a:r>
          </a:p>
          <a:p>
            <a:pPr algn="ctr">
              <a:spcAft>
                <a:spcPts val="300"/>
              </a:spcAft>
            </a:pPr>
            <a:r>
              <a:rPr lang="en-US" sz="1000" b="0" i="0" dirty="0">
                <a:solidFill>
                  <a:srgbClr val="E7EAF6"/>
                </a:solidFill>
                <a:latin typeface="Calibri"/>
                <a:ea typeface="Calibri"/>
                <a:cs typeface="Calibri"/>
              </a:rPr>
              <a:t>Independent, prospectively collected validation data</a:t>
            </a:r>
          </a:p>
          <a:p>
            <a:pPr algn="ctr">
              <a:spcAft>
                <a:spcPts val="300"/>
              </a:spcAft>
            </a:pPr>
            <a:r>
              <a:rPr lang="en-US" sz="1000" b="0" i="0" dirty="0">
                <a:solidFill>
                  <a:srgbClr val="E7EAF6"/>
                </a:solidFill>
                <a:latin typeface="Calibri"/>
                <a:ea typeface="Calibri"/>
                <a:cs typeface="Calibri"/>
              </a:rPr>
              <a:t>Broader robustness testing across scanners/sites</a:t>
            </a:r>
          </a:p>
        </p:txBody>
      </p:sp>
      <p:cxnSp>
        <p:nvCxnSpPr>
          <p:cNvPr id="1146"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Application &amp; Impact · 19</a:t>
            </a:r>
          </a:p>
        </p:txBody>
      </p:sp>
    </p:spTree>
    <p:extLst>
      <p:ext uri="{BB962C8B-B14F-4D97-AF65-F5344CB8AC3E}">
        <p14:creationId xmlns:p14="http://schemas.microsoft.com/office/powerpoint/2010/main" val="4080462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bg20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endParaRPr lang="en-US"/>
          </a:p>
        </p:txBody>
      </p:sp>
      <p:cxnSp>
        <p:nvCxnSpPr>
          <p:cNvPr id="1148" name="bg20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49" name="bg20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0" name="bg20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1" name="bg20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2" name="bg20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3" name="bg20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4" name="bg20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5" name="bg20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6" name="bg20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7" name="bg20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8" name="bg20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9" name="bg20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0" name="bg20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1" name="bg20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2" name="bg20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3" name="bg20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4" name="bg20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5" name="bg20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6" name="bg20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7" name="bg20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8" name="bg20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9" name="bg20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70" name="bg20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171" name="bg20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172" name="corner20_e0_2"/>
          <p:cNvCxnSpPr/>
          <p:nvPr/>
        </p:nvCxnSpPr>
        <p:spPr>
          <a:xfrm flipH="1" flipV="1">
            <a:off x="8936251" y="239566"/>
            <a:ext cx="230123" cy="4313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173" name="corner20_e0_3"/>
          <p:cNvCxnSpPr/>
          <p:nvPr/>
        </p:nvCxnSpPr>
        <p:spPr>
          <a:xfrm>
            <a:off x="9166374" y="282705"/>
            <a:ext cx="350134" cy="13635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174" name="corner20_e1_4"/>
          <p:cNvCxnSpPr/>
          <p:nvPr/>
        </p:nvCxnSpPr>
        <p:spPr>
          <a:xfrm flipH="1" flipV="1">
            <a:off x="9261099" y="786743"/>
            <a:ext cx="122650" cy="34189"/>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175" name="corner20_e1_3"/>
          <p:cNvCxnSpPr/>
          <p:nvPr/>
        </p:nvCxnSpPr>
        <p:spPr>
          <a:xfrm flipV="1">
            <a:off x="9383749" y="419058"/>
            <a:ext cx="132759" cy="401874"/>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176" name="corner20_e2_3"/>
          <p:cNvCxnSpPr/>
          <p:nvPr/>
        </p:nvCxnSpPr>
        <p:spPr>
          <a:xfrm>
            <a:off x="8936251" y="239566"/>
            <a:ext cx="580257" cy="17949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177" name="corner20_e4_3"/>
          <p:cNvCxnSpPr/>
          <p:nvPr/>
        </p:nvCxnSpPr>
        <p:spPr>
          <a:xfrm flipV="1">
            <a:off x="9261099" y="419058"/>
            <a:ext cx="255409" cy="367685"/>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1178" name="corner20_n0"/>
          <p:cNvSpPr/>
          <p:nvPr/>
        </p:nvSpPr>
        <p:spPr>
          <a:xfrm>
            <a:off x="9159374" y="275705"/>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79" name="corner20_n1"/>
          <p:cNvSpPr/>
          <p:nvPr/>
        </p:nvSpPr>
        <p:spPr>
          <a:xfrm>
            <a:off x="9373749" y="810932"/>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80" name="corner20_n2"/>
          <p:cNvSpPr/>
          <p:nvPr/>
        </p:nvSpPr>
        <p:spPr>
          <a:xfrm>
            <a:off x="8923251" y="226566"/>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81" name="corner20_n3"/>
          <p:cNvSpPr/>
          <p:nvPr/>
        </p:nvSpPr>
        <p:spPr>
          <a:xfrm>
            <a:off x="9509508" y="412058"/>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182" name="corner20_n4"/>
          <p:cNvSpPr/>
          <p:nvPr/>
        </p:nvSpPr>
        <p:spPr>
          <a:xfrm>
            <a:off x="9251099" y="776743"/>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3" name="Crumb Num"/>
          <p:cNvSpPr/>
          <p:nvPr/>
        </p:nvSpPr>
        <p:spPr>
          <a:xfrm>
            <a:off x="480000" y="330000"/>
            <a:ext cx="700000" cy="260000"/>
          </a:xfrm>
          <a:prstGeom prst="rect">
            <a:avLst/>
          </a:prstGeom>
          <a:noFill/>
          <a:ln>
            <a:noFill/>
          </a:ln>
        </p:spPr>
        <p:txBody>
          <a:bodyPr wrap="square" lIns="0" tIns="0" rIns="0" bIns="0"/>
          <a:lstStyle/>
          <a:p>
            <a:r>
              <a:rPr lang="en-US" altLang="ko-KR" sz="1150" dirty="0">
                <a:solidFill>
                  <a:srgbClr val="C4B5FD"/>
                </a:solidFill>
                <a:latin typeface="Calibri"/>
              </a:rPr>
              <a:t>5.3</a:t>
            </a:r>
          </a:p>
        </p:txBody>
      </p:sp>
      <p:sp>
        <p:nvSpPr>
          <p:cNvPr id="4" name="Crumb Text"/>
          <p:cNvSpPr/>
          <p:nvPr/>
        </p:nvSpPr>
        <p:spPr>
          <a:xfrm>
            <a:off x="790000" y="300000"/>
            <a:ext cx="6800000" cy="320000"/>
          </a:xfrm>
          <a:prstGeom prst="rect">
            <a:avLst/>
          </a:prstGeom>
          <a:noFill/>
          <a:ln>
            <a:noFill/>
          </a:ln>
        </p:spPr>
        <p:txBody>
          <a:bodyPr wrap="square" lIns="0" tIns="0" rIns="0" bIns="0"/>
          <a:lstStyle/>
          <a:p>
            <a:r>
              <a:rPr lang="en-US" altLang="ko-KR" sz="1300" dirty="0">
                <a:solidFill>
                  <a:srgbClr val="67E8F9"/>
                </a:solidFill>
                <a:latin typeface="Calibri"/>
              </a:rPr>
              <a:t>APPLICATION &amp; IMPACT</a:t>
            </a:r>
          </a:p>
        </p:txBody>
      </p:sp>
      <p:sp>
        <p:nvSpPr>
          <p:cNvPr id="5" name="Unit Num"/>
          <p:cNvSpPr/>
          <p:nvPr/>
        </p:nvSpPr>
        <p:spPr>
          <a:xfrm>
            <a:off x="9012825" y="330000"/>
            <a:ext cx="440625" cy="260000"/>
          </a:xfrm>
          <a:prstGeom prst="rect">
            <a:avLst/>
          </a:prstGeom>
          <a:noFill/>
          <a:ln>
            <a:noFill/>
          </a:ln>
        </p:spPr>
        <p:txBody>
          <a:bodyPr wrap="square" lIns="0" tIns="0" rIns="0" bIns="0"/>
          <a:lstStyle/>
          <a:p>
            <a:pPr algn="r"/>
            <a:r>
              <a:rPr lang="en-US" altLang="ko-KR" sz="1150" b="1" dirty="0">
                <a:solidFill>
                  <a:srgbClr val="22D3EE"/>
                </a:solidFill>
                <a:latin typeface="Calibri"/>
              </a:rPr>
              <a:t>20</a:t>
            </a:r>
          </a:p>
        </p:txBody>
      </p:sp>
      <p:sp>
        <p:nvSpPr>
          <p:cNvPr id="6" name="Unit Label"/>
          <p:cNvSpPr/>
          <p:nvPr/>
        </p:nvSpPr>
        <p:spPr>
          <a:xfrm>
            <a:off x="8540667" y="330000"/>
            <a:ext cx="467850" cy="260000"/>
          </a:xfrm>
          <a:prstGeom prst="rect">
            <a:avLst/>
          </a:prstGeom>
          <a:noFill/>
          <a:ln>
            <a:noFill/>
          </a:ln>
        </p:spPr>
        <p:txBody>
          <a:bodyPr wrap="square" lIns="0" tIns="0" rIns="0" bIns="0"/>
          <a:lstStyle/>
          <a:p>
            <a:pPr algn="r"/>
            <a:r>
              <a:rPr lang="en-US" altLang="ko-KR" sz="1150" dirty="0">
                <a:solidFill>
                  <a:srgbClr val="8891B0"/>
                </a:solidFill>
                <a:latin typeface="Calibri"/>
              </a:rPr>
              <a:t>UNIT</a:t>
            </a:r>
          </a:p>
        </p:txBody>
      </p:sp>
      <p:cxnSp>
        <p:nvCxnSpPr>
          <p:cNvPr id="1183" name="headerrule"/>
          <p:cNvCxnSpPr/>
          <p:nvPr/>
        </p:nvCxnSpPr>
        <p:spPr>
          <a:xfrm>
            <a:off x="480000" y="720000"/>
            <a:ext cx="8940000" cy="1"/>
          </a:xfrm>
          <a:prstGeom prst="line">
            <a:avLst/>
          </a:prstGeom>
          <a:ln w="9525">
            <a:solidFill>
              <a:srgbClr val="22D3EE">
                <a:alpha val="25000"/>
              </a:srgbClr>
            </a:solidFill>
          </a:ln>
        </p:spPr>
        <p:style>
          <a:lnRef idx="1">
            <a:schemeClr val="accent1"/>
          </a:lnRef>
          <a:fillRef idx="0">
            <a:schemeClr val="accent1"/>
          </a:fillRef>
          <a:effectRef idx="0">
            <a:schemeClr val="accent1"/>
          </a:effectRef>
          <a:fontRef idx="minor">
            <a:schemeClr val="tx1"/>
          </a:fontRef>
        </p:style>
      </p:cxnSp>
      <p:sp>
        <p:nvSpPr>
          <p:cNvPr id="2" name="Title"/>
          <p:cNvSpPr>
            <a:spLocks noGrp="1"/>
          </p:cNvSpPr>
          <p:nvPr>
            <p:ph type="title"/>
          </p:nvPr>
        </p:nvSpPr>
        <p:spPr>
          <a:xfrm>
            <a:off x="449468" y="800000"/>
            <a:ext cx="5300000" cy="680000"/>
          </a:xfrm>
        </p:spPr>
        <p:txBody>
          <a:bodyPr>
            <a:normAutofit/>
          </a:bodyPr>
          <a:lstStyle/>
          <a:p>
            <a:r>
              <a:rPr lang="en-US" altLang="ko-KR" sz="3200" b="1" dirty="0">
                <a:solidFill>
                  <a:srgbClr val="FFFFFF"/>
                </a:solidFill>
                <a:latin typeface="Calibri"/>
                <a:cs typeface="Calibri"/>
              </a:rPr>
              <a:t>Project Impact &amp; Conclusion</a:t>
            </a:r>
            <a:endParaRPr lang="ko-KR" altLang="en-US" sz="3200" dirty="0"/>
          </a:p>
        </p:txBody>
      </p:sp>
      <p:sp>
        <p:nvSpPr>
          <p:cNvPr id="7" name="Body"/>
          <p:cNvSpPr>
            <a:spLocks noGrp="1"/>
          </p:cNvSpPr>
          <p:nvPr>
            <p:ph type="body" sz="quarter" idx="15"/>
          </p:nvPr>
        </p:nvSpPr>
        <p:spPr>
          <a:xfrm>
            <a:off x="522288" y="1650000"/>
            <a:ext cx="5100000" cy="1650000"/>
          </a:xfrm>
        </p:spPr>
        <p:txBody>
          <a:bodyPr/>
          <a:lstStyle/>
          <a:p>
            <a:pPr marL="228600" indent="-228600">
              <a:buClr>
                <a:srgbClr val="22D3EE"/>
              </a:buClr>
              <a:buFont typeface="Arial"/>
              <a:buChar char="▸"/>
            </a:pPr>
            <a:r>
              <a:rPr lang="en-US" altLang="ko-KR" dirty="0">
                <a:solidFill>
                  <a:srgbClr val="DCE2F5"/>
                </a:solidFill>
                <a:latin typeface="Calibri"/>
                <a:cs typeface="Calibri"/>
              </a:rPr>
              <a:t>Our project combines tumor-type classification with tumor localization in a single pipeline.</a:t>
            </a:r>
          </a:p>
          <a:p>
            <a:pPr marL="228600" indent="-228600">
              <a:buClr>
                <a:srgbClr val="22D3EE"/>
              </a:buClr>
              <a:buFont typeface="Arial"/>
              <a:buChar char="▸"/>
            </a:pPr>
            <a:r>
              <a:rPr lang="en-US" altLang="ko-KR" dirty="0">
                <a:solidFill>
                  <a:srgbClr val="DCE2F5"/>
                </a:solidFill>
                <a:latin typeface="Calibri"/>
                <a:cs typeface="Calibri"/>
              </a:rPr>
              <a:t>Intended benefit: less time spent on manual tumor delineation, plus a consistent second reading to support expert review.</a:t>
            </a:r>
          </a:p>
          <a:p>
            <a:pPr marL="228600" indent="-228600">
              <a:buClr>
                <a:srgbClr val="22D3EE"/>
              </a:buClr>
              <a:buFont typeface="Arial"/>
              <a:buChar char="▸"/>
            </a:pPr>
            <a:r>
              <a:rPr lang="en-US" altLang="ko-KR" dirty="0">
                <a:solidFill>
                  <a:srgbClr val="DCE2F5"/>
                </a:solidFill>
                <a:latin typeface="Calibri"/>
                <a:cs typeface="Calibri"/>
              </a:rPr>
              <a:t>Presented as a non-diagnostic, educational decision-support system — not a replacement for expert review.</a:t>
            </a:r>
          </a:p>
        </p:txBody>
      </p:sp>
      <p:sp>
        <p:nvSpPr>
          <p:cNvPr id="387" name="conclcard"/>
          <p:cNvSpPr/>
          <p:nvPr/>
        </p:nvSpPr>
        <p:spPr>
          <a:xfrm>
            <a:off x="480000" y="4420000"/>
            <a:ext cx="5000000" cy="1550000"/>
          </a:xfrm>
          <a:prstGeom prst="roundRect">
            <a:avLst>
              <a:gd name="adj" fmla="val 4000"/>
            </a:avLst>
          </a:prstGeom>
          <a:gradFill>
            <a:gsLst>
              <a:gs pos="0">
                <a:srgbClr val="0B1550">
                  <a:alpha val="88000"/>
                </a:srgbClr>
              </a:gs>
              <a:gs pos="100000">
                <a:srgbClr val="2A1258">
                  <a:alpha val="88000"/>
                </a:srgbClr>
              </a:gs>
            </a:gsLst>
            <a:lin ang="3600000" scaled="1"/>
          </a:gradFill>
          <a:ln>
            <a:noFill/>
          </a:ln>
        </p:spPr>
        <p:txBody>
          <a:bodyPr/>
          <a:lstStyle/>
          <a:p>
            <a:endParaRPr lang="en-US"/>
          </a:p>
        </p:txBody>
      </p:sp>
      <p:sp>
        <p:nvSpPr>
          <p:cNvPr id="388" name="conclcardborder"/>
          <p:cNvSpPr/>
          <p:nvPr/>
        </p:nvSpPr>
        <p:spPr>
          <a:xfrm>
            <a:off x="480000" y="4420000"/>
            <a:ext cx="5000000" cy="1550000"/>
          </a:xfrm>
          <a:prstGeom prst="roundRect">
            <a:avLst>
              <a:gd name="adj" fmla="val 8000"/>
            </a:avLst>
          </a:prstGeom>
          <a:noFill/>
          <a:ln w="9525">
            <a:solidFill>
              <a:srgbClr val="22D3EE">
                <a:alpha val="5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89" name="concltxt"/>
          <p:cNvSpPr txBox="1"/>
          <p:nvPr/>
        </p:nvSpPr>
        <p:spPr>
          <a:xfrm>
            <a:off x="830000" y="4590000"/>
            <a:ext cx="4300000" cy="1250000"/>
          </a:xfrm>
          <a:prstGeom prst="rect">
            <a:avLst/>
          </a:prstGeom>
          <a:noFill/>
          <a:ln>
            <a:noFill/>
          </a:ln>
        </p:spPr>
        <p:txBody>
          <a:bodyPr wrap="square" lIns="0" tIns="0" rIns="0" bIns="0" anchor="ctr">
            <a:noAutofit/>
          </a:bodyPr>
          <a:lstStyle/>
          <a:p>
            <a:pPr algn="l">
              <a:spcAft>
                <a:spcPts val="300"/>
              </a:spcAft>
            </a:pPr>
            <a:r>
              <a:rPr lang="en-US" sz="1300" b="1" i="1" dirty="0">
                <a:solidFill>
                  <a:srgbClr val="F5F7FF"/>
                </a:solidFill>
                <a:latin typeface="Calibri"/>
                <a:ea typeface="Calibri"/>
                <a:cs typeface="Calibri"/>
              </a:rPr>
              <a:t>Our two-stage pipeline is designed</a:t>
            </a:r>
          </a:p>
          <a:p>
            <a:pPr algn="l">
              <a:spcAft>
                <a:spcPts val="300"/>
              </a:spcAft>
            </a:pPr>
            <a:r>
              <a:rPr lang="en-US" sz="1300" b="1" i="1" dirty="0">
                <a:solidFill>
                  <a:srgbClr val="F5F7FF"/>
                </a:solidFill>
                <a:latin typeface="Calibri"/>
                <a:ea typeface="Calibri"/>
                <a:cs typeface="Calibri"/>
              </a:rPr>
              <a:t>to answer both what the tumor is</a:t>
            </a:r>
          </a:p>
          <a:p>
            <a:pPr algn="l">
              <a:spcAft>
                <a:spcPts val="300"/>
              </a:spcAft>
            </a:pPr>
            <a:r>
              <a:rPr lang="en-US" sz="1300" b="1" i="1" dirty="0">
                <a:solidFill>
                  <a:srgbClr val="F5F7FF"/>
                </a:solidFill>
                <a:latin typeface="Calibri"/>
                <a:ea typeface="Calibri"/>
                <a:cs typeface="Calibri"/>
              </a:rPr>
              <a:t>and where it is — supporting, not</a:t>
            </a:r>
          </a:p>
          <a:p>
            <a:pPr algn="l">
              <a:spcAft>
                <a:spcPts val="300"/>
              </a:spcAft>
            </a:pPr>
            <a:r>
              <a:rPr lang="en-US" sz="1300" b="1" i="1" dirty="0">
                <a:solidFill>
                  <a:srgbClr val="F5F7FF"/>
                </a:solidFill>
                <a:latin typeface="Calibri"/>
                <a:ea typeface="Calibri"/>
                <a:cs typeface="Calibri"/>
              </a:rPr>
              <a:t>replacing, expert review.</a:t>
            </a:r>
          </a:p>
        </p:txBody>
      </p:sp>
      <p:sp>
        <p:nvSpPr>
          <p:cNvPr id="390" name="conclmri_bg"/>
          <p:cNvSpPr/>
          <p:nvPr/>
        </p:nvSpPr>
        <p:spPr>
          <a:xfrm>
            <a:off x="5930000" y="3270000"/>
            <a:ext cx="3400000" cy="3400000"/>
          </a:xfrm>
          <a:prstGeom prst="roundRect">
            <a:avLst>
              <a:gd name="adj" fmla="val 6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391" name="conclmri_border"/>
          <p:cNvSpPr/>
          <p:nvPr/>
        </p:nvSpPr>
        <p:spPr>
          <a:xfrm>
            <a:off x="5930000" y="3270000"/>
            <a:ext cx="3400000" cy="3400000"/>
          </a:xfrm>
          <a:prstGeom prst="roundRect">
            <a:avLst>
              <a:gd name="adj" fmla="val 6000"/>
            </a:avLst>
          </a:prstGeom>
          <a:no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cxnSp>
        <p:nvCxnSpPr>
          <p:cNvPr id="392" name="conclmri_ck1"/>
          <p:cNvCxnSpPr/>
          <p:nvPr/>
        </p:nvCxnSpPr>
        <p:spPr>
          <a:xfrm>
            <a:off x="6083000" y="3423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3" name="conclmri_ck2"/>
          <p:cNvCxnSpPr/>
          <p:nvPr/>
        </p:nvCxnSpPr>
        <p:spPr>
          <a:xfrm>
            <a:off x="6083000" y="3423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4" name="conclmri_ck1"/>
          <p:cNvCxnSpPr/>
          <p:nvPr/>
        </p:nvCxnSpPr>
        <p:spPr>
          <a:xfrm flipH="1">
            <a:off x="8871000" y="3423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5" name="conclmri_ck2"/>
          <p:cNvCxnSpPr/>
          <p:nvPr/>
        </p:nvCxnSpPr>
        <p:spPr>
          <a:xfrm>
            <a:off x="9177000" y="3423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6" name="conclmri_ck1"/>
          <p:cNvCxnSpPr/>
          <p:nvPr/>
        </p:nvCxnSpPr>
        <p:spPr>
          <a:xfrm>
            <a:off x="6083000" y="6517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7" name="conclmri_ck2"/>
          <p:cNvCxnSpPr/>
          <p:nvPr/>
        </p:nvCxnSpPr>
        <p:spPr>
          <a:xfrm flipV="1">
            <a:off x="6083000" y="6211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8" name="conclmri_ck1"/>
          <p:cNvCxnSpPr/>
          <p:nvPr/>
        </p:nvCxnSpPr>
        <p:spPr>
          <a:xfrm flipH="1">
            <a:off x="8871000" y="6517000"/>
            <a:ext cx="3060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399" name="conclmri_ck2"/>
          <p:cNvCxnSpPr/>
          <p:nvPr/>
        </p:nvCxnSpPr>
        <p:spPr>
          <a:xfrm flipV="1">
            <a:off x="9177000" y="6211000"/>
            <a:ext cx="1" cy="3060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sp>
        <p:nvSpPr>
          <p:cNvPr id="400" name="conclmri_brain"/>
          <p:cNvSpPr/>
          <p:nvPr/>
        </p:nvSpPr>
        <p:spPr>
          <a:xfrm>
            <a:off x="6576000" y="3712000"/>
            <a:ext cx="2108000" cy="168640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3000"/>
            </a:srgbClr>
          </a:solidFill>
          <a:ln w="15875">
            <a:solidFill>
              <a:srgbClr val="67E8F9">
                <a:alpha val="60000"/>
              </a:srgbClr>
            </a:solidFill>
          </a:ln>
        </p:spPr>
        <p:txBody>
          <a:bodyPr/>
          <a:lstStyle/>
          <a:p>
            <a:endParaRPr lang="en-US"/>
          </a:p>
        </p:txBody>
      </p:sp>
      <p:sp>
        <p:nvSpPr>
          <p:cNvPr id="401" name="conclmri_fissure"/>
          <p:cNvSpPr/>
          <p:nvPr/>
        </p:nvSpPr>
        <p:spPr>
          <a:xfrm>
            <a:off x="6576000" y="3712000"/>
            <a:ext cx="2108000" cy="1686400"/>
          </a:xfrm>
          <a:custGeom>
            <a:avLst/>
            <a:gdLst/>
            <a:ahLst/>
            <a:cxnLst/>
            <a:rect l="0" t="0" r="0" b="0"/>
            <a:pathLst>
              <a:path w="1000" h="1000">
                <a:moveTo>
                  <a:pt x="500" y="90"/>
                </a:moveTo>
                <a:cubicBezTo>
                  <a:pt x="530" y="250"/>
                  <a:pt x="470" y="420"/>
                  <a:pt x="500" y="560"/>
                </a:cubicBezTo>
                <a:cubicBezTo>
                  <a:pt x="515" y="630"/>
                  <a:pt x="495" y="690"/>
                  <a:pt x="500" y="740"/>
                </a:cubicBezTo>
              </a:path>
            </a:pathLst>
          </a:custGeom>
          <a:noFill/>
          <a:ln w="9525">
            <a:solidFill>
              <a:srgbClr val="67E8F9">
                <a:alpha val="30000"/>
              </a:srgbClr>
            </a:solidFill>
          </a:ln>
        </p:spPr>
        <p:txBody>
          <a:bodyPr/>
          <a:lstStyle/>
          <a:p>
            <a:endParaRPr lang="en-US"/>
          </a:p>
        </p:txBody>
      </p:sp>
      <p:sp>
        <p:nvSpPr>
          <p:cNvPr id="402" name="conclmri_brain2"/>
          <p:cNvSpPr/>
          <p:nvPr/>
        </p:nvSpPr>
        <p:spPr>
          <a:xfrm>
            <a:off x="6744640" y="3880640"/>
            <a:ext cx="1770720" cy="1416576"/>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noFill/>
          <a:ln w="15875">
            <a:solidFill>
              <a:srgbClr val="C4B5FD">
                <a:alpha val="22000"/>
              </a:srgbClr>
            </a:solidFill>
          </a:ln>
        </p:spPr>
        <p:txBody>
          <a:bodyPr/>
          <a:lstStyle/>
          <a:p>
            <a:endParaRPr lang="en-US"/>
          </a:p>
        </p:txBody>
      </p:sp>
      <p:sp>
        <p:nvSpPr>
          <p:cNvPr id="403" name="conclmri_tumorglow0"/>
          <p:cNvSpPr/>
          <p:nvPr/>
        </p:nvSpPr>
        <p:spPr>
          <a:xfrm>
            <a:off x="7692960" y="4365200"/>
            <a:ext cx="380000" cy="380000"/>
          </a:xfrm>
          <a:prstGeom prst="ellipse">
            <a:avLst/>
          </a:prstGeom>
          <a:solidFill>
            <a:srgbClr val="FF4D6D">
              <a:alpha val="1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04" name="conclmri_tumorglow1"/>
          <p:cNvSpPr/>
          <p:nvPr/>
        </p:nvSpPr>
        <p:spPr>
          <a:xfrm>
            <a:off x="7742960" y="4415200"/>
            <a:ext cx="280000" cy="280000"/>
          </a:xfrm>
          <a:prstGeom prst="ellipse">
            <a:avLst/>
          </a:prstGeom>
          <a:solidFill>
            <a:srgbClr val="FF4D6D">
              <a:alpha val="18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05" name="conclmri_tumorglow2"/>
          <p:cNvSpPr/>
          <p:nvPr/>
        </p:nvSpPr>
        <p:spPr>
          <a:xfrm>
            <a:off x="7787960" y="4460200"/>
            <a:ext cx="190000" cy="190000"/>
          </a:xfrm>
          <a:prstGeom prst="ellipse">
            <a:avLst/>
          </a:prstGeom>
          <a:solidFill>
            <a:srgbClr val="FF4D6D">
              <a:alpha val="3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06" name="conclmri_tumorglow3"/>
          <p:cNvSpPr/>
          <p:nvPr/>
        </p:nvSpPr>
        <p:spPr>
          <a:xfrm>
            <a:off x="7827960" y="4500200"/>
            <a:ext cx="110000" cy="110000"/>
          </a:xfrm>
          <a:prstGeom prst="ellipse">
            <a:avLst/>
          </a:prstGeom>
          <a:solidFill>
            <a:srgbClr val="FF4D6D">
              <a:alpha val="55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07" name="conclmri_tumorcore"/>
          <p:cNvSpPr/>
          <p:nvPr/>
        </p:nvSpPr>
        <p:spPr>
          <a:xfrm>
            <a:off x="7850960" y="4523200"/>
            <a:ext cx="64000" cy="64000"/>
          </a:xfrm>
          <a:prstGeom prst="ellipse">
            <a:avLst/>
          </a:prstGeom>
          <a:solidFill>
            <a:srgbClr val="FF4D6D">
              <a:alpha val="95000"/>
            </a:srgbClr>
          </a:solidFill>
          <a:ln>
            <a:noFill/>
          </a:ln>
          <a:effectLst>
            <a:glow rad="45000">
              <a:srgbClr val="FF4D6D">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408" name="conclmri_scanline"/>
          <p:cNvCxnSpPr/>
          <p:nvPr/>
        </p:nvCxnSpPr>
        <p:spPr>
          <a:xfrm>
            <a:off x="6134000" y="5378000"/>
            <a:ext cx="2992000" cy="1"/>
          </a:xfrm>
          <a:prstGeom prst="line">
            <a:avLst/>
          </a:prstGeom>
          <a:ln w="12700">
            <a:solidFill>
              <a:srgbClr val="22D3EE">
                <a:alpha val="55000"/>
              </a:srgbClr>
            </a:solidFill>
          </a:ln>
          <a:effectLst>
            <a:glow rad="45000">
              <a:srgbClr val="22D3EE">
                <a:alpha val="55000"/>
              </a:srgbClr>
            </a:glow>
          </a:effectLst>
        </p:spPr>
        <p:style>
          <a:lnRef idx="1">
            <a:schemeClr val="accent1"/>
          </a:lnRef>
          <a:fillRef idx="0">
            <a:schemeClr val="accent1"/>
          </a:fillRef>
          <a:effectRef idx="0">
            <a:schemeClr val="accent1"/>
          </a:effectRef>
          <a:fontRef idx="minor">
            <a:schemeClr val="tx1"/>
          </a:fontRef>
        </p:style>
      </p:cxnSp>
      <p:cxnSp>
        <p:nvCxnSpPr>
          <p:cNvPr id="409" name="conclmri_edge0_2"/>
          <p:cNvCxnSpPr/>
          <p:nvPr/>
        </p:nvCxnSpPr>
        <p:spPr>
          <a:xfrm flipV="1">
            <a:off x="7015793" y="3610625"/>
            <a:ext cx="614261" cy="226930"/>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410" name="conclmri_edge1_3"/>
          <p:cNvCxnSpPr/>
          <p:nvPr/>
        </p:nvCxnSpPr>
        <p:spPr>
          <a:xfrm flipH="1" flipV="1">
            <a:off x="7285611" y="6231009"/>
            <a:ext cx="666343" cy="49765"/>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411" name="conclmri_edge2_4"/>
          <p:cNvCxnSpPr/>
          <p:nvPr/>
        </p:nvCxnSpPr>
        <p:spPr>
          <a:xfrm>
            <a:off x="7630054" y="3610625"/>
            <a:ext cx="342644" cy="235381"/>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sp>
        <p:nvSpPr>
          <p:cNvPr id="412" name="conclmri_node0"/>
          <p:cNvSpPr/>
          <p:nvPr/>
        </p:nvSpPr>
        <p:spPr>
          <a:xfrm>
            <a:off x="7005793" y="3827555"/>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13" name="conclmri_node1"/>
          <p:cNvSpPr/>
          <p:nvPr/>
        </p:nvSpPr>
        <p:spPr>
          <a:xfrm>
            <a:off x="7941954" y="6270774"/>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14" name="conclmri_node2"/>
          <p:cNvSpPr/>
          <p:nvPr/>
        </p:nvSpPr>
        <p:spPr>
          <a:xfrm>
            <a:off x="7620054" y="3600625"/>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15" name="conclmri_node3"/>
          <p:cNvSpPr/>
          <p:nvPr/>
        </p:nvSpPr>
        <p:spPr>
          <a:xfrm>
            <a:off x="7275611" y="6221009"/>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416" name="conclmri_node4"/>
          <p:cNvSpPr/>
          <p:nvPr/>
        </p:nvSpPr>
        <p:spPr>
          <a:xfrm>
            <a:off x="7962698" y="3836006"/>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1184" nam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90" name="FooterL"/>
          <p:cNvSpPr/>
          <p:nvPr/>
        </p:nvSpPr>
        <p:spPr>
          <a:xfrm>
            <a:off x="480000" y="6580000"/>
            <a:ext cx="4000000" cy="220000"/>
          </a:xfrm>
          <a:prstGeom prst="rect">
            <a:avLst/>
          </a:prstGeom>
          <a:noFill/>
          <a:ln>
            <a:noFill/>
          </a:ln>
        </p:spPr>
        <p:txBody>
          <a:bodyPr wrap="square" lIns="0" tIns="0" rIns="0" bIns="0"/>
          <a:lstStyle/>
          <a:p>
            <a:r>
              <a:rPr lang="en-US" sz="900" dirty="0">
                <a:solidFill>
                  <a:srgbClr val="8891B0"/>
                </a:solidFill>
                <a:latin typeface="Calibri"/>
              </a:rPr>
              <a:t>Pi24, Team 24 · AI Capstone Project</a:t>
            </a:r>
          </a:p>
        </p:txBody>
      </p:sp>
      <p:sp>
        <p:nvSpPr>
          <p:cNvPr id="91" name="FooterR"/>
          <p:cNvSpPr/>
          <p:nvPr/>
        </p:nvSpPr>
        <p:spPr>
          <a:xfrm>
            <a:off x="7420000" y="6580000"/>
            <a:ext cx="2000000" cy="220000"/>
          </a:xfrm>
          <a:prstGeom prst="rect">
            <a:avLst/>
          </a:prstGeom>
          <a:noFill/>
          <a:ln>
            <a:noFill/>
          </a:ln>
        </p:spPr>
        <p:txBody>
          <a:bodyPr wrap="square" lIns="0" tIns="0" rIns="0" bIns="0"/>
          <a:lstStyle/>
          <a:p>
            <a:pPr algn="r"/>
            <a:r>
              <a:rPr lang="en-US" sz="900" dirty="0">
                <a:solidFill>
                  <a:srgbClr val="8891B0"/>
                </a:solidFill>
                <a:latin typeface="Calibri"/>
              </a:rPr>
              <a:t>Application &amp; Impact · 20</a:t>
            </a:r>
          </a:p>
        </p:txBody>
      </p:sp>
    </p:spTree>
    <p:extLst>
      <p:ext uri="{BB962C8B-B14F-4D97-AF65-F5344CB8AC3E}">
        <p14:creationId xmlns:p14="http://schemas.microsoft.com/office/powerpoint/2010/main" val="40804627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closebg_grad"/>
          <p:cNvSpPr/>
          <p:nvPr/>
        </p:nvSpPr>
        <p:spPr>
          <a:xfrm>
            <a:off x="0" y="0"/>
            <a:ext cx="9902825" cy="6858000"/>
          </a:xfrm>
          <a:prstGeom prst="rect">
            <a:avLst/>
          </a:prstGeom>
          <a:gradFill>
            <a:gsLst>
              <a:gs pos="0">
                <a:srgbClr val="090C24">
                  <a:alpha val="100000"/>
                </a:srgbClr>
              </a:gs>
              <a:gs pos="100000">
                <a:srgbClr val="0D1240">
                  <a:alpha val="100000"/>
                </a:srgbClr>
              </a:gs>
            </a:gsLst>
            <a:lin ang="6900000" scaled="1"/>
          </a:gradFill>
          <a:ln>
            <a:noFill/>
          </a:ln>
        </p:spPr>
        <p:txBody>
          <a:bodyPr/>
          <a:lstStyle/>
          <a:p>
            <a:pPr marL="0" algn="r" defTabSz="457200" rtl="1" eaLnBrk="1" latinLnBrk="0" hangingPunct="1"/>
            <a:endParaRPr lang="en-US"/>
          </a:p>
        </p:txBody>
      </p:sp>
      <p:cxnSp>
        <p:nvCxnSpPr>
          <p:cNvPr id="102" name="closebg_grid_h1"/>
          <p:cNvCxnSpPr/>
          <p:nvPr/>
        </p:nvCxnSpPr>
        <p:spPr>
          <a:xfrm>
            <a:off x="0" y="76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3" name="closebg_grid_h2"/>
          <p:cNvCxnSpPr/>
          <p:nvPr/>
        </p:nvCxnSpPr>
        <p:spPr>
          <a:xfrm>
            <a:off x="0" y="152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4" name="closebg_grid_h3"/>
          <p:cNvCxnSpPr/>
          <p:nvPr/>
        </p:nvCxnSpPr>
        <p:spPr>
          <a:xfrm>
            <a:off x="0" y="228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5" name="closebg_grid_h4"/>
          <p:cNvCxnSpPr/>
          <p:nvPr/>
        </p:nvCxnSpPr>
        <p:spPr>
          <a:xfrm>
            <a:off x="0" y="3048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6" name="closebg_grid_h5"/>
          <p:cNvCxnSpPr/>
          <p:nvPr/>
        </p:nvCxnSpPr>
        <p:spPr>
          <a:xfrm>
            <a:off x="0" y="3810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7" name="closebg_grid_h6"/>
          <p:cNvCxnSpPr/>
          <p:nvPr/>
        </p:nvCxnSpPr>
        <p:spPr>
          <a:xfrm>
            <a:off x="0" y="4572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8" name="closebg_grid_h7"/>
          <p:cNvCxnSpPr/>
          <p:nvPr/>
        </p:nvCxnSpPr>
        <p:spPr>
          <a:xfrm>
            <a:off x="0" y="5334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09" name="closebg_grid_h8"/>
          <p:cNvCxnSpPr/>
          <p:nvPr/>
        </p:nvCxnSpPr>
        <p:spPr>
          <a:xfrm>
            <a:off x="0" y="6096000"/>
            <a:ext cx="9902825" cy="1"/>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0" name="closebg_grid_v1"/>
          <p:cNvCxnSpPr/>
          <p:nvPr/>
        </p:nvCxnSpPr>
        <p:spPr>
          <a:xfrm>
            <a:off x="61892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1" name="closebg_grid_v2"/>
          <p:cNvCxnSpPr/>
          <p:nvPr/>
        </p:nvCxnSpPr>
        <p:spPr>
          <a:xfrm>
            <a:off x="1237853"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2" name="closebg_grid_v3"/>
          <p:cNvCxnSpPr/>
          <p:nvPr/>
        </p:nvCxnSpPr>
        <p:spPr>
          <a:xfrm>
            <a:off x="185677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3" name="closebg_grid_v4"/>
          <p:cNvCxnSpPr/>
          <p:nvPr/>
        </p:nvCxnSpPr>
        <p:spPr>
          <a:xfrm>
            <a:off x="2475706"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4" name="closebg_grid_v5"/>
          <p:cNvCxnSpPr/>
          <p:nvPr/>
        </p:nvCxnSpPr>
        <p:spPr>
          <a:xfrm>
            <a:off x="309463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5" name="closebg_grid_v6"/>
          <p:cNvCxnSpPr/>
          <p:nvPr/>
        </p:nvCxnSpPr>
        <p:spPr>
          <a:xfrm>
            <a:off x="371355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6" name="closebg_grid_v7"/>
          <p:cNvCxnSpPr/>
          <p:nvPr/>
        </p:nvCxnSpPr>
        <p:spPr>
          <a:xfrm>
            <a:off x="433248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7" name="closebg_grid_v8"/>
          <p:cNvCxnSpPr/>
          <p:nvPr/>
        </p:nvCxnSpPr>
        <p:spPr>
          <a:xfrm>
            <a:off x="495141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8" name="closebg_grid_v9"/>
          <p:cNvCxnSpPr/>
          <p:nvPr/>
        </p:nvCxnSpPr>
        <p:spPr>
          <a:xfrm>
            <a:off x="5570339"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19" name="closebg_grid_v10"/>
          <p:cNvCxnSpPr/>
          <p:nvPr/>
        </p:nvCxnSpPr>
        <p:spPr>
          <a:xfrm>
            <a:off x="618926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0" name="closebg_grid_v11"/>
          <p:cNvCxnSpPr/>
          <p:nvPr/>
        </p:nvCxnSpPr>
        <p:spPr>
          <a:xfrm>
            <a:off x="6808192"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1" name="closebg_grid_v12"/>
          <p:cNvCxnSpPr/>
          <p:nvPr/>
        </p:nvCxnSpPr>
        <p:spPr>
          <a:xfrm>
            <a:off x="742711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2" name="closebg_grid_v13"/>
          <p:cNvCxnSpPr/>
          <p:nvPr/>
        </p:nvCxnSpPr>
        <p:spPr>
          <a:xfrm>
            <a:off x="8046045"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3" name="closebg_grid_v14"/>
          <p:cNvCxnSpPr/>
          <p:nvPr/>
        </p:nvCxnSpPr>
        <p:spPr>
          <a:xfrm>
            <a:off x="8664971"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cxnSp>
        <p:nvCxnSpPr>
          <p:cNvPr id="124" name="closebg_grid_v15"/>
          <p:cNvCxnSpPr/>
          <p:nvPr/>
        </p:nvCxnSpPr>
        <p:spPr>
          <a:xfrm>
            <a:off x="9283898" y="0"/>
            <a:ext cx="1" cy="6858000"/>
          </a:xfrm>
          <a:prstGeom prst="line">
            <a:avLst/>
          </a:prstGeom>
          <a:ln w="6350">
            <a:solidFill>
              <a:srgbClr val="22D3EE">
                <a:alpha val="4000"/>
              </a:srgbClr>
            </a:solidFill>
          </a:ln>
        </p:spPr>
        <p:style>
          <a:lnRef idx="1">
            <a:schemeClr val="accent1"/>
          </a:lnRef>
          <a:fillRef idx="0">
            <a:schemeClr val="accent1"/>
          </a:fillRef>
          <a:effectRef idx="0">
            <a:schemeClr val="accent1"/>
          </a:effectRef>
          <a:fontRef idx="minor">
            <a:schemeClr val="tx1"/>
          </a:fontRef>
        </p:style>
      </p:cxnSp>
      <p:sp>
        <p:nvSpPr>
          <p:cNvPr id="125" name="closebg_topbar"/>
          <p:cNvSpPr/>
          <p:nvPr/>
        </p:nvSpPr>
        <p:spPr>
          <a:xfrm>
            <a:off x="0" y="0"/>
            <a:ext cx="9902825" cy="26000"/>
          </a:xfrm>
          <a:prstGeom prst="rect">
            <a:avLst/>
          </a:prstGeom>
          <a:gradFill>
            <a:gsLst>
              <a:gs pos="0">
                <a:srgbClr val="22D3EE">
                  <a:alpha val="70000"/>
                </a:srgbClr>
              </a:gs>
              <a:gs pos="100000">
                <a:srgbClr val="8B5CF6">
                  <a:alpha val="70000"/>
                </a:srgbClr>
              </a:gs>
            </a:gsLst>
            <a:lin ang="0" scaled="1"/>
          </a:gradFill>
          <a:ln>
            <a:noFill/>
          </a:ln>
        </p:spPr>
        <p:txBody>
          <a:bodyPr/>
          <a:lstStyle/>
          <a:p>
            <a:endParaRPr lang="en-US"/>
          </a:p>
        </p:txBody>
      </p:sp>
      <p:cxnSp>
        <p:nvCxnSpPr>
          <p:cNvPr id="126" name="closecorner_e0_4"/>
          <p:cNvCxnSpPr/>
          <p:nvPr/>
        </p:nvCxnSpPr>
        <p:spPr>
          <a:xfrm flipH="1" flipV="1">
            <a:off x="2953471" y="6227806"/>
            <a:ext cx="466898" cy="275037"/>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27" name="closecorner_e0_3"/>
          <p:cNvCxnSpPr/>
          <p:nvPr/>
        </p:nvCxnSpPr>
        <p:spPr>
          <a:xfrm flipV="1">
            <a:off x="3420369" y="6017283"/>
            <a:ext cx="884190" cy="485560"/>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28" name="closecorner_e1_2"/>
          <p:cNvCxnSpPr/>
          <p:nvPr/>
        </p:nvCxnSpPr>
        <p:spPr>
          <a:xfrm>
            <a:off x="436214" y="6217673"/>
            <a:ext cx="1622580" cy="163542"/>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29" name="closecorner_e1_5"/>
          <p:cNvCxnSpPr/>
          <p:nvPr/>
        </p:nvCxnSpPr>
        <p:spPr>
          <a:xfrm flipV="1">
            <a:off x="436214" y="6082710"/>
            <a:ext cx="1714663" cy="134963"/>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30" name="closecorner_e2_5"/>
          <p:cNvCxnSpPr/>
          <p:nvPr/>
        </p:nvCxnSpPr>
        <p:spPr>
          <a:xfrm flipV="1">
            <a:off x="2058794" y="6082710"/>
            <a:ext cx="92083" cy="298505"/>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31" name="closecorner_e2_4"/>
          <p:cNvCxnSpPr/>
          <p:nvPr/>
        </p:nvCxnSpPr>
        <p:spPr>
          <a:xfrm flipV="1">
            <a:off x="2058794" y="6227806"/>
            <a:ext cx="894677" cy="153409"/>
          </a:xfrm>
          <a:prstGeom prst="line">
            <a:avLst/>
          </a:prstGeom>
          <a:ln w="6350">
            <a:solidFill>
              <a:srgbClr val="22D3EE">
                <a:alpha val="20000"/>
              </a:srgbClr>
            </a:solidFill>
          </a:ln>
        </p:spPr>
        <p:style>
          <a:lnRef idx="1">
            <a:schemeClr val="accent1"/>
          </a:lnRef>
          <a:fillRef idx="0">
            <a:schemeClr val="accent1"/>
          </a:fillRef>
          <a:effectRef idx="0">
            <a:schemeClr val="accent1"/>
          </a:effectRef>
          <a:fontRef idx="minor">
            <a:schemeClr val="tx1"/>
          </a:fontRef>
        </p:style>
      </p:cxnSp>
      <p:cxnSp>
        <p:nvCxnSpPr>
          <p:cNvPr id="132" name="closecorner_e3_4"/>
          <p:cNvCxnSpPr/>
          <p:nvPr/>
        </p:nvCxnSpPr>
        <p:spPr>
          <a:xfrm flipH="1">
            <a:off x="2953471" y="6017283"/>
            <a:ext cx="1351088" cy="210523"/>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cxnSp>
        <p:nvCxnSpPr>
          <p:cNvPr id="133" name="closecorner_e4_5"/>
          <p:cNvCxnSpPr/>
          <p:nvPr/>
        </p:nvCxnSpPr>
        <p:spPr>
          <a:xfrm flipH="1" flipV="1">
            <a:off x="2150877" y="6082710"/>
            <a:ext cx="802594" cy="145096"/>
          </a:xfrm>
          <a:prstGeom prst="line">
            <a:avLst/>
          </a:prstGeom>
          <a:ln w="6350">
            <a:solidFill>
              <a:srgbClr val="C4B5FD">
                <a:alpha val="20000"/>
              </a:srgbClr>
            </a:solidFill>
          </a:ln>
        </p:spPr>
        <p:style>
          <a:lnRef idx="1">
            <a:schemeClr val="accent1"/>
          </a:lnRef>
          <a:fillRef idx="0">
            <a:schemeClr val="accent1"/>
          </a:fillRef>
          <a:effectRef idx="0">
            <a:schemeClr val="accent1"/>
          </a:effectRef>
          <a:fontRef idx="minor">
            <a:schemeClr val="tx1"/>
          </a:fontRef>
        </p:style>
      </p:cxnSp>
      <p:sp>
        <p:nvSpPr>
          <p:cNvPr id="134" name="closecorner_n0"/>
          <p:cNvSpPr/>
          <p:nvPr/>
        </p:nvSpPr>
        <p:spPr>
          <a:xfrm>
            <a:off x="3413369" y="6495843"/>
            <a:ext cx="14000" cy="14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5" name="closecorner_n1"/>
          <p:cNvSpPr/>
          <p:nvPr/>
        </p:nvSpPr>
        <p:spPr>
          <a:xfrm>
            <a:off x="426214" y="6207673"/>
            <a:ext cx="20000" cy="20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6" name="closecorner_n2"/>
          <p:cNvSpPr/>
          <p:nvPr/>
        </p:nvSpPr>
        <p:spPr>
          <a:xfrm>
            <a:off x="2045794" y="6368215"/>
            <a:ext cx="26000" cy="26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7" name="closecorner_n3"/>
          <p:cNvSpPr/>
          <p:nvPr/>
        </p:nvSpPr>
        <p:spPr>
          <a:xfrm>
            <a:off x="4297559" y="6010283"/>
            <a:ext cx="14000" cy="14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8" name="closecorner_n4"/>
          <p:cNvSpPr/>
          <p:nvPr/>
        </p:nvSpPr>
        <p:spPr>
          <a:xfrm>
            <a:off x="2943471" y="6217806"/>
            <a:ext cx="20000" cy="20000"/>
          </a:xfrm>
          <a:prstGeom prst="ellipse">
            <a:avLst/>
          </a:prstGeom>
          <a:solidFill>
            <a:srgbClr val="22D3EE">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39" name="closecorner_n5"/>
          <p:cNvSpPr/>
          <p:nvPr/>
        </p:nvSpPr>
        <p:spPr>
          <a:xfrm>
            <a:off x="2137877" y="6069710"/>
            <a:ext cx="26000" cy="26000"/>
          </a:xfrm>
          <a:prstGeom prst="ellipse">
            <a:avLst/>
          </a:prstGeom>
          <a:solidFill>
            <a:srgbClr val="C4B5FD">
              <a:alpha val="7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40" name="closeeyebrow"/>
          <p:cNvSpPr txBox="1"/>
          <p:nvPr/>
        </p:nvSpPr>
        <p:spPr>
          <a:xfrm>
            <a:off x="700000" y="2050000"/>
            <a:ext cx="5000000" cy="320000"/>
          </a:xfrm>
          <a:prstGeom prst="rect">
            <a:avLst/>
          </a:prstGeom>
          <a:noFill/>
          <a:ln>
            <a:noFill/>
          </a:ln>
        </p:spPr>
        <p:txBody>
          <a:bodyPr wrap="square" lIns="0" tIns="0" rIns="0" bIns="0" anchor="t">
            <a:noAutofit/>
          </a:bodyPr>
          <a:lstStyle/>
          <a:p>
            <a:pPr algn="l"/>
            <a:r>
              <a:rPr lang="en-US" sz="1100" b="1" i="0" dirty="0">
                <a:solidFill>
                  <a:srgbClr val="22D3EE"/>
                </a:solidFill>
                <a:latin typeface="Calibri"/>
                <a:ea typeface="Calibri"/>
                <a:cs typeface="Calibri"/>
              </a:rPr>
              <a:t>THANK YOU FOR YOUR ATTENTION</a:t>
            </a:r>
          </a:p>
        </p:txBody>
      </p:sp>
      <p:sp>
        <p:nvSpPr>
          <p:cNvPr id="141" name="closebig"/>
          <p:cNvSpPr txBox="1"/>
          <p:nvPr/>
        </p:nvSpPr>
        <p:spPr>
          <a:xfrm>
            <a:off x="700000" y="2400000"/>
            <a:ext cx="5300000" cy="900000"/>
          </a:xfrm>
          <a:prstGeom prst="rect">
            <a:avLst/>
          </a:prstGeom>
          <a:noFill/>
          <a:ln>
            <a:noFill/>
          </a:ln>
        </p:spPr>
        <p:txBody>
          <a:bodyPr wrap="square" lIns="0" tIns="0" rIns="0" bIns="0" anchor="t">
            <a:noAutofit/>
          </a:bodyPr>
          <a:lstStyle/>
          <a:p>
            <a:pPr algn="l"/>
            <a:r>
              <a:rPr lang="en-US" sz="3400" b="1" i="0" dirty="0">
                <a:solidFill>
                  <a:srgbClr val="F5F7FF"/>
                </a:solidFill>
                <a:latin typeface="Calibri"/>
                <a:ea typeface="Calibri"/>
                <a:cs typeface="Calibri"/>
              </a:rPr>
              <a:t>Questions &amp; Answers</a:t>
            </a:r>
          </a:p>
        </p:txBody>
      </p:sp>
      <p:sp>
        <p:nvSpPr>
          <p:cNvPr id="142" name="closediv"/>
          <p:cNvSpPr/>
          <p:nvPr/>
        </p:nvSpPr>
        <p:spPr>
          <a:xfrm>
            <a:off x="700000" y="3300000"/>
            <a:ext cx="2200000" cy="14000"/>
          </a:xfrm>
          <a:prstGeom prst="rect">
            <a:avLst/>
          </a:prstGeom>
          <a:gradFill>
            <a:gsLst>
              <a:gs pos="0">
                <a:srgbClr val="22D3EE">
                  <a:alpha val="100000"/>
                </a:srgbClr>
              </a:gs>
              <a:gs pos="100000">
                <a:srgbClr val="8B5CF6">
                  <a:alpha val="100000"/>
                </a:srgbClr>
              </a:gs>
            </a:gsLst>
            <a:lin ang="0" scaled="1"/>
          </a:gradFill>
          <a:ln>
            <a:noFill/>
          </a:ln>
        </p:spPr>
        <p:txBody>
          <a:bodyPr/>
          <a:lstStyle/>
          <a:p>
            <a:endParaRPr lang="en-US"/>
          </a:p>
        </p:txBody>
      </p:sp>
      <p:sp>
        <p:nvSpPr>
          <p:cNvPr id="143" name="closeteam"/>
          <p:cNvSpPr txBox="1"/>
          <p:nvPr/>
        </p:nvSpPr>
        <p:spPr>
          <a:xfrm>
            <a:off x="700000" y="3500000"/>
            <a:ext cx="5300000" cy="700000"/>
          </a:xfrm>
          <a:prstGeom prst="rect">
            <a:avLst/>
          </a:prstGeom>
          <a:noFill/>
          <a:ln>
            <a:noFill/>
          </a:ln>
        </p:spPr>
        <p:txBody>
          <a:bodyPr wrap="square" lIns="0" tIns="0" rIns="0" bIns="0" anchor="t">
            <a:noAutofit/>
          </a:bodyPr>
          <a:lstStyle/>
          <a:p>
            <a:pPr algn="l">
              <a:spcAft>
                <a:spcPts val="300"/>
              </a:spcAft>
            </a:pPr>
            <a:r>
              <a:rPr lang="en-US" sz="1400" b="1" i="0" dirty="0">
                <a:solidFill>
                  <a:srgbClr val="F5F7FF"/>
                </a:solidFill>
                <a:latin typeface="Calibri"/>
                <a:ea typeface="Calibri"/>
                <a:cs typeface="Calibri"/>
              </a:rPr>
              <a:t>Pi24, Team 24</a:t>
            </a:r>
          </a:p>
          <a:p>
            <a:pPr>
              <a:spcAft>
                <a:spcPts val="300"/>
              </a:spcAft>
            </a:pPr>
            <a:r>
              <a:rPr lang="en-US" sz="1100" dirty="0">
                <a:solidFill>
                  <a:srgbClr val="8891B0"/>
                </a:solidFill>
                <a:latin typeface="Calibri"/>
                <a:ea typeface="Calibri"/>
                <a:cs typeface="Calibri"/>
              </a:rPr>
              <a:t>Haya Saleh </a:t>
            </a:r>
            <a:r>
              <a:rPr lang="en-US" sz="1100" dirty="0" err="1">
                <a:solidFill>
                  <a:srgbClr val="8891B0"/>
                </a:solidFill>
                <a:latin typeface="Calibri"/>
                <a:ea typeface="Calibri"/>
                <a:cs typeface="Calibri"/>
              </a:rPr>
              <a:t>Algarni</a:t>
            </a:r>
            <a:r>
              <a:rPr lang="en-US" sz="1100" dirty="0">
                <a:solidFill>
                  <a:srgbClr val="8891B0"/>
                </a:solidFill>
                <a:latin typeface="Calibri"/>
                <a:ea typeface="Calibri"/>
                <a:cs typeface="Calibri"/>
              </a:rPr>
              <a:t>  · Maram </a:t>
            </a:r>
            <a:r>
              <a:rPr lang="en-US" sz="1100" dirty="0" err="1">
                <a:solidFill>
                  <a:srgbClr val="8891B0"/>
                </a:solidFill>
                <a:latin typeface="Calibri"/>
                <a:ea typeface="Calibri"/>
                <a:cs typeface="Calibri"/>
              </a:rPr>
              <a:t>Alraddadi</a:t>
            </a:r>
            <a:r>
              <a:rPr lang="en-US" sz="1100" dirty="0">
                <a:solidFill>
                  <a:srgbClr val="8891B0"/>
                </a:solidFill>
                <a:latin typeface="Calibri"/>
                <a:ea typeface="Calibri"/>
                <a:cs typeface="Calibri"/>
              </a:rPr>
              <a:t> · Muslim </a:t>
            </a:r>
            <a:r>
              <a:rPr lang="en-US" sz="1100" dirty="0" err="1">
                <a:solidFill>
                  <a:srgbClr val="8891B0"/>
                </a:solidFill>
                <a:latin typeface="Calibri"/>
                <a:ea typeface="Calibri"/>
                <a:cs typeface="Calibri"/>
              </a:rPr>
              <a:t>Alhammad</a:t>
            </a:r>
            <a:r>
              <a:rPr lang="en-US" sz="1100" dirty="0">
                <a:solidFill>
                  <a:srgbClr val="8891B0"/>
                </a:solidFill>
                <a:latin typeface="Calibri"/>
                <a:ea typeface="Calibri"/>
                <a:cs typeface="Calibri"/>
              </a:rPr>
              <a:t> ·  </a:t>
            </a:r>
            <a:r>
              <a:rPr lang="en-US" sz="1100" b="0" i="0" dirty="0">
                <a:solidFill>
                  <a:srgbClr val="8891B0"/>
                </a:solidFill>
                <a:latin typeface="Calibri"/>
                <a:ea typeface="Calibri"/>
                <a:cs typeface="Calibri"/>
              </a:rPr>
              <a:t>Raed </a:t>
            </a:r>
            <a:r>
              <a:rPr lang="en-US" sz="1100" b="0" i="0" dirty="0" err="1">
                <a:solidFill>
                  <a:srgbClr val="8891B0"/>
                </a:solidFill>
                <a:latin typeface="Calibri"/>
                <a:ea typeface="Calibri"/>
                <a:cs typeface="Calibri"/>
              </a:rPr>
              <a:t>Almjally</a:t>
            </a:r>
            <a:endParaRPr lang="en-US" sz="1100" b="0" i="0" dirty="0">
              <a:solidFill>
                <a:srgbClr val="8891B0"/>
              </a:solidFill>
              <a:latin typeface="Calibri"/>
              <a:ea typeface="Calibri"/>
              <a:cs typeface="Calibri"/>
            </a:endParaRPr>
          </a:p>
        </p:txBody>
      </p:sp>
      <p:sp>
        <p:nvSpPr>
          <p:cNvPr id="144" name="closetagline"/>
          <p:cNvSpPr txBox="1"/>
          <p:nvPr/>
        </p:nvSpPr>
        <p:spPr>
          <a:xfrm>
            <a:off x="700000" y="4200000"/>
            <a:ext cx="5300000" cy="400000"/>
          </a:xfrm>
          <a:prstGeom prst="rect">
            <a:avLst/>
          </a:prstGeom>
          <a:noFill/>
          <a:ln>
            <a:noFill/>
          </a:ln>
        </p:spPr>
        <p:txBody>
          <a:bodyPr wrap="square" lIns="0" tIns="0" rIns="0" bIns="0" anchor="t">
            <a:noAutofit/>
          </a:bodyPr>
          <a:lstStyle/>
          <a:p>
            <a:pPr algn="l"/>
            <a:r>
              <a:rPr lang="en-US" sz="1000" b="0" i="1" dirty="0">
                <a:solidFill>
                  <a:srgbClr val="C4B5FD"/>
                </a:solidFill>
                <a:latin typeface="Calibri"/>
                <a:ea typeface="Calibri"/>
                <a:cs typeface="Calibri"/>
              </a:rPr>
              <a:t>A Two-Stage Deep Learning Approach to Brain Tumor Classification &amp; Segmentation in 2D MRI Images</a:t>
            </a:r>
          </a:p>
        </p:txBody>
      </p:sp>
      <p:sp>
        <p:nvSpPr>
          <p:cNvPr id="145" name="closemri_bg"/>
          <p:cNvSpPr/>
          <p:nvPr/>
        </p:nvSpPr>
        <p:spPr>
          <a:xfrm>
            <a:off x="6350000" y="1550000"/>
            <a:ext cx="3050000" cy="3050000"/>
          </a:xfrm>
          <a:prstGeom prst="roundRect">
            <a:avLst>
              <a:gd name="adj" fmla="val 6000"/>
            </a:avLst>
          </a:prstGeom>
          <a:solidFill>
            <a:srgbClr val="10173F">
              <a:alpha val="92000"/>
            </a:srgbClr>
          </a:solidFill>
          <a:ln>
            <a:no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sp>
        <p:nvSpPr>
          <p:cNvPr id="146" name="closemri_border"/>
          <p:cNvSpPr/>
          <p:nvPr/>
        </p:nvSpPr>
        <p:spPr>
          <a:xfrm>
            <a:off x="6350000" y="1550000"/>
            <a:ext cx="3050000" cy="3050000"/>
          </a:xfrm>
          <a:prstGeom prst="roundRect">
            <a:avLst>
              <a:gd name="adj" fmla="val 6000"/>
            </a:avLst>
          </a:prstGeom>
          <a:noFill/>
          <a:ln w="9525">
            <a:solidFill>
              <a:srgbClr val="22D3EE">
                <a:alpha val="45000"/>
              </a:srgbClr>
            </a:solidFill>
          </a:ln>
        </p:spPr>
        <p:style>
          <a:lnRef idx="0">
            <a:schemeClr val="accent1"/>
          </a:lnRef>
          <a:fillRef idx="0">
            <a:schemeClr val="accent1"/>
          </a:fillRef>
          <a:effectRef idx="0">
            <a:schemeClr val="accent1"/>
          </a:effectRef>
          <a:fontRef idx="minor">
            <a:schemeClr val="tx1"/>
          </a:fontRef>
        </p:style>
        <p:txBody>
          <a:bodyPr wrap="square" lIns="0" tIns="0" rIns="0" bIns="0" anchor="t"/>
          <a:lstStyle/>
          <a:p>
            <a:endParaRPr lang="en-US"/>
          </a:p>
        </p:txBody>
      </p:sp>
      <p:cxnSp>
        <p:nvCxnSpPr>
          <p:cNvPr id="147" name="closemri_ck1"/>
          <p:cNvCxnSpPr/>
          <p:nvPr/>
        </p:nvCxnSpPr>
        <p:spPr>
          <a:xfrm>
            <a:off x="6487250" y="16872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48" name="closemri_ck2"/>
          <p:cNvCxnSpPr/>
          <p:nvPr/>
        </p:nvCxnSpPr>
        <p:spPr>
          <a:xfrm>
            <a:off x="6487250" y="1687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49" name="closemri_ck1"/>
          <p:cNvCxnSpPr/>
          <p:nvPr/>
        </p:nvCxnSpPr>
        <p:spPr>
          <a:xfrm flipH="1">
            <a:off x="8988250" y="16872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0" name="closemri_ck2"/>
          <p:cNvCxnSpPr/>
          <p:nvPr/>
        </p:nvCxnSpPr>
        <p:spPr>
          <a:xfrm>
            <a:off x="9262750" y="1687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1" name="closemri_ck1"/>
          <p:cNvCxnSpPr/>
          <p:nvPr/>
        </p:nvCxnSpPr>
        <p:spPr>
          <a:xfrm>
            <a:off x="6487250" y="44627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2" name="closemri_ck2"/>
          <p:cNvCxnSpPr/>
          <p:nvPr/>
        </p:nvCxnSpPr>
        <p:spPr>
          <a:xfrm flipV="1">
            <a:off x="6487250" y="4188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3" name="closemri_ck1"/>
          <p:cNvCxnSpPr/>
          <p:nvPr/>
        </p:nvCxnSpPr>
        <p:spPr>
          <a:xfrm flipH="1">
            <a:off x="8988250" y="4462750"/>
            <a:ext cx="274500" cy="1"/>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cxnSp>
        <p:nvCxnSpPr>
          <p:cNvPr id="154" name="closemri_ck2"/>
          <p:cNvCxnSpPr/>
          <p:nvPr/>
        </p:nvCxnSpPr>
        <p:spPr>
          <a:xfrm flipV="1">
            <a:off x="9262750" y="4188250"/>
            <a:ext cx="1" cy="274500"/>
          </a:xfrm>
          <a:prstGeom prst="line">
            <a:avLst/>
          </a:prstGeom>
          <a:ln w="15875">
            <a:solidFill>
              <a:srgbClr val="22D3EE">
                <a:alpha val="75000"/>
              </a:srgbClr>
            </a:solidFill>
          </a:ln>
        </p:spPr>
        <p:style>
          <a:lnRef idx="1">
            <a:schemeClr val="accent1"/>
          </a:lnRef>
          <a:fillRef idx="0">
            <a:schemeClr val="accent1"/>
          </a:fillRef>
          <a:effectRef idx="0">
            <a:schemeClr val="accent1"/>
          </a:effectRef>
          <a:fontRef idx="minor">
            <a:schemeClr val="tx1"/>
          </a:fontRef>
        </p:style>
      </p:cxnSp>
      <p:sp>
        <p:nvSpPr>
          <p:cNvPr id="155" name="closemri_brain"/>
          <p:cNvSpPr/>
          <p:nvPr/>
        </p:nvSpPr>
        <p:spPr>
          <a:xfrm>
            <a:off x="6929500" y="1946500"/>
            <a:ext cx="1891000" cy="1512800"/>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solidFill>
            <a:srgbClr val="22D3EE">
              <a:alpha val="13000"/>
            </a:srgbClr>
          </a:solidFill>
          <a:ln w="15875">
            <a:solidFill>
              <a:srgbClr val="67E8F9">
                <a:alpha val="60000"/>
              </a:srgbClr>
            </a:solidFill>
          </a:ln>
        </p:spPr>
        <p:txBody>
          <a:bodyPr/>
          <a:lstStyle/>
          <a:p>
            <a:endParaRPr lang="en-US"/>
          </a:p>
        </p:txBody>
      </p:sp>
      <p:sp>
        <p:nvSpPr>
          <p:cNvPr id="156" name="closemri_fissure"/>
          <p:cNvSpPr/>
          <p:nvPr/>
        </p:nvSpPr>
        <p:spPr>
          <a:xfrm>
            <a:off x="6929500" y="1946500"/>
            <a:ext cx="1891000" cy="1512800"/>
          </a:xfrm>
          <a:custGeom>
            <a:avLst/>
            <a:gdLst/>
            <a:ahLst/>
            <a:cxnLst/>
            <a:rect l="0" t="0" r="0" b="0"/>
            <a:pathLst>
              <a:path w="1000" h="1000">
                <a:moveTo>
                  <a:pt x="500" y="90"/>
                </a:moveTo>
                <a:cubicBezTo>
                  <a:pt x="530" y="250"/>
                  <a:pt x="470" y="420"/>
                  <a:pt x="500" y="560"/>
                </a:cubicBezTo>
                <a:cubicBezTo>
                  <a:pt x="515" y="630"/>
                  <a:pt x="495" y="690"/>
                  <a:pt x="500" y="740"/>
                </a:cubicBezTo>
              </a:path>
            </a:pathLst>
          </a:custGeom>
          <a:noFill/>
          <a:ln w="9525">
            <a:solidFill>
              <a:srgbClr val="67E8F9">
                <a:alpha val="30000"/>
              </a:srgbClr>
            </a:solidFill>
          </a:ln>
        </p:spPr>
        <p:txBody>
          <a:bodyPr/>
          <a:lstStyle/>
          <a:p>
            <a:endParaRPr lang="en-US"/>
          </a:p>
        </p:txBody>
      </p:sp>
      <p:sp>
        <p:nvSpPr>
          <p:cNvPr id="157" name="closemri_brain2"/>
          <p:cNvSpPr/>
          <p:nvPr/>
        </p:nvSpPr>
        <p:spPr>
          <a:xfrm>
            <a:off x="7080780" y="2097780"/>
            <a:ext cx="1588440" cy="1270752"/>
          </a:xfrm>
          <a:custGeom>
            <a:avLst/>
            <a:gdLst/>
            <a:ahLst/>
            <a:cxnLst/>
            <a:rect l="0" t="0" r="0" b="0"/>
            <a:pathLst>
              <a:path w="1000" h="1000">
                <a:moveTo>
                  <a:pt x="500" y="60"/>
                </a:moveTo>
                <a:cubicBezTo>
                  <a:pt x="680" y="70"/>
                  <a:pt x="800" y="140"/>
                  <a:pt x="850" y="260"/>
                </a:cubicBezTo>
                <a:cubicBezTo>
                  <a:pt x="900" y="340"/>
                  <a:pt x="910" y="430"/>
                  <a:pt x="880" y="500"/>
                </a:cubicBezTo>
                <a:cubicBezTo>
                  <a:pt x="850" y="580"/>
                  <a:pt x="820" y="630"/>
                  <a:pt x="790" y="660"/>
                </a:cubicBezTo>
                <a:cubicBezTo>
                  <a:pt x="760" y="700"/>
                  <a:pt x="680" y="730"/>
                  <a:pt x="560" y="740"/>
                </a:cubicBezTo>
                <a:cubicBezTo>
                  <a:pt x="540" y="760"/>
                  <a:pt x="520" y="770"/>
                  <a:pt x="500" y="770"/>
                </a:cubicBezTo>
                <a:cubicBezTo>
                  <a:pt x="480" y="770"/>
                  <a:pt x="460" y="760"/>
                  <a:pt x="440" y="740"/>
                </a:cubicBezTo>
                <a:cubicBezTo>
                  <a:pt x="320" y="730"/>
                  <a:pt x="240" y="700"/>
                  <a:pt x="210" y="660"/>
                </a:cubicBezTo>
                <a:cubicBezTo>
                  <a:pt x="180" y="630"/>
                  <a:pt x="150" y="580"/>
                  <a:pt x="120" y="500"/>
                </a:cubicBezTo>
                <a:cubicBezTo>
                  <a:pt x="90" y="430"/>
                  <a:pt x="100" y="340"/>
                  <a:pt x="150" y="260"/>
                </a:cubicBezTo>
                <a:cubicBezTo>
                  <a:pt x="200" y="140"/>
                  <a:pt x="320" y="70"/>
                  <a:pt x="500" y="60"/>
                </a:cubicBezTo>
                <a:close/>
              </a:path>
            </a:pathLst>
          </a:custGeom>
          <a:noFill/>
          <a:ln w="15875">
            <a:solidFill>
              <a:srgbClr val="C4B5FD">
                <a:alpha val="22000"/>
              </a:srgbClr>
            </a:solidFill>
          </a:ln>
        </p:spPr>
        <p:txBody>
          <a:bodyPr/>
          <a:lstStyle/>
          <a:p>
            <a:endParaRPr lang="en-US"/>
          </a:p>
        </p:txBody>
      </p:sp>
      <p:sp>
        <p:nvSpPr>
          <p:cNvPr id="158" name="closemri_tumorglow0"/>
          <p:cNvSpPr/>
          <p:nvPr/>
        </p:nvSpPr>
        <p:spPr>
          <a:xfrm>
            <a:off x="7911920" y="2512900"/>
            <a:ext cx="380000" cy="380000"/>
          </a:xfrm>
          <a:prstGeom prst="ellipse">
            <a:avLst/>
          </a:prstGeom>
          <a:solidFill>
            <a:srgbClr val="FF4D6D">
              <a:alpha val="1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59" name="closemri_tumorglow1"/>
          <p:cNvSpPr/>
          <p:nvPr/>
        </p:nvSpPr>
        <p:spPr>
          <a:xfrm>
            <a:off x="7961920" y="2562900"/>
            <a:ext cx="280000" cy="280000"/>
          </a:xfrm>
          <a:prstGeom prst="ellipse">
            <a:avLst/>
          </a:prstGeom>
          <a:solidFill>
            <a:srgbClr val="FF4D6D">
              <a:alpha val="18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0" name="closemri_tumorglow2"/>
          <p:cNvSpPr/>
          <p:nvPr/>
        </p:nvSpPr>
        <p:spPr>
          <a:xfrm>
            <a:off x="8006920" y="2607900"/>
            <a:ext cx="190000" cy="190000"/>
          </a:xfrm>
          <a:prstGeom prst="ellipse">
            <a:avLst/>
          </a:prstGeom>
          <a:solidFill>
            <a:srgbClr val="FF4D6D">
              <a:alpha val="30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1" name="closemri_tumorglow3"/>
          <p:cNvSpPr/>
          <p:nvPr/>
        </p:nvSpPr>
        <p:spPr>
          <a:xfrm>
            <a:off x="8046920" y="2647900"/>
            <a:ext cx="110000" cy="110000"/>
          </a:xfrm>
          <a:prstGeom prst="ellipse">
            <a:avLst/>
          </a:prstGeom>
          <a:solidFill>
            <a:srgbClr val="FF4D6D">
              <a:alpha val="55000"/>
            </a:srgbClr>
          </a:solidFill>
          <a:ln>
            <a:noFill/>
          </a:ln>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2" name="closemri_tumorcore"/>
          <p:cNvSpPr/>
          <p:nvPr/>
        </p:nvSpPr>
        <p:spPr>
          <a:xfrm>
            <a:off x="8069920" y="2670900"/>
            <a:ext cx="64000" cy="64000"/>
          </a:xfrm>
          <a:prstGeom prst="ellipse">
            <a:avLst/>
          </a:prstGeom>
          <a:solidFill>
            <a:srgbClr val="FF4D6D">
              <a:alpha val="95000"/>
            </a:srgbClr>
          </a:solidFill>
          <a:ln>
            <a:noFill/>
          </a:ln>
          <a:effectLst>
            <a:glow rad="45000">
              <a:srgbClr val="FF4D6D">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163" name="closemri_scanline"/>
          <p:cNvCxnSpPr/>
          <p:nvPr/>
        </p:nvCxnSpPr>
        <p:spPr>
          <a:xfrm>
            <a:off x="6533000" y="3441000"/>
            <a:ext cx="2684000" cy="1"/>
          </a:xfrm>
          <a:prstGeom prst="line">
            <a:avLst/>
          </a:prstGeom>
          <a:ln w="12700">
            <a:solidFill>
              <a:srgbClr val="22D3EE">
                <a:alpha val="55000"/>
              </a:srgbClr>
            </a:solidFill>
          </a:ln>
          <a:effectLst>
            <a:glow rad="45000">
              <a:srgbClr val="22D3EE">
                <a:alpha val="55000"/>
              </a:srgbClr>
            </a:glow>
          </a:effectLst>
        </p:spPr>
        <p:style>
          <a:lnRef idx="1">
            <a:schemeClr val="accent1"/>
          </a:lnRef>
          <a:fillRef idx="0">
            <a:schemeClr val="accent1"/>
          </a:fillRef>
          <a:effectRef idx="0">
            <a:schemeClr val="accent1"/>
          </a:effectRef>
          <a:fontRef idx="minor">
            <a:schemeClr val="tx1"/>
          </a:fontRef>
        </p:style>
      </p:cxnSp>
      <p:cxnSp>
        <p:nvCxnSpPr>
          <p:cNvPr id="164" name="closemri_edge0_4"/>
          <p:cNvCxnSpPr/>
          <p:nvPr/>
        </p:nvCxnSpPr>
        <p:spPr>
          <a:xfrm flipH="1" flipV="1">
            <a:off x="8115482" y="1939541"/>
            <a:ext cx="147901" cy="45271"/>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165" name="closemri_edge1_3"/>
          <p:cNvCxnSpPr/>
          <p:nvPr/>
        </p:nvCxnSpPr>
        <p:spPr>
          <a:xfrm flipH="1" flipV="1">
            <a:off x="7486107" y="4291437"/>
            <a:ext cx="657407" cy="9245"/>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cxnSp>
        <p:nvCxnSpPr>
          <p:cNvPr id="166" name="closemri_edge2_4"/>
          <p:cNvCxnSpPr/>
          <p:nvPr/>
        </p:nvCxnSpPr>
        <p:spPr>
          <a:xfrm>
            <a:off x="7081368" y="1842419"/>
            <a:ext cx="1034114" cy="97122"/>
          </a:xfrm>
          <a:prstGeom prst="line">
            <a:avLst/>
          </a:prstGeom>
          <a:ln w="6350">
            <a:solidFill>
              <a:srgbClr val="C4B5FD">
                <a:alpha val="28000"/>
              </a:srgbClr>
            </a:solidFill>
          </a:ln>
        </p:spPr>
        <p:style>
          <a:lnRef idx="1">
            <a:schemeClr val="accent1"/>
          </a:lnRef>
          <a:fillRef idx="0">
            <a:schemeClr val="accent1"/>
          </a:fillRef>
          <a:effectRef idx="0">
            <a:schemeClr val="accent1"/>
          </a:effectRef>
          <a:fontRef idx="minor">
            <a:schemeClr val="tx1"/>
          </a:fontRef>
        </p:style>
      </p:cxnSp>
      <p:sp>
        <p:nvSpPr>
          <p:cNvPr id="167" name="closemri_node0"/>
          <p:cNvSpPr/>
          <p:nvPr/>
        </p:nvSpPr>
        <p:spPr>
          <a:xfrm>
            <a:off x="8253383" y="1974812"/>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8" name="closemri_node1"/>
          <p:cNvSpPr/>
          <p:nvPr/>
        </p:nvSpPr>
        <p:spPr>
          <a:xfrm>
            <a:off x="8133514" y="4290682"/>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69" name="closemri_node2"/>
          <p:cNvSpPr/>
          <p:nvPr/>
        </p:nvSpPr>
        <p:spPr>
          <a:xfrm>
            <a:off x="7071368" y="1832419"/>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0" name="closemri_node3"/>
          <p:cNvSpPr/>
          <p:nvPr/>
        </p:nvSpPr>
        <p:spPr>
          <a:xfrm>
            <a:off x="7476107" y="4281437"/>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sp>
        <p:nvSpPr>
          <p:cNvPr id="171" name="closemri_node4"/>
          <p:cNvSpPr/>
          <p:nvPr/>
        </p:nvSpPr>
        <p:spPr>
          <a:xfrm>
            <a:off x="8105482" y="1929541"/>
            <a:ext cx="20000" cy="20000"/>
          </a:xfrm>
          <a:prstGeom prst="ellipse">
            <a:avLst/>
          </a:prstGeom>
          <a:solidFill>
            <a:srgbClr val="67E8F9">
              <a:alpha val="85000"/>
            </a:srgbClr>
          </a:solidFill>
          <a:ln>
            <a:noFill/>
          </a:ln>
          <a:effectLst>
            <a:glow rad="45000">
              <a:srgbClr val="22D3EE">
                <a:alpha val="55000"/>
              </a:srgbClr>
            </a:glow>
          </a:effectLst>
        </p:spPr>
        <p:style>
          <a:lnRef idx="0">
            <a:schemeClr val="accent1"/>
          </a:lnRef>
          <a:fillRef idx="0">
            <a:schemeClr val="accent1"/>
          </a:fillRef>
          <a:effectRef idx="0">
            <a:schemeClr val="accent1"/>
          </a:effectRef>
          <a:fontRef idx="minor">
            <a:schemeClr val="lt1"/>
          </a:fontRef>
        </p:style>
        <p:txBody>
          <a:bodyPr/>
          <a:lstStyle/>
          <a:p>
            <a:endParaRPr lang="en-US"/>
          </a:p>
        </p:txBody>
      </p:sp>
      <p:cxnSp>
        <p:nvCxnSpPr>
          <p:cNvPr id="172" name="closefooterrule"/>
          <p:cNvCxnSpPr/>
          <p:nvPr/>
        </p:nvCxnSpPr>
        <p:spPr>
          <a:xfrm>
            <a:off x="480000" y="6520000"/>
            <a:ext cx="8940000" cy="1"/>
          </a:xfrm>
          <a:prstGeom prst="line">
            <a:avLst/>
          </a:prstGeom>
          <a:ln w="6350">
            <a:solidFill>
              <a:srgbClr val="22D3EE">
                <a:alpha val="18000"/>
              </a:srgbClr>
            </a:solidFill>
          </a:ln>
        </p:spPr>
        <p:style>
          <a:lnRef idx="1">
            <a:schemeClr val="accent1"/>
          </a:lnRef>
          <a:fillRef idx="0">
            <a:schemeClr val="accent1"/>
          </a:fillRef>
          <a:effectRef idx="0">
            <a:schemeClr val="accent1"/>
          </a:effectRef>
          <a:fontRef idx="minor">
            <a:schemeClr val="tx1"/>
          </a:fontRef>
        </p:style>
      </p:cxnSp>
      <p:sp>
        <p:nvSpPr>
          <p:cNvPr id="173" name="closefoot"/>
          <p:cNvSpPr txBox="1"/>
          <p:nvPr/>
        </p:nvSpPr>
        <p:spPr>
          <a:xfrm>
            <a:off x="480000" y="6580000"/>
            <a:ext cx="4500000" cy="220000"/>
          </a:xfrm>
          <a:prstGeom prst="rect">
            <a:avLst/>
          </a:prstGeom>
          <a:noFill/>
          <a:ln>
            <a:noFill/>
          </a:ln>
        </p:spPr>
        <p:txBody>
          <a:bodyPr wrap="square" lIns="0" tIns="0" rIns="0" bIns="0" anchor="t">
            <a:noAutofit/>
          </a:bodyPr>
          <a:lstStyle/>
          <a:p>
            <a:pPr algn="l"/>
            <a:r>
              <a:rPr lang="en-US" sz="900" b="0" i="0" dirty="0">
                <a:solidFill>
                  <a:srgbClr val="8891B0"/>
                </a:solidFill>
                <a:latin typeface="Calibri"/>
                <a:ea typeface="Calibri"/>
                <a:cs typeface="Calibri"/>
              </a:rPr>
              <a:t>Samsung Innovation Campus · AI Course</a:t>
            </a:r>
          </a:p>
        </p:txBody>
      </p:sp>
      <p:sp>
        <p:nvSpPr>
          <p:cNvPr id="174" name="closefoot2"/>
          <p:cNvSpPr txBox="1"/>
          <p:nvPr/>
        </p:nvSpPr>
        <p:spPr>
          <a:xfrm>
            <a:off x="6920000" y="6580000"/>
            <a:ext cx="2500000" cy="220000"/>
          </a:xfrm>
          <a:prstGeom prst="rect">
            <a:avLst/>
          </a:prstGeom>
          <a:noFill/>
          <a:ln>
            <a:noFill/>
          </a:ln>
        </p:spPr>
        <p:txBody>
          <a:bodyPr wrap="square" lIns="0" tIns="0" rIns="0" bIns="0" anchor="t">
            <a:noAutofit/>
          </a:bodyPr>
          <a:lstStyle/>
          <a:p>
            <a:pPr algn="r"/>
            <a:r>
              <a:rPr lang="en-US" sz="900" b="0" i="0" dirty="0">
                <a:solidFill>
                  <a:srgbClr val="8891B0"/>
                </a:solidFill>
                <a:latin typeface="Calibri"/>
                <a:ea typeface="Calibri"/>
                <a:cs typeface="Calibri"/>
              </a:rPr>
              <a:t>Pi24 · Brain Tumor Capstone</a:t>
            </a:r>
          </a:p>
        </p:txBody>
      </p:sp>
    </p:spTree>
  </p:cSld>
  <p:clrMapOvr>
    <a:masterClrMapping/>
  </p:clrMapOvr>
</p:sld>
</file>

<file path=ppt/theme/theme1.xml><?xml version="1.0" encoding="utf-8"?>
<a:theme xmlns:a="http://schemas.openxmlformats.org/drawingml/2006/main" name="Office Theme">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amsung">
      <a:majorFont>
        <a:latin typeface="Samsung Sharp Sans"/>
        <a:ea typeface="SamsungOneKorean 700"/>
        <a:cs typeface=""/>
      </a:majorFont>
      <a:minorFont>
        <a:latin typeface="SamsungOne 400"/>
        <a:ea typeface="SamsungOneKorean 400"/>
        <a:cs typeface=""/>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525df02f-3aee-47af-b2f3-c2ea8bcae9a6" xsi:nil="true"/>
    <lcf76f155ced4ddcb4097134ff3c332f xmlns="5192ee0d-e524-4888-b581-1910cadcd210">
      <Terms xmlns="http://schemas.microsoft.com/office/infopath/2007/PartnerControls"/>
    </lcf76f155ced4ddcb4097134ff3c332f>
    <comment xmlns="5192ee0d-e524-4888-b581-1910cadcd210"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B971F96850C604FA9DD4A6FAA1D7E94" ma:contentTypeVersion="13" ma:contentTypeDescription="Create a new document." ma:contentTypeScope="" ma:versionID="94bb0226509be2894c83196f814f5ace">
  <xsd:schema xmlns:xsd="http://www.w3.org/2001/XMLSchema" xmlns:xs="http://www.w3.org/2001/XMLSchema" xmlns:p="http://schemas.microsoft.com/office/2006/metadata/properties" xmlns:ns2="5192ee0d-e524-4888-b581-1910cadcd210" xmlns:ns3="525df02f-3aee-47af-b2f3-c2ea8bcae9a6" targetNamespace="http://schemas.microsoft.com/office/2006/metadata/properties" ma:root="true" ma:fieldsID="eb19b1b986ba2b37eb36a9dd005ffe1c" ns2:_="" ns3:_="">
    <xsd:import namespace="5192ee0d-e524-4888-b581-1910cadcd210"/>
    <xsd:import namespace="525df02f-3aee-47af-b2f3-c2ea8bcae9a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element ref="ns2:MediaServiceOCR" minOccurs="0"/>
                <xsd:element ref="ns2:comm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2ee0d-e524-4888-b581-1910cadcd2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OCR" ma:index="19" nillable="true" ma:displayName="Extracted Text" ma:internalName="MediaServiceOCR" ma:readOnly="true">
      <xsd:simpleType>
        <xsd:restriction base="dms:Note">
          <xsd:maxLength value="255"/>
        </xsd:restriction>
      </xsd:simpleType>
    </xsd:element>
    <xsd:element name="comment" ma:index="20" nillable="true" ma:displayName="comment" ma:format="Dropdown" ma:internalName="comment">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25df02f-3aee-47af-b2f3-c2ea8bcae9a6"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f2df0d5-6bdf-4400-9605-4c2d2eede7e4}" ma:internalName="TaxCatchAll" ma:showField="CatchAllData" ma:web="525df02f-3aee-47af-b2f3-c2ea8bcae9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B4D1BC-3672-47C7-8E98-3D3B83A92BF9}">
  <ds:schemaRefs>
    <ds:schemaRef ds:uri="http://schemas.microsoft.com/office/2006/metadata/properties"/>
    <ds:schemaRef ds:uri="http://schemas.microsoft.com/office/infopath/2007/PartnerControls"/>
    <ds:schemaRef ds:uri="525df02f-3aee-47af-b2f3-c2ea8bcae9a6"/>
    <ds:schemaRef ds:uri="5192ee0d-e524-4888-b581-1910cadcd210"/>
  </ds:schemaRefs>
</ds:datastoreItem>
</file>

<file path=customXml/itemProps2.xml><?xml version="1.0" encoding="utf-8"?>
<ds:datastoreItem xmlns:ds="http://schemas.openxmlformats.org/officeDocument/2006/customXml" ds:itemID="{F7A1BB24-B868-43EF-95F7-238FE3A157D5}">
  <ds:schemaRefs>
    <ds:schemaRef ds:uri="http://schemas.microsoft.com/sharepoint/v3/contenttype/forms"/>
  </ds:schemaRefs>
</ds:datastoreItem>
</file>

<file path=customXml/itemProps3.xml><?xml version="1.0" encoding="utf-8"?>
<ds:datastoreItem xmlns:ds="http://schemas.openxmlformats.org/officeDocument/2006/customXml" ds:itemID="{0A0357D8-C495-42E3-A0C0-6723B236FB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2ee0d-e524-4888-b581-1910cadcd210"/>
    <ds:schemaRef ds:uri="525df02f-3aee-47af-b2f3-c2ea8bcae9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5215</TotalTime>
  <Words>4169</Words>
  <Application>Microsoft Macintosh PowerPoint</Application>
  <PresentationFormat>Custom</PresentationFormat>
  <Paragraphs>441</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맑은 고딕</vt:lpstr>
      <vt:lpstr>Arial</vt:lpstr>
      <vt:lpstr>Samsung Sharp Sans Medium</vt:lpstr>
      <vt:lpstr>SamsungOne 400</vt:lpstr>
      <vt:lpstr>SamsungOne 400C</vt:lpstr>
      <vt:lpstr>Samsung Sharp Sans</vt:lpstr>
      <vt:lpstr>Calibri</vt:lpstr>
      <vt:lpstr>Samsung Sharp Sans Bold</vt:lpstr>
      <vt:lpstr>Office Theme</vt:lpstr>
      <vt:lpstr>PowerPoint Presentation</vt:lpstr>
      <vt:lpstr>PowerPoint Presentation</vt:lpstr>
      <vt:lpstr>Problem &amp; Background</vt:lpstr>
      <vt:lpstr>Why AI for Brain MRI?</vt:lpstr>
      <vt:lpstr>Motivation &amp; Objective</vt:lpstr>
      <vt:lpstr>Proposed Solution</vt:lpstr>
      <vt:lpstr>Two-Stage Pipeline Explained</vt:lpstr>
      <vt:lpstr>The BRISC2025 Dataset</vt:lpstr>
      <vt:lpstr>Dataset Distribution</vt:lpstr>
      <vt:lpstr>Data Preparation &amp; Preprocessing</vt:lpstr>
      <vt:lpstr>Data Augmentation</vt:lpstr>
      <vt:lpstr>AI Models Overview</vt:lpstr>
      <vt:lpstr>EfficientNet-B0 — Classification</vt:lpstr>
      <vt:lpstr>Custom CNN — Classification</vt:lpstr>
      <vt:lpstr>U-Net + ResNet34 — Segmentation</vt:lpstr>
      <vt:lpstr>Model Comparison &amp; Selection</vt:lpstr>
      <vt:lpstr>System Workflow &amp; Architecture</vt:lpstr>
      <vt:lpstr>Evaluation Methodology</vt:lpstr>
      <vt:lpstr>Expected Results (Project Targets)</vt:lpstr>
      <vt:lpstr>User Interface &amp; Deployment</vt:lpstr>
      <vt:lpstr>Limitations &amp; Future Improvements</vt:lpstr>
      <vt:lpstr>Project Impact &amp;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Two-Stage Deep Learning Approach to Brain Tumor Classification and Segmentation in 2D MRI Images</dc:title>
  <dc:creator>Pi24, Team 24</dc:creator>
  <cp:lastModifiedBy>MARAM ALRADDADI</cp:lastModifiedBy>
  <cp:revision>2</cp:revision>
  <dcterms:created xsi:type="dcterms:W3CDTF">2026-09-06T11:02:16Z</dcterms:created>
  <dcterms:modified xsi:type="dcterms:W3CDTF">2026-09-08T10:09:59Z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0x010100EB971F96850C604FA9DD4A6FAA1D7E94</vt:lpwstr>
  </property>
</Properties>
</file>